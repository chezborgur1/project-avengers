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9144000" cy="6858000" type="screen4x3"/>
  <p:notesSz cx="7315200" cy="9601200"/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74PyA0J44IG4XMwOh56uNZydq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C4EC6E-F1A4-438B-9210-B54C53C906CA}">
  <a:tblStyle styleId="{F5C4EC6E-F1A4-438B-9210-B54C53C906C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6E7"/>
          </a:solidFill>
        </a:fill>
      </a:tcStyle>
    </a:wholeTbl>
    <a:band1H>
      <a:tcTxStyle/>
      <a:tcStyle>
        <a:tcBdr/>
        <a:fill>
          <a:solidFill>
            <a:srgbClr val="DD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104" cy="48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252" y="0"/>
            <a:ext cx="3170104" cy="48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86"/>
            <a:ext cx="3170104" cy="48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252" y="9119486"/>
            <a:ext cx="3170104" cy="48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>
            <a:spLocks noGrp="1"/>
          </p:cNvSpPr>
          <p:nvPr>
            <p:ph type="body" idx="1"/>
          </p:nvPr>
        </p:nvSpPr>
        <p:spPr>
          <a:xfrm>
            <a:off x="731705" y="4620417"/>
            <a:ext cx="5851790" cy="3780174"/>
          </a:xfrm>
          <a:prstGeom prst="rect">
            <a:avLst/>
          </a:prstGeom>
        </p:spPr>
        <p:txBody>
          <a:bodyPr spcFirstLastPara="1" wrap="square" lIns="105975" tIns="52975" rIns="105975" bIns="52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628650" y="1831464"/>
            <a:ext cx="1800890" cy="12710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body" idx="2"/>
          </p:nvPr>
        </p:nvSpPr>
        <p:spPr>
          <a:xfrm>
            <a:off x="628650" y="3249246"/>
            <a:ext cx="1800890" cy="12691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3"/>
          </p:nvPr>
        </p:nvSpPr>
        <p:spPr>
          <a:xfrm>
            <a:off x="628650" y="4665170"/>
            <a:ext cx="1800890" cy="12691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4"/>
          </p:nvPr>
        </p:nvSpPr>
        <p:spPr>
          <a:xfrm>
            <a:off x="2428875" y="1831464"/>
            <a:ext cx="6086475" cy="126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5"/>
          </p:nvPr>
        </p:nvSpPr>
        <p:spPr>
          <a:xfrm>
            <a:off x="2428874" y="3249992"/>
            <a:ext cx="6086475" cy="126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6"/>
          </p:nvPr>
        </p:nvSpPr>
        <p:spPr>
          <a:xfrm>
            <a:off x="2428874" y="4665170"/>
            <a:ext cx="6086475" cy="126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ndard">
  <p:cSld name="1_Standard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C13DA8E2-7AD9-D77C-8E88-5619859C532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oogle Shape;43;p1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1"/>
          </p:nvPr>
        </p:nvSpPr>
        <p:spPr>
          <a:xfrm>
            <a:off x="628650" y="1828800"/>
            <a:ext cx="7886700" cy="410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">
  <p:cSld name="Standard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body" idx="1"/>
          </p:nvPr>
        </p:nvSpPr>
        <p:spPr>
          <a:xfrm>
            <a:off x="628650" y="1828800"/>
            <a:ext cx="7886700" cy="410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2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4"/>
          <p:cNvSpPr txBox="1">
            <a:spLocks noGrp="1"/>
          </p:cNvSpPr>
          <p:nvPr>
            <p:ph type="body" idx="1"/>
          </p:nvPr>
        </p:nvSpPr>
        <p:spPr>
          <a:xfrm>
            <a:off x="628850" y="1831782"/>
            <a:ext cx="2533389" cy="6864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body" idx="2"/>
          </p:nvPr>
        </p:nvSpPr>
        <p:spPr>
          <a:xfrm>
            <a:off x="3305406" y="1831781"/>
            <a:ext cx="2533389" cy="6864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body" idx="3"/>
          </p:nvPr>
        </p:nvSpPr>
        <p:spPr>
          <a:xfrm>
            <a:off x="628650" y="2518188"/>
            <a:ext cx="2533650" cy="34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4"/>
          </p:nvPr>
        </p:nvSpPr>
        <p:spPr>
          <a:xfrm>
            <a:off x="3305175" y="2518188"/>
            <a:ext cx="2533650" cy="34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5"/>
          </p:nvPr>
        </p:nvSpPr>
        <p:spPr>
          <a:xfrm>
            <a:off x="5981961" y="1831781"/>
            <a:ext cx="2533389" cy="6864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6"/>
          </p:nvPr>
        </p:nvSpPr>
        <p:spPr>
          <a:xfrm>
            <a:off x="5981700" y="2518188"/>
            <a:ext cx="2533650" cy="34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2_Title Slide 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5" descr="The Row Houses -"/>
          <p:cNvPicPr preferRelativeResize="0"/>
          <p:nvPr/>
        </p:nvPicPr>
        <p:blipFill rotWithShape="1">
          <a:blip r:embed="rId2">
            <a:alphaModFix/>
          </a:blip>
          <a:srcRect l="13446" t="364" r="-1" b="2157"/>
          <a:stretch/>
        </p:blipFill>
        <p:spPr>
          <a:xfrm>
            <a:off x="-1" y="-1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>
              <a:alpha val="7843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5"/>
          <p:cNvSpPr txBox="1">
            <a:spLocks noGrp="1"/>
          </p:cNvSpPr>
          <p:nvPr>
            <p:ph type="ctrTitle"/>
          </p:nvPr>
        </p:nvSpPr>
        <p:spPr>
          <a:xfrm>
            <a:off x="628651" y="1417564"/>
            <a:ext cx="788542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35" descr="Logo, 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2" y="5176391"/>
            <a:ext cx="2125566" cy="124342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5"/>
          <p:cNvSpPr txBox="1">
            <a:spLocks noGrp="1"/>
          </p:cNvSpPr>
          <p:nvPr>
            <p:ph type="body" idx="1"/>
          </p:nvPr>
        </p:nvSpPr>
        <p:spPr>
          <a:xfrm>
            <a:off x="628651" y="4176248"/>
            <a:ext cx="7885112" cy="61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1">
                <a:solidFill>
                  <a:schemeClr val="accen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8" name="Google Shape;68;p35" descr="Real Estate Management, Washington, D.C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2894" y="5051904"/>
            <a:ext cx="1075323" cy="62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5" descr="First Community Management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0959" y="5893247"/>
            <a:ext cx="1408990" cy="488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5" descr="NRP"/>
          <p:cNvPicPr preferRelativeResize="0"/>
          <p:nvPr/>
        </p:nvPicPr>
        <p:blipFill rotWithShape="1">
          <a:blip r:embed="rId6">
            <a:alphaModFix/>
          </a:blip>
          <a:srcRect r="18193" b="22785"/>
          <a:stretch/>
        </p:blipFill>
        <p:spPr>
          <a:xfrm>
            <a:off x="3776118" y="5184205"/>
            <a:ext cx="1361580" cy="488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18423" y="5895129"/>
            <a:ext cx="1335713" cy="50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92726" y="5184937"/>
            <a:ext cx="1335140" cy="487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88853" y="5873682"/>
            <a:ext cx="1145005" cy="551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5" descr="From: Gates Hudson Community Management To: Owners &amp; Residents Date: April  23, 2020 Subject: COVID-19 Update We continu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30921" y="6012669"/>
            <a:ext cx="1447257" cy="407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2_Title Slide 3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6"/>
          <p:cNvPicPr preferRelativeResize="0"/>
          <p:nvPr/>
        </p:nvPicPr>
        <p:blipFill rotWithShape="1">
          <a:blip r:embed="rId2">
            <a:alphaModFix/>
          </a:blip>
          <a:srcRect t="10964" r="7532" b="52136"/>
          <a:stretch/>
        </p:blipFill>
        <p:spPr>
          <a:xfrm>
            <a:off x="-635" y="4327452"/>
            <a:ext cx="9144000" cy="2530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6" descr="The Row Houses -"/>
          <p:cNvPicPr preferRelativeResize="0"/>
          <p:nvPr/>
        </p:nvPicPr>
        <p:blipFill rotWithShape="1">
          <a:blip r:embed="rId3">
            <a:alphaModFix/>
          </a:blip>
          <a:srcRect l="8488" t="26729" b="35246"/>
          <a:stretch/>
        </p:blipFill>
        <p:spPr>
          <a:xfrm>
            <a:off x="0" y="4327449"/>
            <a:ext cx="9144634" cy="253054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6"/>
          <p:cNvSpPr/>
          <p:nvPr/>
        </p:nvSpPr>
        <p:spPr>
          <a:xfrm>
            <a:off x="0" y="4327450"/>
            <a:ext cx="9144000" cy="2545064"/>
          </a:xfrm>
          <a:prstGeom prst="rect">
            <a:avLst/>
          </a:prstGeom>
          <a:solidFill>
            <a:schemeClr val="lt1">
              <a:alpha val="7843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6"/>
          <p:cNvSpPr txBox="1">
            <a:spLocks noGrp="1"/>
          </p:cNvSpPr>
          <p:nvPr>
            <p:ph type="ctrTitle"/>
          </p:nvPr>
        </p:nvSpPr>
        <p:spPr>
          <a:xfrm>
            <a:off x="628651" y="371084"/>
            <a:ext cx="788542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5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36" descr="Logo, 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1" y="4765628"/>
            <a:ext cx="2827741" cy="165418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6"/>
          <p:cNvSpPr txBox="1">
            <a:spLocks noGrp="1"/>
          </p:cNvSpPr>
          <p:nvPr>
            <p:ph type="body" idx="1"/>
          </p:nvPr>
        </p:nvSpPr>
        <p:spPr>
          <a:xfrm>
            <a:off x="628651" y="3129768"/>
            <a:ext cx="7885112" cy="61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1">
                <a:solidFill>
                  <a:schemeClr val="accent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"/>
          <p:cNvSpPr txBox="1">
            <a:spLocks noGrp="1"/>
          </p:cNvSpPr>
          <p:nvPr>
            <p:ph type="body" idx="1"/>
          </p:nvPr>
        </p:nvSpPr>
        <p:spPr>
          <a:xfrm>
            <a:off x="628849" y="1831782"/>
            <a:ext cx="3868340" cy="6864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body" idx="2"/>
          </p:nvPr>
        </p:nvSpPr>
        <p:spPr>
          <a:xfrm>
            <a:off x="4646811" y="1831781"/>
            <a:ext cx="3868340" cy="6864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rgbClr val="7E00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7"/>
          <p:cNvSpPr txBox="1">
            <a:spLocks noGrp="1"/>
          </p:cNvSpPr>
          <p:nvPr>
            <p:ph type="body" idx="3"/>
          </p:nvPr>
        </p:nvSpPr>
        <p:spPr>
          <a:xfrm>
            <a:off x="628650" y="2518188"/>
            <a:ext cx="3868738" cy="34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7"/>
          <p:cNvSpPr txBox="1">
            <a:spLocks noGrp="1"/>
          </p:cNvSpPr>
          <p:nvPr>
            <p:ph type="body" idx="4"/>
          </p:nvPr>
        </p:nvSpPr>
        <p:spPr>
          <a:xfrm>
            <a:off x="4646612" y="2518188"/>
            <a:ext cx="3868738" cy="3416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Standard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8"/>
          <p:cNvSpPr txBox="1">
            <a:spLocks noGrp="1"/>
          </p:cNvSpPr>
          <p:nvPr>
            <p:ph type="body" idx="1"/>
          </p:nvPr>
        </p:nvSpPr>
        <p:spPr>
          <a:xfrm>
            <a:off x="628650" y="1847849"/>
            <a:ext cx="7886700" cy="3168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8"/>
          <p:cNvSpPr txBox="1">
            <a:spLocks noGrp="1"/>
          </p:cNvSpPr>
          <p:nvPr>
            <p:ph type="body" idx="2"/>
          </p:nvPr>
        </p:nvSpPr>
        <p:spPr>
          <a:xfrm>
            <a:off x="628650" y="5173662"/>
            <a:ext cx="7886700" cy="74453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Standard3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9"/>
          <p:cNvSpPr txBox="1">
            <a:spLocks noGrp="1"/>
          </p:cNvSpPr>
          <p:nvPr>
            <p:ph type="body" idx="1"/>
          </p:nvPr>
        </p:nvSpPr>
        <p:spPr>
          <a:xfrm>
            <a:off x="628650" y="2749548"/>
            <a:ext cx="7886700" cy="3168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9"/>
          <p:cNvSpPr txBox="1">
            <a:spLocks noGrp="1"/>
          </p:cNvSpPr>
          <p:nvPr>
            <p:ph type="body" idx="2"/>
          </p:nvPr>
        </p:nvSpPr>
        <p:spPr>
          <a:xfrm>
            <a:off x="628650" y="1847849"/>
            <a:ext cx="7886700" cy="74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9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A0EFA0BB-142C-C811-594A-414109422C3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6D800-585F-A1B2-9826-02D5E0D87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E5971-36F9-96A5-85EC-CC1A0F478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B4E64-F33A-7FFD-8CB8-A46DE7CA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69D8-E687-4863-8A7E-E06D3BDC1690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C6235-8D24-239E-3DF0-718F9D5C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08510-F6BC-54FD-35E5-11E5ED8F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5965B-2956-48E0-ADF0-7069ADE6D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1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6" descr="Logo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66840" y="6151750"/>
            <a:ext cx="2010320" cy="28009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/>
          <p:nvPr/>
        </p:nvSpPr>
        <p:spPr>
          <a:xfrm>
            <a:off x="9398000" y="737200"/>
            <a:ext cx="1333500" cy="4933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#FFFFFF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"/>
          <p:cNvSpPr/>
          <p:nvPr/>
        </p:nvSpPr>
        <p:spPr>
          <a:xfrm>
            <a:off x="9398000" y="1429350"/>
            <a:ext cx="1333500" cy="49330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#000000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9398000" y="2121500"/>
            <a:ext cx="1333500" cy="49330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#44546A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"/>
          <p:cNvSpPr/>
          <p:nvPr/>
        </p:nvSpPr>
        <p:spPr>
          <a:xfrm>
            <a:off x="9398000" y="2813650"/>
            <a:ext cx="1333500" cy="49330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#E7E6E6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6"/>
          <p:cNvSpPr/>
          <p:nvPr/>
        </p:nvSpPr>
        <p:spPr>
          <a:xfrm>
            <a:off x="9398000" y="3505800"/>
            <a:ext cx="1333500" cy="493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#990033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6"/>
          <p:cNvSpPr/>
          <p:nvPr/>
        </p:nvSpPr>
        <p:spPr>
          <a:xfrm>
            <a:off x="9398000" y="4197950"/>
            <a:ext cx="1333500" cy="493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#FF0000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"/>
          <p:cNvSpPr/>
          <p:nvPr/>
        </p:nvSpPr>
        <p:spPr>
          <a:xfrm>
            <a:off x="9398000" y="4890100"/>
            <a:ext cx="1333500" cy="4933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#FFC000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"/>
          <p:cNvSpPr/>
          <p:nvPr/>
        </p:nvSpPr>
        <p:spPr>
          <a:xfrm>
            <a:off x="9398000" y="5582250"/>
            <a:ext cx="1333500" cy="4933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#54001C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9398000" y="6274400"/>
            <a:ext cx="1333500" cy="4933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#0F996A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"/>
          <p:cNvSpPr/>
          <p:nvPr/>
        </p:nvSpPr>
        <p:spPr>
          <a:xfrm>
            <a:off x="9398000" y="45050"/>
            <a:ext cx="1333500" cy="49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HEX Codes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6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11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" name="Picture 2" descr="Spinnaker Management">
            <a:extLst>
              <a:ext uri="{FF2B5EF4-FFF2-40B4-BE49-F238E27FC236}">
                <a16:creationId xmlns:a16="http://schemas.microsoft.com/office/drawing/2014/main" id="{B3431616-1DF3-978F-5629-FF8591D205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680" y="0"/>
            <a:ext cx="1475320" cy="3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jpe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9.jp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B637C8-B508-B1C2-8EC4-290AEEC91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113" y="4528043"/>
            <a:ext cx="1895323" cy="6456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BFA7C7D-C817-8CF0-9BDF-3D49CB661253}"/>
              </a:ext>
            </a:extLst>
          </p:cNvPr>
          <p:cNvSpPr txBox="1">
            <a:spLocks/>
          </p:cNvSpPr>
          <p:nvPr/>
        </p:nvSpPr>
        <p:spPr>
          <a:xfrm>
            <a:off x="771011" y="3500559"/>
            <a:ext cx="7886700" cy="58562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Diligence Kick-Off</a:t>
            </a:r>
          </a:p>
        </p:txBody>
      </p:sp>
      <p:sp>
        <p:nvSpPr>
          <p:cNvPr id="7" name="bg object 16">
            <a:extLst>
              <a:ext uri="{FF2B5EF4-FFF2-40B4-BE49-F238E27FC236}">
                <a16:creationId xmlns:a16="http://schemas.microsoft.com/office/drawing/2014/main" id="{B6799880-C5EC-7B9A-38D6-B57E173F2565}"/>
              </a:ext>
            </a:extLst>
          </p:cNvPr>
          <p:cNvSpPr/>
          <p:nvPr/>
        </p:nvSpPr>
        <p:spPr>
          <a:xfrm>
            <a:off x="7028307" y="0"/>
            <a:ext cx="914400" cy="6857111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8000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8" name="bg object 17">
            <a:extLst>
              <a:ext uri="{FF2B5EF4-FFF2-40B4-BE49-F238E27FC236}">
                <a16:creationId xmlns:a16="http://schemas.microsoft.com/office/drawing/2014/main" id="{39B53054-168F-5392-54F0-939EB003EE88}"/>
              </a:ext>
            </a:extLst>
          </p:cNvPr>
          <p:cNvSpPr/>
          <p:nvPr/>
        </p:nvSpPr>
        <p:spPr>
          <a:xfrm>
            <a:off x="5568696" y="3681507"/>
            <a:ext cx="3572828" cy="3176493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54" y="0"/>
                </a:moveTo>
                <a:lnTo>
                  <a:pt x="0" y="3176586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54396A5F-2311-DFD2-86CA-F77EE7D640AB}"/>
              </a:ext>
            </a:extLst>
          </p:cNvPr>
          <p:cNvSpPr/>
          <p:nvPr/>
        </p:nvSpPr>
        <p:spPr>
          <a:xfrm>
            <a:off x="6886004" y="0"/>
            <a:ext cx="2255520" cy="6857111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6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FF7C80">
              <a:alpha val="30194"/>
            </a:srgbClr>
          </a:solidFill>
        </p:spPr>
        <p:txBody>
          <a:bodyPr wrap="square" lIns="0" tIns="0" rIns="0" bIns="0" rtlCol="0"/>
          <a:lstStyle/>
          <a:p>
            <a:endParaRPr sz="1050" dirty="0"/>
          </a:p>
        </p:txBody>
      </p:sp>
      <p:sp>
        <p:nvSpPr>
          <p:cNvPr id="10" name="bg object 19">
            <a:extLst>
              <a:ext uri="{FF2B5EF4-FFF2-40B4-BE49-F238E27FC236}">
                <a16:creationId xmlns:a16="http://schemas.microsoft.com/office/drawing/2014/main" id="{93AF2D6A-99FD-8782-11C2-A92698077066}"/>
              </a:ext>
            </a:extLst>
          </p:cNvPr>
          <p:cNvSpPr/>
          <p:nvPr/>
        </p:nvSpPr>
        <p:spPr>
          <a:xfrm>
            <a:off x="7203243" y="0"/>
            <a:ext cx="1941195" cy="6857111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88" y="0"/>
                </a:moveTo>
                <a:lnTo>
                  <a:pt x="0" y="0"/>
                </a:lnTo>
                <a:lnTo>
                  <a:pt x="1208201" y="6858000"/>
                </a:lnTo>
                <a:lnTo>
                  <a:pt x="2587688" y="6858000"/>
                </a:lnTo>
                <a:lnTo>
                  <a:pt x="2587688" y="0"/>
                </a:lnTo>
                <a:close/>
              </a:path>
            </a:pathLst>
          </a:custGeom>
          <a:solidFill>
            <a:srgbClr val="B7003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1" name="bg object 20">
            <a:extLst>
              <a:ext uri="{FF2B5EF4-FFF2-40B4-BE49-F238E27FC236}">
                <a16:creationId xmlns:a16="http://schemas.microsoft.com/office/drawing/2014/main" id="{20675228-232D-24FC-6BE8-CE55638898B0}"/>
              </a:ext>
            </a:extLst>
          </p:cNvPr>
          <p:cNvSpPr/>
          <p:nvPr/>
        </p:nvSpPr>
        <p:spPr>
          <a:xfrm>
            <a:off x="6699123" y="3047603"/>
            <a:ext cx="2445068" cy="3809506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6" y="0"/>
                </a:moveTo>
                <a:lnTo>
                  <a:pt x="0" y="3810000"/>
                </a:lnTo>
                <a:lnTo>
                  <a:pt x="3259836" y="3810000"/>
                </a:lnTo>
                <a:lnTo>
                  <a:pt x="3259836" y="0"/>
                </a:lnTo>
                <a:close/>
              </a:path>
            </a:pathLst>
          </a:custGeom>
          <a:solidFill>
            <a:srgbClr val="B70033">
              <a:alpha val="72157"/>
            </a:srgbClr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2" name="bg object 21">
            <a:extLst>
              <a:ext uri="{FF2B5EF4-FFF2-40B4-BE49-F238E27FC236}">
                <a16:creationId xmlns:a16="http://schemas.microsoft.com/office/drawing/2014/main" id="{A8CB7F57-88FF-7CFD-37E4-218E9898D259}"/>
              </a:ext>
            </a:extLst>
          </p:cNvPr>
          <p:cNvSpPr/>
          <p:nvPr/>
        </p:nvSpPr>
        <p:spPr>
          <a:xfrm>
            <a:off x="7003342" y="0"/>
            <a:ext cx="2138839" cy="6857111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2" y="0"/>
                </a:moveTo>
                <a:lnTo>
                  <a:pt x="0" y="0"/>
                </a:lnTo>
                <a:lnTo>
                  <a:pt x="2467571" y="6858000"/>
                </a:lnTo>
                <a:lnTo>
                  <a:pt x="2851162" y="6858000"/>
                </a:lnTo>
                <a:lnTo>
                  <a:pt x="2851162" y="0"/>
                </a:lnTo>
                <a:close/>
              </a:path>
            </a:pathLst>
          </a:custGeom>
          <a:solidFill>
            <a:srgbClr val="990033">
              <a:alpha val="70195"/>
            </a:srgbClr>
          </a:solidFill>
        </p:spPr>
        <p:txBody>
          <a:bodyPr wrap="square" lIns="0" tIns="0" rIns="0" bIns="0" rtlCol="0"/>
          <a:lstStyle/>
          <a:p>
            <a:endParaRPr sz="1050" dirty="0"/>
          </a:p>
        </p:txBody>
      </p:sp>
      <p:sp>
        <p:nvSpPr>
          <p:cNvPr id="13" name="bg object 22">
            <a:extLst>
              <a:ext uri="{FF2B5EF4-FFF2-40B4-BE49-F238E27FC236}">
                <a16:creationId xmlns:a16="http://schemas.microsoft.com/office/drawing/2014/main" id="{0A918521-1A76-3C9B-AE7C-218637A2CCFE}"/>
              </a:ext>
            </a:extLst>
          </p:cNvPr>
          <p:cNvSpPr/>
          <p:nvPr/>
        </p:nvSpPr>
        <p:spPr>
          <a:xfrm>
            <a:off x="8173603" y="0"/>
            <a:ext cx="968216" cy="6857111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15" y="0"/>
                </a:moveTo>
                <a:lnTo>
                  <a:pt x="1018946" y="0"/>
                </a:lnTo>
                <a:lnTo>
                  <a:pt x="0" y="6858000"/>
                </a:lnTo>
                <a:lnTo>
                  <a:pt x="1290815" y="6858000"/>
                </a:lnTo>
                <a:lnTo>
                  <a:pt x="1290815" y="0"/>
                </a:lnTo>
                <a:close/>
              </a:path>
            </a:pathLst>
          </a:custGeom>
          <a:solidFill>
            <a:srgbClr val="820033">
              <a:alpha val="70195"/>
            </a:srgbClr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4" name="bg object 23">
            <a:extLst>
              <a:ext uri="{FF2B5EF4-FFF2-40B4-BE49-F238E27FC236}">
                <a16:creationId xmlns:a16="http://schemas.microsoft.com/office/drawing/2014/main" id="{B8CC9D9F-FBA1-197D-1FED-E5A8C5F77CA1}"/>
              </a:ext>
            </a:extLst>
          </p:cNvPr>
          <p:cNvSpPr/>
          <p:nvPr/>
        </p:nvSpPr>
        <p:spPr>
          <a:xfrm>
            <a:off x="8205568" y="0"/>
            <a:ext cx="936308" cy="6857111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194" y="0"/>
                </a:moveTo>
                <a:lnTo>
                  <a:pt x="0" y="0"/>
                </a:lnTo>
                <a:lnTo>
                  <a:pt x="1107770" y="6858000"/>
                </a:lnTo>
                <a:lnTo>
                  <a:pt x="1248194" y="6858000"/>
                </a:lnTo>
                <a:lnTo>
                  <a:pt x="1248194" y="0"/>
                </a:lnTo>
                <a:close/>
              </a:path>
            </a:pathLst>
          </a:custGeom>
          <a:solidFill>
            <a:srgbClr val="FF9999">
              <a:alpha val="65098"/>
            </a:srgbClr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5" name="bg object 24">
            <a:extLst>
              <a:ext uri="{FF2B5EF4-FFF2-40B4-BE49-F238E27FC236}">
                <a16:creationId xmlns:a16="http://schemas.microsoft.com/office/drawing/2014/main" id="{835AC5B9-894A-0D26-C47C-F4CCC9EBBA1B}"/>
              </a:ext>
            </a:extLst>
          </p:cNvPr>
          <p:cNvSpPr/>
          <p:nvPr/>
        </p:nvSpPr>
        <p:spPr>
          <a:xfrm>
            <a:off x="7779259" y="3590077"/>
            <a:ext cx="1362551" cy="3267287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8" y="0"/>
                </a:moveTo>
                <a:lnTo>
                  <a:pt x="0" y="3267456"/>
                </a:lnTo>
                <a:lnTo>
                  <a:pt x="1816608" y="3267456"/>
                </a:lnTo>
                <a:lnTo>
                  <a:pt x="1816608" y="0"/>
                </a:lnTo>
                <a:close/>
              </a:path>
            </a:pathLst>
          </a:custGeom>
          <a:solidFill>
            <a:srgbClr val="FF9999">
              <a:alpha val="79998"/>
            </a:srgbClr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17" name="bg object 26">
            <a:extLst>
              <a:ext uri="{FF2B5EF4-FFF2-40B4-BE49-F238E27FC236}">
                <a16:creationId xmlns:a16="http://schemas.microsoft.com/office/drawing/2014/main" id="{42E40DFF-C0EF-6430-C26E-9BAB674E5613}"/>
              </a:ext>
            </a:extLst>
          </p:cNvPr>
          <p:cNvSpPr/>
          <p:nvPr/>
        </p:nvSpPr>
        <p:spPr>
          <a:xfrm>
            <a:off x="0" y="0"/>
            <a:ext cx="632460" cy="5666005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4" y="0"/>
                </a:moveTo>
                <a:lnTo>
                  <a:pt x="0" y="0"/>
                </a:lnTo>
                <a:lnTo>
                  <a:pt x="0" y="5666234"/>
                </a:lnTo>
                <a:lnTo>
                  <a:pt x="842774" y="0"/>
                </a:lnTo>
                <a:close/>
              </a:path>
            </a:pathLst>
          </a:custGeom>
          <a:solidFill>
            <a:srgbClr val="820033">
              <a:alpha val="85098"/>
            </a:srgbClr>
          </a:solidFill>
        </p:spPr>
        <p:txBody>
          <a:bodyPr wrap="square" lIns="0" tIns="0" rIns="0" bIns="0" rtlCol="0"/>
          <a:lstStyle/>
          <a:p>
            <a:endParaRPr sz="10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468E99-0637-6BEC-405F-604073821C70}"/>
              </a:ext>
            </a:extLst>
          </p:cNvPr>
          <p:cNvSpPr txBox="1">
            <a:spLocks/>
          </p:cNvSpPr>
          <p:nvPr/>
        </p:nvSpPr>
        <p:spPr>
          <a:xfrm>
            <a:off x="771011" y="3882891"/>
            <a:ext cx="7886700" cy="58562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i="1" dirty="0">
                <a:solidFill>
                  <a:srgbClr val="99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&amp; Process Overview</a:t>
            </a:r>
          </a:p>
        </p:txBody>
      </p:sp>
    </p:spTree>
    <p:extLst>
      <p:ext uri="{BB962C8B-B14F-4D97-AF65-F5344CB8AC3E}">
        <p14:creationId xmlns:p14="http://schemas.microsoft.com/office/powerpoint/2010/main" val="215805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>
            <a:spLocks noGrp="1"/>
          </p:cNvSpPr>
          <p:nvPr>
            <p:ph type="body" idx="2"/>
          </p:nvPr>
        </p:nvSpPr>
        <p:spPr>
          <a:xfrm>
            <a:off x="628650" y="2726618"/>
            <a:ext cx="1800890" cy="80584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we’re doing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sz="1600" b="0" i="1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“Process”</a:t>
            </a:r>
            <a:endParaRPr sz="1600" b="0" i="1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Google Shape;115;p1"/>
          <p:cNvSpPr txBox="1">
            <a:spLocks noGrp="1"/>
          </p:cNvSpPr>
          <p:nvPr>
            <p:ph type="body" idx="3"/>
          </p:nvPr>
        </p:nvSpPr>
        <p:spPr>
          <a:xfrm>
            <a:off x="628650" y="3733367"/>
            <a:ext cx="1800890" cy="13021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we do it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sz="1600" b="0" i="1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“Check-ins” &amp; “Sessions”</a:t>
            </a:r>
            <a:endParaRPr sz="1600" b="0" i="1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body" idx="1"/>
          </p:nvPr>
        </p:nvSpPr>
        <p:spPr>
          <a:xfrm>
            <a:off x="628650" y="1698751"/>
            <a:ext cx="1800890" cy="8070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Who’s helping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sz="1600" b="0" i="1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“The Squad”</a:t>
            </a:r>
            <a:endParaRPr sz="1600" b="0" i="1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Google Shape;116;p1"/>
          <p:cNvSpPr txBox="1">
            <a:spLocks noGrp="1"/>
          </p:cNvSpPr>
          <p:nvPr>
            <p:ph type="title"/>
          </p:nvPr>
        </p:nvSpPr>
        <p:spPr>
          <a:xfrm>
            <a:off x="619125" y="206843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We’re excited to be here!</a:t>
            </a:r>
            <a:endParaRPr/>
          </a:p>
        </p:txBody>
      </p:sp>
      <p:sp>
        <p:nvSpPr>
          <p:cNvPr id="117" name="Google Shape;117;p1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628650" y="5200444"/>
            <a:ext cx="7886700" cy="72029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Our goal is to conduct an efficient due diligence process </a:t>
            </a:r>
            <a:r>
              <a:rPr lang="en-US" sz="1600" b="0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(and have fun while we’re at it!) </a:t>
            </a: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 that we can sign a purchase agreement and start our partnership</a:t>
            </a:r>
            <a:endParaRPr dirty="0"/>
          </a:p>
        </p:txBody>
      </p:sp>
      <p:sp>
        <p:nvSpPr>
          <p:cNvPr id="120" name="Google Shape;120;p1"/>
          <p:cNvSpPr txBox="1"/>
          <p:nvPr/>
        </p:nvSpPr>
        <p:spPr>
          <a:xfrm>
            <a:off x="2532779" y="2725445"/>
            <a:ext cx="6086475" cy="805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Accountants and attorneys will be reviewing your books &amp; records</a:t>
            </a:r>
            <a:endParaRPr dirty="0"/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We’ll deliver a purchase agreement to you in </a:t>
            </a:r>
            <a:r>
              <a:rPr lang="en-US" sz="1500" dirty="0">
                <a:solidFill>
                  <a:schemeClr val="dk2"/>
                </a:solidFill>
              </a:rPr>
              <a:t>~45 days</a:t>
            </a:r>
            <a:endParaRPr dirty="0"/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We’ll aim to close by the end of [Target Closing Date]</a:t>
            </a:r>
            <a:endParaRPr dirty="0"/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Let’s make sure the dates make sense</a:t>
            </a:r>
            <a:endParaRPr i="1" dirty="0"/>
          </a:p>
        </p:txBody>
      </p:sp>
      <p:sp>
        <p:nvSpPr>
          <p:cNvPr id="121" name="Google Shape;121;p1"/>
          <p:cNvSpPr txBox="1"/>
          <p:nvPr/>
        </p:nvSpPr>
        <p:spPr>
          <a:xfrm>
            <a:off x="2532779" y="3732930"/>
            <a:ext cx="6086475" cy="1301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follow a regular format that allows everyone to stay in sync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will only have one document to focus on: our “Q&amp;A Doc”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save everything down into our “data room”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will have a consistent sense of our timeline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Let’s make sure you have access to the folders and documents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2532779" y="1700404"/>
            <a:ext cx="6086475" cy="805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While the meetings right now include us, we’ve got a full team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will all work </a:t>
            </a:r>
            <a:r>
              <a:rPr lang="en-US" sz="1500" b="0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together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gather information and answer Q’s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</a:pPr>
            <a:r>
              <a:rPr lang="en-US" sz="1500" b="0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Let’s make sure that we’ve got the whole team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544BB9-1B49-8B08-E4AC-CCED82340FE4}"/>
              </a:ext>
            </a:extLst>
          </p:cNvPr>
          <p:cNvSpPr/>
          <p:nvPr/>
        </p:nvSpPr>
        <p:spPr>
          <a:xfrm>
            <a:off x="2443006" y="1698751"/>
            <a:ext cx="27432" cy="8046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568E61-9646-1669-F703-308F5A5C4AD5}"/>
              </a:ext>
            </a:extLst>
          </p:cNvPr>
          <p:cNvSpPr/>
          <p:nvPr/>
        </p:nvSpPr>
        <p:spPr>
          <a:xfrm>
            <a:off x="2443006" y="2727787"/>
            <a:ext cx="27432" cy="8046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C6551-0B50-41CD-A6F3-40D4F85D4246}"/>
              </a:ext>
            </a:extLst>
          </p:cNvPr>
          <p:cNvSpPr/>
          <p:nvPr/>
        </p:nvSpPr>
        <p:spPr>
          <a:xfrm>
            <a:off x="2443006" y="3881527"/>
            <a:ext cx="27432" cy="1005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619125" y="365125"/>
            <a:ext cx="78962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 dirty="0">
                <a:solidFill>
                  <a:schemeClr val="accent2"/>
                </a:solidFill>
              </a:rPr>
              <a:t>The Squad:</a:t>
            </a:r>
            <a:r>
              <a:rPr lang="en-US" dirty="0"/>
              <a:t> Putting a face to the names of our diligence team and partners</a:t>
            </a:r>
            <a:endParaRPr dirty="0"/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899768" y="2163092"/>
            <a:ext cx="3051924" cy="27432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25400" dir="5400000">
              <a:srgbClr val="C00000"/>
            </a:innerShdw>
          </a:effectLst>
        </p:spPr>
        <p:txBody>
          <a:bodyPr spcFirstLastPara="1" wrap="square" lIns="91425" tIns="0" rIns="91425" bIns="9144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 eaLnBrk="1" hangingPunct="1">
              <a:lnSpc>
                <a:spcPct val="90000"/>
              </a:lnSpc>
              <a:spcBef>
                <a:spcPts val="1000"/>
              </a:spcBef>
              <a:buClr>
                <a:srgbClr val="01978E"/>
              </a:buClr>
              <a:buSzPts val="2000"/>
              <a:buNone/>
              <a:defRPr sz="1100" b="1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3429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2pPr>
            <a:lvl3pPr marL="1371600" indent="-3302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600"/>
              <a:buChar char="−"/>
              <a:defRPr sz="1600">
                <a:solidFill>
                  <a:schemeClr val="dk1"/>
                </a:solidFill>
              </a:defRPr>
            </a:lvl3pPr>
            <a:lvl4pPr marL="1828800" indent="-3175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400"/>
              <a:buFont typeface="Courier New"/>
              <a:buChar char="o"/>
              <a:defRPr>
                <a:solidFill>
                  <a:schemeClr val="dk1"/>
                </a:solidFill>
              </a:defRPr>
            </a:lvl4pPr>
            <a:lvl5pPr marL="2286000" indent="-3175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marL="27432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/>
            <a:endParaRPr dirty="0"/>
          </a:p>
        </p:txBody>
      </p:sp>
      <p:pic>
        <p:nvPicPr>
          <p:cNvPr id="142" name="Google Shape;142;p5" descr="About Me | Community Risk Advisors"/>
          <p:cNvPicPr preferRelativeResize="0"/>
          <p:nvPr/>
        </p:nvPicPr>
        <p:blipFill rotWithShape="1">
          <a:blip r:embed="rId3">
            <a:alphaModFix/>
          </a:blip>
          <a:srcRect b="17000"/>
          <a:stretch/>
        </p:blipFill>
        <p:spPr>
          <a:xfrm>
            <a:off x="7190983" y="4280021"/>
            <a:ext cx="831273" cy="83127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1152563" y="3221770"/>
            <a:ext cx="10997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Orlando Remak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dk2"/>
                </a:solidFill>
              </a:rPr>
              <a:t>Co-Founder</a:t>
            </a:r>
            <a:endParaRPr i="1" dirty="0"/>
          </a:p>
        </p:txBody>
      </p:sp>
      <p:sp>
        <p:nvSpPr>
          <p:cNvPr id="154" name="Google Shape;154;p5"/>
          <p:cNvSpPr txBox="1"/>
          <p:nvPr/>
        </p:nvSpPr>
        <p:spPr>
          <a:xfrm>
            <a:off x="7059229" y="5111294"/>
            <a:ext cx="10997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Allen Hudson</a:t>
            </a:r>
            <a:endParaRPr dirty="0"/>
          </a:p>
        </p:txBody>
      </p:sp>
      <p:sp>
        <p:nvSpPr>
          <p:cNvPr id="2" name="Google Shape;137;p5">
            <a:extLst>
              <a:ext uri="{FF2B5EF4-FFF2-40B4-BE49-F238E27FC236}">
                <a16:creationId xmlns:a16="http://schemas.microsoft.com/office/drawing/2014/main" id="{AD21566A-06BA-13F4-732B-D1AB9558D3E5}"/>
              </a:ext>
            </a:extLst>
          </p:cNvPr>
          <p:cNvSpPr txBox="1"/>
          <p:nvPr/>
        </p:nvSpPr>
        <p:spPr>
          <a:xfrm>
            <a:off x="4204370" y="2163092"/>
            <a:ext cx="2642982" cy="27432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25400" dir="5400000">
              <a:srgbClr val="C00000"/>
            </a:innerShdw>
          </a:effectLst>
        </p:spPr>
        <p:txBody>
          <a:bodyPr spcFirstLastPara="1" wrap="square" lIns="91425" tIns="0" rIns="91425" bIns="9144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 eaLnBrk="1" hangingPunct="1">
              <a:lnSpc>
                <a:spcPct val="90000"/>
              </a:lnSpc>
              <a:spcBef>
                <a:spcPts val="1000"/>
              </a:spcBef>
              <a:buClr>
                <a:srgbClr val="01978E"/>
              </a:buClr>
              <a:buSzPts val="2000"/>
              <a:buNone/>
              <a:defRPr sz="1100" b="1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3429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2pPr>
            <a:lvl3pPr marL="1371600" indent="-3302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600"/>
              <a:buChar char="−"/>
              <a:defRPr sz="1600">
                <a:solidFill>
                  <a:schemeClr val="dk1"/>
                </a:solidFill>
              </a:defRPr>
            </a:lvl3pPr>
            <a:lvl4pPr marL="1828800" indent="-3175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400"/>
              <a:buFont typeface="Courier New"/>
              <a:buChar char="o"/>
              <a:defRPr>
                <a:solidFill>
                  <a:schemeClr val="dk1"/>
                </a:solidFill>
              </a:defRPr>
            </a:lvl4pPr>
            <a:lvl5pPr marL="2286000" indent="-317500" eaLnBrk="1" hangingPunct="1">
              <a:lnSpc>
                <a:spcPct val="90000"/>
              </a:lnSpc>
              <a:spcBef>
                <a:spcPts val="500"/>
              </a:spcBef>
              <a:buClr>
                <a:srgbClr val="01978E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marL="27432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42900" eaLnBrk="1" hangingPunct="1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rPr lang="en-US" dirty="0"/>
              <a:t>(Accountants &amp; Tax Specialists)</a:t>
            </a:r>
            <a:endParaRPr dirty="0"/>
          </a:p>
        </p:txBody>
      </p:sp>
      <p:sp>
        <p:nvSpPr>
          <p:cNvPr id="4" name="Google Shape;157;p5">
            <a:extLst>
              <a:ext uri="{FF2B5EF4-FFF2-40B4-BE49-F238E27FC236}">
                <a16:creationId xmlns:a16="http://schemas.microsoft.com/office/drawing/2014/main" id="{E5C1A990-1F5D-C8FE-8E9F-EDBD0FEA5FAF}"/>
              </a:ext>
            </a:extLst>
          </p:cNvPr>
          <p:cNvSpPr txBox="1"/>
          <p:nvPr/>
        </p:nvSpPr>
        <p:spPr>
          <a:xfrm>
            <a:off x="4416281" y="3221770"/>
            <a:ext cx="99979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Brian Drue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dk2"/>
                </a:solidFill>
              </a:rPr>
              <a:t>Partner</a:t>
            </a:r>
            <a:endParaRPr i="1" dirty="0"/>
          </a:p>
        </p:txBody>
      </p:sp>
      <p:sp>
        <p:nvSpPr>
          <p:cNvPr id="8" name="Google Shape;168;p5">
            <a:extLst>
              <a:ext uri="{FF2B5EF4-FFF2-40B4-BE49-F238E27FC236}">
                <a16:creationId xmlns:a16="http://schemas.microsoft.com/office/drawing/2014/main" id="{AD25C414-E9AF-5D2E-680A-52FE9D2F8724}"/>
              </a:ext>
            </a:extLst>
          </p:cNvPr>
          <p:cNvSpPr txBox="1"/>
          <p:nvPr/>
        </p:nvSpPr>
        <p:spPr>
          <a:xfrm>
            <a:off x="5526032" y="3221770"/>
            <a:ext cx="120975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Justin Eggimann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dk2"/>
                </a:solidFill>
              </a:rPr>
              <a:t>Manager</a:t>
            </a:r>
            <a:endParaRPr i="1" dirty="0"/>
          </a:p>
        </p:txBody>
      </p:sp>
      <p:pic>
        <p:nvPicPr>
          <p:cNvPr id="10" name="Picture 9" descr="A person in a suit smiling&#10;&#10;AI-generated content may be incorrect.">
            <a:extLst>
              <a:ext uri="{FF2B5EF4-FFF2-40B4-BE49-F238E27FC236}">
                <a16:creationId xmlns:a16="http://schemas.microsoft.com/office/drawing/2014/main" id="{5AA84105-0820-75BE-254B-8EBEC0060E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59" t="3205" r="2753" b="3751"/>
          <a:stretch>
            <a:fillRect/>
          </a:stretch>
        </p:blipFill>
        <p:spPr>
          <a:xfrm>
            <a:off x="4529002" y="2372249"/>
            <a:ext cx="831273" cy="831273"/>
          </a:xfrm>
          <a:prstGeom prst="rect">
            <a:avLst/>
          </a:prstGeom>
        </p:spPr>
      </p:pic>
      <p:pic>
        <p:nvPicPr>
          <p:cNvPr id="13" name="Picture 12" descr="A person in a blue suit&#10;&#10;AI-generated content may be incorrect.">
            <a:extLst>
              <a:ext uri="{FF2B5EF4-FFF2-40B4-BE49-F238E27FC236}">
                <a16:creationId xmlns:a16="http://schemas.microsoft.com/office/drawing/2014/main" id="{3DE012CF-B8A1-65D4-91A0-6F1524054B4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51" t="3300" r="1442" b="1391"/>
          <a:stretch>
            <a:fillRect/>
          </a:stretch>
        </p:blipFill>
        <p:spPr>
          <a:xfrm>
            <a:off x="5738757" y="2372249"/>
            <a:ext cx="831273" cy="831273"/>
          </a:xfrm>
          <a:prstGeom prst="rect">
            <a:avLst/>
          </a:prstGeom>
        </p:spPr>
      </p:pic>
      <p:sp>
        <p:nvSpPr>
          <p:cNvPr id="15" name="Google Shape;161;p5">
            <a:extLst>
              <a:ext uri="{FF2B5EF4-FFF2-40B4-BE49-F238E27FC236}">
                <a16:creationId xmlns:a16="http://schemas.microsoft.com/office/drawing/2014/main" id="{BD28172A-6C22-BA5F-1042-4EC60CB036FF}"/>
              </a:ext>
            </a:extLst>
          </p:cNvPr>
          <p:cNvSpPr txBox="1"/>
          <p:nvPr/>
        </p:nvSpPr>
        <p:spPr>
          <a:xfrm>
            <a:off x="4320510" y="5111294"/>
            <a:ext cx="12384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Soren Hawkins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dk2"/>
                </a:solidFill>
              </a:rPr>
              <a:t>Senior Associate</a:t>
            </a:r>
            <a:endParaRPr i="1" dirty="0"/>
          </a:p>
        </p:txBody>
      </p:sp>
      <p:pic>
        <p:nvPicPr>
          <p:cNvPr id="16" name="Screenshot 2024-10-20 at 9.04.04 PM.png">
            <a:extLst>
              <a:ext uri="{FF2B5EF4-FFF2-40B4-BE49-F238E27FC236}">
                <a16:creationId xmlns:a16="http://schemas.microsoft.com/office/drawing/2014/main" id="{C8F291F5-61DC-4E34-1262-BB0BB8B110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2" t="5424" r="284" b="22286"/>
          <a:stretch>
            <a:fillRect/>
          </a:stretch>
        </p:blipFill>
        <p:spPr>
          <a:xfrm>
            <a:off x="5738757" y="4284876"/>
            <a:ext cx="831273" cy="831273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Google Shape;161;p5">
            <a:extLst>
              <a:ext uri="{FF2B5EF4-FFF2-40B4-BE49-F238E27FC236}">
                <a16:creationId xmlns:a16="http://schemas.microsoft.com/office/drawing/2014/main" id="{54A73820-8189-EC12-DBEA-6DE6D37BB29F}"/>
              </a:ext>
            </a:extLst>
          </p:cNvPr>
          <p:cNvSpPr txBox="1"/>
          <p:nvPr/>
        </p:nvSpPr>
        <p:spPr>
          <a:xfrm>
            <a:off x="5521611" y="5111294"/>
            <a:ext cx="12384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Avi Goodman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dk2"/>
                </a:solidFill>
              </a:rPr>
              <a:t>Managing Director</a:t>
            </a:r>
            <a:endParaRPr i="1" dirty="0"/>
          </a:p>
        </p:txBody>
      </p:sp>
      <p:sp>
        <p:nvSpPr>
          <p:cNvPr id="150" name="Google Shape;150;p5"/>
          <p:cNvSpPr txBox="1"/>
          <p:nvPr/>
        </p:nvSpPr>
        <p:spPr>
          <a:xfrm>
            <a:off x="1097574" y="5111294"/>
            <a:ext cx="120975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Aidan Donaldson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bg2"/>
                </a:solidFill>
              </a:rPr>
              <a:t>M&amp;A Manager</a:t>
            </a:r>
            <a:endParaRPr sz="1000" i="1" dirty="0">
              <a:solidFill>
                <a:schemeClr val="bg2"/>
              </a:solidFill>
            </a:endParaRP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6DC3B079-EC61-3F4E-EB47-FBF77499BB99}"/>
              </a:ext>
            </a:extLst>
          </p:cNvPr>
          <p:cNvSpPr txBox="1">
            <a:spLocks/>
          </p:cNvSpPr>
          <p:nvPr/>
        </p:nvSpPr>
        <p:spPr>
          <a:xfrm>
            <a:off x="7115270" y="2163092"/>
            <a:ext cx="967045" cy="27432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25400" dir="5400000">
              <a:srgbClr val="C00000"/>
            </a:innerShdw>
          </a:effectLst>
        </p:spPr>
        <p:txBody>
          <a:bodyPr spcFirstLastPara="1" wrap="square" lIns="91425" tIns="0" rIns="91425" bIns="9144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 ea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78E"/>
              </a:buClr>
              <a:buSzPts val="2000"/>
              <a:buFont typeface="Arial"/>
              <a:buNone/>
              <a:defRPr lang="en-US" sz="1800" b="1" i="0" u="none" strike="noStrike" cap="none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sz="1100" dirty="0"/>
          </a:p>
          <a:p>
            <a:r>
              <a:rPr lang="en-US" sz="1100" dirty="0"/>
              <a:t>(Legal)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02870-0727-A6DC-7789-14630A511B4A}"/>
              </a:ext>
            </a:extLst>
          </p:cNvPr>
          <p:cNvSpPr txBox="1"/>
          <p:nvPr/>
        </p:nvSpPr>
        <p:spPr>
          <a:xfrm>
            <a:off x="6994388" y="3221770"/>
            <a:ext cx="1209754" cy="400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Corey Dickey</a:t>
            </a:r>
          </a:p>
          <a:p>
            <a:pPr marL="0" indent="0" algn="ctr">
              <a:buNone/>
            </a:pPr>
            <a:endParaRPr lang="en-US" sz="1000" i="1" dirty="0">
              <a:solidFill>
                <a:schemeClr val="bg2"/>
              </a:solidFill>
            </a:endParaRPr>
          </a:p>
        </p:txBody>
      </p:sp>
      <p:pic>
        <p:nvPicPr>
          <p:cNvPr id="25" name="Picture 24" descr="A person in a suit smiling">
            <a:extLst>
              <a:ext uri="{FF2B5EF4-FFF2-40B4-BE49-F238E27FC236}">
                <a16:creationId xmlns:a16="http://schemas.microsoft.com/office/drawing/2014/main" id="{07613C55-5055-D69E-2AA8-7CA658BEB4C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625" t="3394" r="4649" b="4056"/>
          <a:stretch>
            <a:fillRect/>
          </a:stretch>
        </p:blipFill>
        <p:spPr>
          <a:xfrm>
            <a:off x="4529002" y="4284876"/>
            <a:ext cx="831273" cy="831273"/>
          </a:xfrm>
          <a:prstGeom prst="rect">
            <a:avLst/>
          </a:prstGeom>
        </p:spPr>
      </p:pic>
      <p:pic>
        <p:nvPicPr>
          <p:cNvPr id="19" name="Google Shape;275;p22">
            <a:extLst>
              <a:ext uri="{FF2B5EF4-FFF2-40B4-BE49-F238E27FC236}">
                <a16:creationId xmlns:a16="http://schemas.microsoft.com/office/drawing/2014/main" id="{E2E7174F-2C32-2CDE-0037-87A44536466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81131" y="2372249"/>
            <a:ext cx="831273" cy="83127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2599119" y="5111294"/>
            <a:ext cx="109977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 Boulton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dk2"/>
                </a:solidFill>
              </a:rPr>
              <a:t>M&amp;A Analyst</a:t>
            </a:r>
            <a:endParaRPr i="1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C5FEFCB-B264-859B-1B40-DB4DA955786E}"/>
              </a:ext>
            </a:extLst>
          </p:cNvPr>
          <p:cNvSpPr txBox="1">
            <a:spLocks/>
          </p:cNvSpPr>
          <p:nvPr/>
        </p:nvSpPr>
        <p:spPr>
          <a:xfrm>
            <a:off x="7115270" y="4110413"/>
            <a:ext cx="967045" cy="27432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innerShdw dist="25400" dir="5400000">
              <a:srgbClr val="C00000"/>
            </a:innerShdw>
          </a:effectLst>
        </p:spPr>
        <p:txBody>
          <a:bodyPr spcFirstLastPara="1" wrap="square" lIns="91425" tIns="0" rIns="91425" bIns="91440" rtlCol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 ea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978E"/>
              </a:buClr>
              <a:buSzPts val="2000"/>
              <a:buFont typeface="Arial"/>
              <a:buNone/>
              <a:defRPr lang="en-US" sz="1800" b="1" i="0" u="none" strike="noStrike" cap="none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600"/>
              <a:buFont typeface="Arial"/>
              <a:buChar char="−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1978E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 ea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sz="1100" dirty="0"/>
          </a:p>
          <a:p>
            <a:r>
              <a:rPr lang="en-US" sz="1100" dirty="0"/>
              <a:t>(Insurance)</a:t>
            </a:r>
          </a:p>
        </p:txBody>
      </p:sp>
      <p:pic>
        <p:nvPicPr>
          <p:cNvPr id="1026" name="Picture 2" descr="CDS-DD">
            <a:extLst>
              <a:ext uri="{FF2B5EF4-FFF2-40B4-BE49-F238E27FC236}">
                <a16:creationId xmlns:a16="http://schemas.microsoft.com/office/drawing/2014/main" id="{14EAFC40-57A9-27A5-AA05-345B6E727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021" y="1617824"/>
            <a:ext cx="777409" cy="37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o Berwick | Trusted M&amp;A Advisory">
            <a:extLst>
              <a:ext uri="{FF2B5EF4-FFF2-40B4-BE49-F238E27FC236}">
                <a16:creationId xmlns:a16="http://schemas.microsoft.com/office/drawing/2014/main" id="{11BA1417-BA3E-DB44-2B57-0A0236CAC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324" y="1664876"/>
            <a:ext cx="641068" cy="27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ckey Law LLC">
            <a:extLst>
              <a:ext uri="{FF2B5EF4-FFF2-40B4-BE49-F238E27FC236}">
                <a16:creationId xmlns:a16="http://schemas.microsoft.com/office/drawing/2014/main" id="{B59D2EF9-A9B6-8617-19CE-AC93BC12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746" y="1743904"/>
            <a:ext cx="986936" cy="177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RA | Community Risk Advisors">
            <a:extLst>
              <a:ext uri="{FF2B5EF4-FFF2-40B4-BE49-F238E27FC236}">
                <a16:creationId xmlns:a16="http://schemas.microsoft.com/office/drawing/2014/main" id="{B90AB005-3DE6-9C29-43D1-A69B24B21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556" y="3607489"/>
            <a:ext cx="924196" cy="30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orfolio">
            <a:extLst>
              <a:ext uri="{FF2B5EF4-FFF2-40B4-BE49-F238E27FC236}">
                <a16:creationId xmlns:a16="http://schemas.microsoft.com/office/drawing/2014/main" id="{316DD2FE-5077-3C97-8449-7B46816F08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41" b="30665"/>
          <a:stretch>
            <a:fillRect/>
          </a:stretch>
        </p:blipFill>
        <p:spPr bwMode="auto">
          <a:xfrm>
            <a:off x="1259688" y="1761324"/>
            <a:ext cx="2332085" cy="34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14">
            <a:alphaModFix/>
          </a:blip>
          <a:srcRect l="17881" r="17606" b="11376"/>
          <a:stretch/>
        </p:blipFill>
        <p:spPr>
          <a:xfrm>
            <a:off x="1286815" y="2372249"/>
            <a:ext cx="831273" cy="831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56E8016-DC3B-B1C4-F43C-2E4341E32188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8219" t="16062" r="23516" b="40231"/>
          <a:stretch>
            <a:fillRect/>
          </a:stretch>
        </p:blipFill>
        <p:spPr>
          <a:xfrm>
            <a:off x="2733372" y="4284876"/>
            <a:ext cx="831273" cy="8312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90F018-9FD5-2031-ADD9-ECFC13F1CCB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85644" y="4284876"/>
            <a:ext cx="836777" cy="8312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CEA28E-3CE0-4DB0-9628-5DD8F00089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34543" y="2372249"/>
            <a:ext cx="831273" cy="831273"/>
          </a:xfrm>
          <a:prstGeom prst="rect">
            <a:avLst/>
          </a:prstGeom>
        </p:spPr>
      </p:pic>
      <p:sp>
        <p:nvSpPr>
          <p:cNvPr id="22" name="Google Shape;148;p5">
            <a:extLst>
              <a:ext uri="{FF2B5EF4-FFF2-40B4-BE49-F238E27FC236}">
                <a16:creationId xmlns:a16="http://schemas.microsoft.com/office/drawing/2014/main" id="{59DCA5F4-FEAC-961E-2ABF-47DFEEAD26D6}"/>
              </a:ext>
            </a:extLst>
          </p:cNvPr>
          <p:cNvSpPr txBox="1"/>
          <p:nvPr/>
        </p:nvSpPr>
        <p:spPr>
          <a:xfrm>
            <a:off x="2483643" y="3221770"/>
            <a:ext cx="13307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Brent Straitiff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i="1" dirty="0">
                <a:solidFill>
                  <a:schemeClr val="dk2"/>
                </a:solidFill>
              </a:rPr>
              <a:t>Partner</a:t>
            </a:r>
            <a:endParaRPr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>
            <a:spLocks noGrp="1"/>
          </p:cNvSpPr>
          <p:nvPr>
            <p:ph type="body" idx="1"/>
          </p:nvPr>
        </p:nvSpPr>
        <p:spPr>
          <a:xfrm>
            <a:off x="628650" y="4979922"/>
            <a:ext cx="7886700" cy="971297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A Few Key Topics we will Cover During Legal Diligence:</a:t>
            </a:r>
            <a:endParaRPr dirty="0"/>
          </a:p>
          <a:p>
            <a:pPr marL="396875" lvl="1" indent="-165100"/>
            <a:r>
              <a:rPr lang="en-US" sz="1400" dirty="0"/>
              <a:t>Employees &amp; HR compliance (agreements, policies, handbook/I-9) </a:t>
            </a:r>
          </a:p>
          <a:p>
            <a:pPr marL="396875" lvl="1" indent="-165100"/>
            <a:r>
              <a:rPr lang="en-US" sz="1400" dirty="0"/>
              <a:t>Litigation, investigations &amp; disputes (history, subpoenas, outstanding orders) </a:t>
            </a:r>
          </a:p>
          <a:p>
            <a:pPr marL="396875" lvl="1" indent="-165100"/>
            <a:r>
              <a:rPr lang="en-US" sz="1400" dirty="0"/>
              <a:t>Real estate/lease &amp; insurance obligations (coverage limits, additional insurance needed)</a:t>
            </a:r>
            <a:endParaRPr dirty="0"/>
          </a:p>
        </p:txBody>
      </p:sp>
      <p:graphicFrame>
        <p:nvGraphicFramePr>
          <p:cNvPr id="178" name="Google Shape;178;p7"/>
          <p:cNvGraphicFramePr/>
          <p:nvPr>
            <p:extLst>
              <p:ext uri="{D42A27DB-BD31-4B8C-83A1-F6EECF244321}">
                <p14:modId xmlns:p14="http://schemas.microsoft.com/office/powerpoint/2010/main" val="723154274"/>
              </p:ext>
            </p:extLst>
          </p:nvPr>
        </p:nvGraphicFramePr>
        <p:xfrm>
          <a:off x="628650" y="1677700"/>
          <a:ext cx="7886700" cy="3294209"/>
        </p:xfrm>
        <a:graphic>
          <a:graphicData uri="http://schemas.openxmlformats.org/drawingml/2006/table">
            <a:tbl>
              <a:tblPr>
                <a:noFill/>
                <a:tableStyleId>{F5C4EC6E-F1A4-438B-9210-B54C53C906CA}</a:tableStyleId>
              </a:tblPr>
              <a:tblGrid>
                <a:gridCol w="113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accent1"/>
                          </a:solidFill>
                        </a:rPr>
                        <a:t>Phase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accent1"/>
                          </a:solidFill>
                        </a:rPr>
                        <a:t>Who you’ll see the most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accent1"/>
                          </a:solidFill>
                        </a:rPr>
                        <a:t>What will we be doing?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accent1"/>
                          </a:solidFill>
                        </a:rPr>
                        <a:t>Point of contact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0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accent1"/>
                          </a:solidFill>
                        </a:rPr>
                        <a:t>Data Collection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dk2"/>
                          </a:solidFill>
                        </a:rPr>
                        <a:t>Bi-weekly check-ins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dk2"/>
                          </a:solidFill>
                        </a:rPr>
                        <a:t>Debugging data room set-up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dk2"/>
                          </a:solidFill>
                        </a:rPr>
                        <a:t>Gathering information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Doris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Katie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0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accent1"/>
                          </a:solidFill>
                        </a:rPr>
                        <a:t>DD Sessions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Bi-monthly DD sessions</a:t>
                      </a:r>
                      <a:endParaRPr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Interpreting the data</a:t>
                      </a:r>
                      <a:endParaRPr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Sharing our findings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Doris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Katie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0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chemeClr val="accent1"/>
                          </a:solidFill>
                        </a:rPr>
                        <a:t>Legal Diligence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2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Deliver initial drafts</a:t>
                      </a:r>
                      <a:endParaRPr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“Issues List” discussion</a:t>
                      </a:r>
                      <a:endParaRPr dirty="0"/>
                    </a:p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Hashing out all agreements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Doris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 dirty="0">
                          <a:solidFill>
                            <a:schemeClr val="dk2"/>
                          </a:solidFill>
                        </a:rPr>
                        <a:t>Katie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8D8D8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 dirty="0">
                <a:solidFill>
                  <a:schemeClr val="accent2"/>
                </a:solidFill>
              </a:rPr>
              <a:t>The Squad (cont’d):</a:t>
            </a:r>
            <a:r>
              <a:rPr lang="en-US" dirty="0"/>
              <a:t> We’re here to help and here’s how we typically split work</a:t>
            </a:r>
            <a:endParaRPr dirty="0"/>
          </a:p>
        </p:txBody>
      </p:sp>
      <p:sp>
        <p:nvSpPr>
          <p:cNvPr id="180" name="Google Shape;180;p7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7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95" name="Google Shape;195;p7" descr="A person in a suit smiling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9236" y="4253877"/>
            <a:ext cx="502865" cy="50286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" name="Picture 5" descr="A person in a blue suit&#10;&#10;AI-generated content may be incorrect.">
            <a:extLst>
              <a:ext uri="{FF2B5EF4-FFF2-40B4-BE49-F238E27FC236}">
                <a16:creationId xmlns:a16="http://schemas.microsoft.com/office/drawing/2014/main" id="{394F165A-F677-F8D6-E969-D5AA628BDE7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070" y="3373412"/>
            <a:ext cx="502865" cy="50286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" name="Picture 10" descr="A person in a blue suit&#10;&#10;AI-generated content may be incorrect.">
            <a:extLst>
              <a:ext uri="{FF2B5EF4-FFF2-40B4-BE49-F238E27FC236}">
                <a16:creationId xmlns:a16="http://schemas.microsoft.com/office/drawing/2014/main" id="{B03242C8-CFDE-ED67-1A89-314F006946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070" y="2483497"/>
            <a:ext cx="502865" cy="50286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Picture 12" descr="A person in a suit smiling">
            <a:extLst>
              <a:ext uri="{FF2B5EF4-FFF2-40B4-BE49-F238E27FC236}">
                <a16:creationId xmlns:a16="http://schemas.microsoft.com/office/drawing/2014/main" id="{3C7A6BAE-B4F0-EB0C-837A-434B6F62364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l="1525" r="1525"/>
          <a:stretch/>
        </p:blipFill>
        <p:spPr>
          <a:xfrm>
            <a:off x="3704903" y="2483497"/>
            <a:ext cx="502865" cy="50286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Picture 13" descr="A person in a suit smiling">
            <a:extLst>
              <a:ext uri="{FF2B5EF4-FFF2-40B4-BE49-F238E27FC236}">
                <a16:creationId xmlns:a16="http://schemas.microsoft.com/office/drawing/2014/main" id="{C202EBFF-57EE-DFDB-BA54-F2C06DAA5A3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l="1525" r="1525"/>
          <a:stretch/>
        </p:blipFill>
        <p:spPr>
          <a:xfrm>
            <a:off x="3704903" y="3373412"/>
            <a:ext cx="502865" cy="50286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" name="Google Shape;316;p27">
            <a:extLst>
              <a:ext uri="{FF2B5EF4-FFF2-40B4-BE49-F238E27FC236}">
                <a16:creationId xmlns:a16="http://schemas.microsoft.com/office/drawing/2014/main" id="{6F6C7BE0-F81F-5CC0-4985-29E4FB9B8F6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52070" y="4253877"/>
            <a:ext cx="502865" cy="502865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Picture 1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F28DB41-3198-E212-DACB-46A6622954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1991" t="16104" r="27173" b="45762"/>
          <a:stretch>
            <a:fillRect/>
          </a:stretch>
        </p:blipFill>
        <p:spPr>
          <a:xfrm>
            <a:off x="2599236" y="3373412"/>
            <a:ext cx="502865" cy="502865"/>
          </a:xfrm>
          <a:prstGeom prst="ellipse">
            <a:avLst/>
          </a:prstGeom>
        </p:spPr>
      </p:pic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1F8BF3B5-5CD5-9447-7A15-3E5BB5C9DBC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1991" t="16104" r="27173" b="45762"/>
          <a:stretch>
            <a:fillRect/>
          </a:stretch>
        </p:blipFill>
        <p:spPr>
          <a:xfrm>
            <a:off x="2599236" y="2483497"/>
            <a:ext cx="502865" cy="502865"/>
          </a:xfrm>
          <a:prstGeom prst="ellipse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791B6D-796E-9482-D833-BE021BCCBFA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29" r="329"/>
          <a:stretch>
            <a:fillRect/>
          </a:stretch>
        </p:blipFill>
        <p:spPr>
          <a:xfrm>
            <a:off x="2046402" y="3373412"/>
            <a:ext cx="502865" cy="502865"/>
          </a:xfrm>
          <a:prstGeom prst="ellips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6D3BB1-11D0-58F6-7C0A-4A66B494F06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29" r="329"/>
          <a:stretch>
            <a:fillRect/>
          </a:stretch>
        </p:blipFill>
        <p:spPr>
          <a:xfrm>
            <a:off x="2046402" y="4253877"/>
            <a:ext cx="502865" cy="502865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68C135-17C7-4F1D-A058-15631B2443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29" r="329"/>
          <a:stretch>
            <a:fillRect/>
          </a:stretch>
        </p:blipFill>
        <p:spPr>
          <a:xfrm>
            <a:off x="2046402" y="2483497"/>
            <a:ext cx="502865" cy="502865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 txBox="1">
            <a:spLocks noGrp="1"/>
          </p:cNvSpPr>
          <p:nvPr>
            <p:ph type="body" idx="2"/>
          </p:nvPr>
        </p:nvSpPr>
        <p:spPr>
          <a:xfrm>
            <a:off x="628650" y="1633049"/>
            <a:ext cx="1800890" cy="7169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Review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Google Shape;203;p8"/>
          <p:cNvSpPr txBox="1">
            <a:spLocks noGrp="1"/>
          </p:cNvSpPr>
          <p:nvPr>
            <p:ph type="body" idx="3"/>
          </p:nvPr>
        </p:nvSpPr>
        <p:spPr>
          <a:xfrm>
            <a:off x="628650" y="2500178"/>
            <a:ext cx="1800890" cy="7169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Accounting Review</a:t>
            </a:r>
            <a:endParaRPr sz="160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Google Shape;210;p8"/>
          <p:cNvSpPr txBox="1">
            <a:spLocks noGrp="1"/>
          </p:cNvSpPr>
          <p:nvPr>
            <p:ph type="body" idx="1"/>
          </p:nvPr>
        </p:nvSpPr>
        <p:spPr>
          <a:xfrm>
            <a:off x="628650" y="3360714"/>
            <a:ext cx="1800890" cy="720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 Review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628650" y="4223180"/>
            <a:ext cx="1800890" cy="720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1400"/>
              <a:buNone/>
              <a:defRPr sz="1600" b="1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330200">
              <a:buClr>
                <a:schemeClr val="accent1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indent="-330200">
              <a:buClr>
                <a:schemeClr val="accent1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indent="-330200">
              <a:buClr>
                <a:schemeClr val="accent1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indent="-330200">
              <a:buClr>
                <a:schemeClr val="accent1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indent="-228600">
              <a:buSzPts val="1400"/>
              <a:buNone/>
            </a:lvl6pPr>
            <a:lvl7pPr marL="3200400" indent="-228600">
              <a:buSzPts val="1400"/>
              <a:buNone/>
            </a:lvl7pPr>
            <a:lvl8pPr marL="3657600" indent="-228600">
              <a:buSzPts val="1400"/>
              <a:buNone/>
            </a:lvl8pPr>
            <a:lvl9pPr marL="4114800" indent="-228600">
              <a:buSzPts val="1400"/>
              <a:buNone/>
            </a:lvl9pPr>
          </a:lstStyle>
          <a:p>
            <a:r>
              <a:rPr lang="en-US" dirty="0"/>
              <a:t>Legal</a:t>
            </a:r>
            <a:endParaRPr dirty="0"/>
          </a:p>
          <a:p>
            <a:r>
              <a:rPr lang="en-US" dirty="0"/>
              <a:t>Negotiations</a:t>
            </a:r>
            <a:endParaRPr dirty="0"/>
          </a:p>
        </p:txBody>
      </p:sp>
      <p:sp>
        <p:nvSpPr>
          <p:cNvPr id="204" name="Google Shape;204;p8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 dirty="0">
                <a:solidFill>
                  <a:schemeClr val="accent2"/>
                </a:solidFill>
              </a:rPr>
              <a:t>Process:</a:t>
            </a:r>
            <a:r>
              <a:rPr lang="en-US" b="0" i="1" dirty="0"/>
              <a:t> </a:t>
            </a:r>
            <a:r>
              <a:rPr lang="en-US" dirty="0"/>
              <a:t>We should be in position to close by the end of November</a:t>
            </a:r>
            <a:endParaRPr dirty="0"/>
          </a:p>
        </p:txBody>
      </p:sp>
      <p:sp>
        <p:nvSpPr>
          <p:cNvPr id="205" name="Google Shape;205;p8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8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07" name="Google Shape;207;p8"/>
          <p:cNvSpPr txBox="1">
            <a:spLocks noGrp="1"/>
          </p:cNvSpPr>
          <p:nvPr>
            <p:ph type="body" idx="5"/>
          </p:nvPr>
        </p:nvSpPr>
        <p:spPr>
          <a:xfrm>
            <a:off x="1934820" y="1631876"/>
            <a:ext cx="6472058" cy="71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Review customer, employee, and financial information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Discuss operations, org structure, company history, etc.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b="1" i="1" dirty="0"/>
              <a:t>We can complete this in mid-October</a:t>
            </a:r>
            <a:endParaRPr dirty="0"/>
          </a:p>
        </p:txBody>
      </p:sp>
      <p:sp>
        <p:nvSpPr>
          <p:cNvPr id="208" name="Google Shape;208;p8"/>
          <p:cNvSpPr txBox="1">
            <a:spLocks noGrp="1"/>
          </p:cNvSpPr>
          <p:nvPr>
            <p:ph type="body" idx="6"/>
          </p:nvPr>
        </p:nvSpPr>
        <p:spPr>
          <a:xfrm>
            <a:off x="1934820" y="2499621"/>
            <a:ext cx="6472058" cy="71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Accounting review session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Refresh of financial information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b="1" i="1" dirty="0"/>
              <a:t>We can complete this in mid-October</a:t>
            </a:r>
            <a:endParaRPr dirty="0"/>
          </a:p>
        </p:txBody>
      </p:sp>
      <p:sp>
        <p:nvSpPr>
          <p:cNvPr id="209" name="Google Shape;209;p8"/>
          <p:cNvSpPr txBox="1"/>
          <p:nvPr/>
        </p:nvSpPr>
        <p:spPr>
          <a:xfrm>
            <a:off x="628650" y="5200444"/>
            <a:ext cx="7886700" cy="72029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long as everyone here is engaged and we’re hitting our deadlines, we should be in good shape to </a:t>
            </a:r>
            <a:r>
              <a:rPr lang="en-US" sz="16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close by the end of November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>
            <a:spLocks noGrp="1"/>
          </p:cNvSpPr>
          <p:nvPr>
            <p:ph type="body" idx="4"/>
          </p:nvPr>
        </p:nvSpPr>
        <p:spPr>
          <a:xfrm>
            <a:off x="1934821" y="3360760"/>
            <a:ext cx="6472058" cy="71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Receive contracts, insurance policies, and benefits plans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Completion of legal diligence session</a:t>
            </a:r>
            <a:endParaRPr dirty="0"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b="1" i="1" dirty="0"/>
              <a:t>We can complete this by the end of October</a:t>
            </a:r>
            <a:endParaRPr dirty="0"/>
          </a:p>
        </p:txBody>
      </p:sp>
      <p:sp>
        <p:nvSpPr>
          <p:cNvPr id="214" name="Google Shape;214;p8"/>
          <p:cNvSpPr txBox="1"/>
          <p:nvPr/>
        </p:nvSpPr>
        <p:spPr>
          <a:xfrm>
            <a:off x="1934821" y="4223226"/>
            <a:ext cx="6472058" cy="71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Draft, review, and revise deal documents (purchase agreement)</a:t>
            </a:r>
            <a:endParaRPr dirty="0"/>
          </a:p>
          <a:p>
            <a: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 disclosure schedule</a:t>
            </a:r>
            <a:endParaRPr dirty="0"/>
          </a:p>
          <a:p>
            <a: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400" b="1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complete this by the end of November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924594-E76C-D509-C585-7C0E854330EE}"/>
              </a:ext>
            </a:extLst>
          </p:cNvPr>
          <p:cNvSpPr/>
          <p:nvPr/>
        </p:nvSpPr>
        <p:spPr>
          <a:xfrm>
            <a:off x="2456860" y="1741721"/>
            <a:ext cx="27432" cy="499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ACDCB6-8D09-B4B7-E066-06E04728D79F}"/>
              </a:ext>
            </a:extLst>
          </p:cNvPr>
          <p:cNvSpPr/>
          <p:nvPr/>
        </p:nvSpPr>
        <p:spPr>
          <a:xfrm>
            <a:off x="2456860" y="2608850"/>
            <a:ext cx="27432" cy="499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76531-7AEF-A211-8B6A-F1A3A68E7FD5}"/>
              </a:ext>
            </a:extLst>
          </p:cNvPr>
          <p:cNvSpPr/>
          <p:nvPr/>
        </p:nvSpPr>
        <p:spPr>
          <a:xfrm>
            <a:off x="2456860" y="3465191"/>
            <a:ext cx="27432" cy="499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BBA55F-06B1-EB6C-6DDE-EC9E38154B71}"/>
              </a:ext>
            </a:extLst>
          </p:cNvPr>
          <p:cNvSpPr/>
          <p:nvPr/>
        </p:nvSpPr>
        <p:spPr>
          <a:xfrm>
            <a:off x="2456860" y="4332817"/>
            <a:ext cx="27432" cy="499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 txBox="1">
            <a:spLocks noGrp="1"/>
          </p:cNvSpPr>
          <p:nvPr>
            <p:ph type="body" idx="1"/>
          </p:nvPr>
        </p:nvSpPr>
        <p:spPr>
          <a:xfrm>
            <a:off x="594014" y="1889238"/>
            <a:ext cx="1507448" cy="115546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Check-In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sz="1600" b="0" i="1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planning</a:t>
            </a:r>
            <a:endParaRPr sz="1600" b="0" i="1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0" name="Google Shape;220;p9"/>
          <p:cNvSpPr txBox="1">
            <a:spLocks noGrp="1"/>
          </p:cNvSpPr>
          <p:nvPr>
            <p:ph type="body" idx="2"/>
          </p:nvPr>
        </p:nvSpPr>
        <p:spPr>
          <a:xfrm>
            <a:off x="594014" y="3306935"/>
            <a:ext cx="1507448" cy="1153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Diligence Session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sz="1600" b="0" i="1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dives</a:t>
            </a:r>
            <a:endParaRPr sz="1600" b="0" i="1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Google Shape;221;p9"/>
          <p:cNvSpPr txBox="1">
            <a:spLocks noGrp="1"/>
          </p:cNvSpPr>
          <p:nvPr>
            <p:ph type="body" idx="3"/>
          </p:nvPr>
        </p:nvSpPr>
        <p:spPr>
          <a:xfrm>
            <a:off x="594014" y="4722859"/>
            <a:ext cx="1507448" cy="1153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25400">
              <a:schemeClr val="bg1"/>
            </a:innerShdw>
          </a:effectLst>
        </p:spPr>
        <p:txBody>
          <a:bodyPr spcFirstLastPara="1" wrap="square" lIns="45720" tIns="45700" rIns="45720" bIns="45700" rtlCol="0" anchor="ctr" anchorCtr="0">
            <a:noAutofit/>
          </a:bodyPr>
          <a:lstStyle/>
          <a:p>
            <a:pPr marL="0" indent="0"/>
            <a:r>
              <a:rPr lang="en-US" sz="1600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Debugging</a:t>
            </a:r>
            <a:endParaRPr sz="1600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sz="1600" b="0" i="1" dirty="0">
                <a:solidFill>
                  <a:schemeClr val="accent4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“How do I do that again..?”</a:t>
            </a:r>
            <a:endParaRPr sz="1600" b="0" i="1" dirty="0">
              <a:solidFill>
                <a:schemeClr val="accent4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Google Shape;222;p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>
                <a:solidFill>
                  <a:schemeClr val="accent2"/>
                </a:solidFill>
              </a:rPr>
              <a:t>Process (cont’d): </a:t>
            </a:r>
            <a:r>
              <a:rPr lang="en-US"/>
              <a:t>Our meetings will usually follow one of these formats</a:t>
            </a:r>
            <a:endParaRPr/>
          </a:p>
        </p:txBody>
      </p:sp>
      <p:sp>
        <p:nvSpPr>
          <p:cNvPr id="223" name="Google Shape;223;p9"/>
          <p:cNvSpPr txBox="1">
            <a:spLocks noGrp="1"/>
          </p:cNvSpPr>
          <p:nvPr>
            <p:ph type="body" idx="4"/>
          </p:nvPr>
        </p:nvSpPr>
        <p:spPr>
          <a:xfrm>
            <a:off x="2136099" y="1889119"/>
            <a:ext cx="5741233" cy="115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15 to 30-min meeting scheduled regularly on the same day/time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Follows a similar format each time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Keeps us in sync on what is needed to keep with progress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i="1" dirty="0"/>
              <a:t>These meetings will have an AI notetaker present</a:t>
            </a:r>
            <a:endParaRPr dirty="0"/>
          </a:p>
        </p:txBody>
      </p:sp>
      <p:sp>
        <p:nvSpPr>
          <p:cNvPr id="224" name="Google Shape;224;p9"/>
          <p:cNvSpPr txBox="1">
            <a:spLocks noGrp="1"/>
          </p:cNvSpPr>
          <p:nvPr>
            <p:ph type="body" idx="5"/>
          </p:nvPr>
        </p:nvSpPr>
        <p:spPr>
          <a:xfrm>
            <a:off x="2136098" y="3307647"/>
            <a:ext cx="5741233" cy="115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60+ min meeting to discuss a specific topic (Ex. Talent planning)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Usually requires information ahead of time 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Follow-ups are scheduled at the end of the initial session, based on remaining open questions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i="1" dirty="0"/>
              <a:t>These sessions will be recorded (for our diligence partners)</a:t>
            </a:r>
            <a:endParaRPr dirty="0"/>
          </a:p>
        </p:txBody>
      </p:sp>
      <p:sp>
        <p:nvSpPr>
          <p:cNvPr id="225" name="Google Shape;225;p9"/>
          <p:cNvSpPr txBox="1">
            <a:spLocks noGrp="1"/>
          </p:cNvSpPr>
          <p:nvPr>
            <p:ph type="body" idx="6"/>
          </p:nvPr>
        </p:nvSpPr>
        <p:spPr>
          <a:xfrm>
            <a:off x="2136098" y="4722825"/>
            <a:ext cx="5741233" cy="115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One-off meetings or calls to help with any issues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Just call, email or text and we will help you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Example: You text “I get an error when I enter info in this google sheet” -&gt; we video chat asap to walk through it together live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400" i="1" dirty="0"/>
              <a:t>These meetings may be recorded (if it helps others in the future)</a:t>
            </a:r>
            <a:endParaRPr dirty="0"/>
          </a:p>
        </p:txBody>
      </p:sp>
      <p:sp>
        <p:nvSpPr>
          <p:cNvPr id="226" name="Google Shape;226;p9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9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7637487" y="3112624"/>
            <a:ext cx="1288303" cy="1469036"/>
          </a:xfrm>
          <a:prstGeom prst="roundRect">
            <a:avLst>
              <a:gd name="adj" fmla="val 2696"/>
            </a:avLst>
          </a:prstGeom>
          <a:solidFill>
            <a:srgbClr val="FFCC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 permitting, we can use check-in meetings to ask diligence questions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637487" y="4797690"/>
            <a:ext cx="1288303" cy="1003371"/>
          </a:xfrm>
          <a:prstGeom prst="roundRect">
            <a:avLst>
              <a:gd name="adj" fmla="val 2696"/>
            </a:avLst>
          </a:prstGeom>
          <a:solidFill>
            <a:srgbClr val="FFCC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Max’s cell: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(513) 461-3053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E4DA1A-3F0B-22E9-66AB-99D073C7D417}"/>
              </a:ext>
            </a:extLst>
          </p:cNvPr>
          <p:cNvSpPr/>
          <p:nvPr/>
        </p:nvSpPr>
        <p:spPr>
          <a:xfrm>
            <a:off x="2122383" y="3329129"/>
            <a:ext cx="27432" cy="109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6C481-42A9-E965-0FAF-E72B04632B36}"/>
              </a:ext>
            </a:extLst>
          </p:cNvPr>
          <p:cNvSpPr/>
          <p:nvPr/>
        </p:nvSpPr>
        <p:spPr>
          <a:xfrm>
            <a:off x="2122383" y="4750735"/>
            <a:ext cx="27432" cy="109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CC232-5019-4AE2-45BA-1E58D6ED1CD7}"/>
              </a:ext>
            </a:extLst>
          </p:cNvPr>
          <p:cNvSpPr/>
          <p:nvPr/>
        </p:nvSpPr>
        <p:spPr>
          <a:xfrm>
            <a:off x="2122383" y="2009772"/>
            <a:ext cx="27432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>
                <a:solidFill>
                  <a:schemeClr val="accent2"/>
                </a:solidFill>
              </a:rPr>
              <a:t>Check-ins:</a:t>
            </a:r>
            <a:r>
              <a:rPr lang="en-US"/>
              <a:t> We establish a regular cadence to discuss what’s needed</a:t>
            </a:r>
            <a:endParaRPr/>
          </a:p>
        </p:txBody>
      </p:sp>
      <p:sp>
        <p:nvSpPr>
          <p:cNvPr id="235" name="Google Shape;235;p23"/>
          <p:cNvSpPr txBox="1">
            <a:spLocks noGrp="1"/>
          </p:cNvSpPr>
          <p:nvPr>
            <p:ph type="body" idx="1"/>
          </p:nvPr>
        </p:nvSpPr>
        <p:spPr>
          <a:xfrm>
            <a:off x="628650" y="5116769"/>
            <a:ext cx="7886700" cy="782255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To discuss: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What day/time works for our check-ins?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Who will be attending the check-in meetings?</a:t>
            </a:r>
            <a:endParaRPr/>
          </a:p>
        </p:txBody>
      </p:sp>
      <p:sp>
        <p:nvSpPr>
          <p:cNvPr id="236" name="Google Shape;236;p23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23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628650" y="2316942"/>
            <a:ext cx="3373120" cy="2041236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 the check-in: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assign or answer any unanswered Qs in Q&amp;A doc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discuss open data requests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discuss status of analyses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TCC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reviews diligence timeline and re-schedules sessions, </a:t>
            </a:r>
            <a:r>
              <a:rPr lang="en-US" dirty="0">
                <a:solidFill>
                  <a:schemeClr val="dk2"/>
                </a:solidFill>
              </a:rPr>
              <a:t>i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 necessary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142230" y="2316942"/>
            <a:ext cx="3373120" cy="2041236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Between check-ins: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locate data, save it in data room, update our analyses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TCC 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reviews, adds Qs to Q&amp;A doc, prepares list(s) for DD sessions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TCC 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updates Q&amp;A doc with near-term open Q’s and to-do’s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TCC </a:t>
            </a: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updates the board on progress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7222435" y="1989986"/>
            <a:ext cx="1375516" cy="645925"/>
          </a:xfrm>
          <a:prstGeom prst="roundRect">
            <a:avLst>
              <a:gd name="adj" fmla="val 7384"/>
            </a:avLst>
          </a:prstGeom>
          <a:solidFill>
            <a:srgbClr val="FFCCCC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Don’t worry about the “messiness” of the data. Just find it and drop it in!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23"/>
          <p:cNvCxnSpPr>
            <a:stCxn id="238" idx="0"/>
            <a:endCxn id="239" idx="0"/>
          </p:cNvCxnSpPr>
          <p:nvPr/>
        </p:nvCxnSpPr>
        <p:spPr>
          <a:xfrm rot="-5400000" flipH="1">
            <a:off x="4571660" y="60492"/>
            <a:ext cx="600" cy="4513500"/>
          </a:xfrm>
          <a:prstGeom prst="curvedConnector3">
            <a:avLst>
              <a:gd name="adj1" fmla="val -37041667"/>
            </a:avLst>
          </a:prstGeom>
          <a:noFill/>
          <a:ln w="19050" cap="flat" cmpd="sng">
            <a:solidFill>
              <a:srgbClr val="98002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2" name="Google Shape;242;p23"/>
          <p:cNvCxnSpPr>
            <a:stCxn id="239" idx="2"/>
            <a:endCxn id="238" idx="2"/>
          </p:cNvCxnSpPr>
          <p:nvPr/>
        </p:nvCxnSpPr>
        <p:spPr>
          <a:xfrm rot="5400000">
            <a:off x="4571740" y="2101728"/>
            <a:ext cx="600" cy="4513500"/>
          </a:xfrm>
          <a:prstGeom prst="curvedConnector3">
            <a:avLst>
              <a:gd name="adj1" fmla="val 37041667"/>
            </a:avLst>
          </a:prstGeom>
          <a:noFill/>
          <a:ln w="19050" cap="flat" cmpd="sng">
            <a:solidFill>
              <a:srgbClr val="98002F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 dirty="0">
                <a:solidFill>
                  <a:schemeClr val="accent2"/>
                </a:solidFill>
              </a:rPr>
              <a:t>Check-ins (cont’d):</a:t>
            </a:r>
            <a:r>
              <a:rPr lang="en-US" dirty="0"/>
              <a:t> “Q&amp;A Doc” is our go-to source for latest Q’s and to-do’s</a:t>
            </a:r>
            <a:endParaRPr dirty="0"/>
          </a:p>
        </p:txBody>
      </p:sp>
      <p:sp>
        <p:nvSpPr>
          <p:cNvPr id="248" name="Google Shape;248;p25"/>
          <p:cNvSpPr txBox="1">
            <a:spLocks noGrp="1"/>
          </p:cNvSpPr>
          <p:nvPr>
            <p:ph type="body" idx="1"/>
          </p:nvPr>
        </p:nvSpPr>
        <p:spPr>
          <a:xfrm>
            <a:off x="628650" y="5013960"/>
            <a:ext cx="7886700" cy="76708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To discuss: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Accessing our Q&amp;A Doc</a:t>
            </a:r>
            <a:endParaRPr/>
          </a:p>
          <a:p>
            <a:pPr marL="2857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1400"/>
              <a:t>Walk through how to use the document in practice</a:t>
            </a:r>
            <a:endParaRPr/>
          </a:p>
        </p:txBody>
      </p:sp>
      <p:sp>
        <p:nvSpPr>
          <p:cNvPr id="249" name="Google Shape;249;p25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628649" y="1752217"/>
            <a:ext cx="3476635" cy="2607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Our answer to “what do I do next?” is simple: “</a:t>
            </a:r>
            <a:r>
              <a:rPr lang="en-US" sz="1400" b="1" i="0" u="sng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check the Q&amp;A Doc</a:t>
            </a: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use a collaborative Google document to keep on top of: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0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One-off DD questions that aren’t a part of an upcoming session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0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 request items that are due or soon to be due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00" marR="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Any items that we owe you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During our check-ins, we will typically start by reviewing this doc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5285" y="1752217"/>
            <a:ext cx="4410065" cy="3066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>
            <a:off x="4553711" y="1975104"/>
            <a:ext cx="2715439" cy="1828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Spinnaker + The CAM Collective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6894576" y="2060448"/>
            <a:ext cx="603504" cy="1828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>
                <a:solidFill>
                  <a:schemeClr val="accent2"/>
                </a:solidFill>
              </a:rPr>
              <a:t>Check-ins (cont’d):</a:t>
            </a:r>
            <a:r>
              <a:rPr lang="en-US"/>
              <a:t> Our data room has everything we’re working on</a:t>
            </a:r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1"/>
          </p:nvPr>
        </p:nvSpPr>
        <p:spPr>
          <a:xfrm>
            <a:off x="628650" y="1811936"/>
            <a:ext cx="7886700" cy="300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We limit the amount of inbox digging everyone has to do by housing all data, analyses, to-do’s and questions in a single, collaborative virtual “data room”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/>
              <a:t>We’ve given you all access through a single Google account. Save the password somewhere where you can all see – just in case someone changes it!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Our data room is broken out into focus areas: Customers, Employees, Financial, and Legal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/>
              <a:t>Please save </a:t>
            </a:r>
            <a:r>
              <a:rPr lang="en-US" sz="1400" i="1" u="sng" dirty="0"/>
              <a:t>all</a:t>
            </a:r>
            <a:r>
              <a:rPr lang="en-US" sz="1400" i="1" dirty="0"/>
              <a:t> </a:t>
            </a:r>
            <a:r>
              <a:rPr lang="en-US" sz="1400" dirty="0"/>
              <a:t>info in those core folders (ideally in the appropriate subfolders).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/>
              <a:t>“TCC” folder is where we’ll save anything that we owe you. We’ll typically send a link to that document in our emails, vs. attaching the document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-US" sz="1400" dirty="0"/>
              <a:t>“Diligence Meetings” folder is where we’ll save diligence session question lists we (or our accounting/legal diligence partners) write and diligence session recordings</a:t>
            </a:r>
            <a:endParaRPr dirty="0"/>
          </a:p>
        </p:txBody>
      </p:sp>
      <p:sp>
        <p:nvSpPr>
          <p:cNvPr id="261" name="Google Shape;261;p24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24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28650" y="5297676"/>
            <a:ext cx="7886700" cy="645925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do / discuss: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Access the data room using your @camcollective.com email address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"/>
          <p:cNvSpPr txBox="1">
            <a:spLocks noGrp="1"/>
          </p:cNvSpPr>
          <p:nvPr>
            <p:ph type="body" idx="3"/>
          </p:nvPr>
        </p:nvSpPr>
        <p:spPr>
          <a:xfrm>
            <a:off x="628650" y="2773681"/>
            <a:ext cx="2533650" cy="13255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b="0" i="1"/>
              <a:t>How healthy is the company’s relationship with its customers and employees? Is it poised to grow well into the future?</a:t>
            </a:r>
            <a:endParaRPr sz="1400" b="0" i="1"/>
          </a:p>
        </p:txBody>
      </p:sp>
      <p:sp>
        <p:nvSpPr>
          <p:cNvPr id="269" name="Google Shape;269;p4"/>
          <p:cNvSpPr txBox="1">
            <a:spLocks noGrp="1"/>
          </p:cNvSpPr>
          <p:nvPr>
            <p:ph type="body" idx="4"/>
          </p:nvPr>
        </p:nvSpPr>
        <p:spPr>
          <a:xfrm>
            <a:off x="3305175" y="2773681"/>
            <a:ext cx="2533650" cy="13255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b="0" i="1"/>
              <a:t>How healthy are the finances, historically? What accounting process and controls are in place today? Are all taxes paid?</a:t>
            </a:r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>
                <a:solidFill>
                  <a:schemeClr val="accent2"/>
                </a:solidFill>
              </a:rPr>
              <a:t>Diligence Sessions:</a:t>
            </a:r>
            <a:r>
              <a:rPr lang="en-US"/>
              <a:t> Our sessions typically fall into three buckets</a:t>
            </a:r>
            <a:endParaRPr/>
          </a:p>
        </p:txBody>
      </p:sp>
      <p:sp>
        <p:nvSpPr>
          <p:cNvPr id="271" name="Google Shape;271;p4"/>
          <p:cNvSpPr txBox="1">
            <a:spLocks noGrp="1"/>
          </p:cNvSpPr>
          <p:nvPr>
            <p:ph type="body" idx="6"/>
          </p:nvPr>
        </p:nvSpPr>
        <p:spPr>
          <a:xfrm>
            <a:off x="5981700" y="2773681"/>
            <a:ext cx="2533650" cy="13255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b="0" i="1" dirty="0"/>
              <a:t>What is the company’s legal structure today? What liabilities has the company faced before? What is expected?</a:t>
            </a:r>
            <a:endParaRPr sz="1400" b="0" i="1" dirty="0"/>
          </a:p>
        </p:txBody>
      </p:sp>
      <p:sp>
        <p:nvSpPr>
          <p:cNvPr id="272" name="Google Shape;272;p4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4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619126" y="4175760"/>
            <a:ext cx="2543114" cy="163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sessions: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Retention analysis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Customer health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Employee talent assessment </a:t>
            </a:r>
            <a:endParaRPr dirty="0"/>
          </a:p>
          <a:p>
            <a:pPr marL="285750" marR="0" lvl="3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3295681" y="4175760"/>
            <a:ext cx="2543114" cy="163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sessions: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Accounting policy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Financials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Revenue, payroll proof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5981760" y="4175760"/>
            <a:ext cx="2543114" cy="163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sessions: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Contract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Historical and pending customer, employee, and tax liabilities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Review of schedules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546" y="1915509"/>
            <a:ext cx="7888908" cy="688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 dirty="0">
                <a:solidFill>
                  <a:schemeClr val="accent2"/>
                </a:solidFill>
              </a:rPr>
              <a:t>Sessions (cont’d): </a:t>
            </a:r>
            <a:r>
              <a:rPr lang="en-US" dirty="0"/>
              <a:t>CDS team will be working on a review of the numbers</a:t>
            </a:r>
            <a:endParaRPr dirty="0"/>
          </a:p>
        </p:txBody>
      </p:sp>
      <p:sp>
        <p:nvSpPr>
          <p:cNvPr id="283" name="Google Shape;283;p10"/>
          <p:cNvSpPr txBox="1">
            <a:spLocks noGrp="1"/>
          </p:cNvSpPr>
          <p:nvPr>
            <p:ph type="body" idx="1"/>
          </p:nvPr>
        </p:nvSpPr>
        <p:spPr>
          <a:xfrm>
            <a:off x="628650" y="1811936"/>
            <a:ext cx="7886700" cy="300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CDS is our CPA squad!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They are a nationally recognized accounting and advisory firm; a small team of CPAs help us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They will be reviewing the company’s financial performance and validating EBITDA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We will add their request list into our Q&amp;A doc to help consolidate our open items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They will join our check-in meetings as needed to request data and answer any questions</a:t>
            </a:r>
            <a:endParaRPr dirty="0"/>
          </a:p>
          <a:p>
            <a:pPr marL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CDS Process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After an initial set of information is provided, they will host a session to discuss accounting policies, procedures, and any estimates or assumptions included in EBITDA</a:t>
            </a:r>
            <a:endParaRPr dirty="0"/>
          </a:p>
          <a:p>
            <a:pPr marL="283464" lvl="2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We’ll send you a short-list of items to send ahead of time in our </a:t>
            </a:r>
            <a:r>
              <a:rPr lang="en-US" sz="1400" b="1" i="1" dirty="0"/>
              <a:t>Q&amp;A doc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•"/>
            </a:pPr>
            <a:r>
              <a:rPr lang="en-US" sz="1400" dirty="0"/>
              <a:t>Following the meeting, there will be one-off questions covered in the weekly check-ins</a:t>
            </a:r>
            <a:endParaRPr dirty="0"/>
          </a:p>
        </p:txBody>
      </p:sp>
      <p:sp>
        <p:nvSpPr>
          <p:cNvPr id="284" name="Google Shape;284;p10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0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86" name="Google Shape;286;p10"/>
          <p:cNvSpPr txBox="1"/>
          <p:nvPr/>
        </p:nvSpPr>
        <p:spPr>
          <a:xfrm>
            <a:off x="635228" y="5241463"/>
            <a:ext cx="7886700" cy="645925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do / discuss:</a:t>
            </a:r>
            <a:endParaRPr lang="en-US" dirty="0"/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Schedule time for our 90-minute accounting session (week of September </a:t>
            </a:r>
            <a:r>
              <a:rPr lang="en-US" sz="1600" dirty="0">
                <a:solidFill>
                  <a:schemeClr val="dk2"/>
                </a:solidFill>
              </a:rPr>
              <a:t>15</a:t>
            </a:r>
            <a:r>
              <a:rPr lang="en-US" sz="1600" baseline="30000" dirty="0">
                <a:solidFill>
                  <a:schemeClr val="dk2"/>
                </a:solidFill>
              </a:rPr>
              <a:t>th</a:t>
            </a: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?)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1" dirty="0">
                <a:solidFill>
                  <a:schemeClr val="accent2"/>
                </a:solidFill>
              </a:rPr>
              <a:t>Sessions (cont’d): </a:t>
            </a:r>
            <a:r>
              <a:rPr lang="en-US" dirty="0"/>
              <a:t>Our legal team will be reviewing company records</a:t>
            </a:r>
            <a:endParaRPr dirty="0"/>
          </a:p>
        </p:txBody>
      </p:sp>
      <p:sp>
        <p:nvSpPr>
          <p:cNvPr id="292" name="Google Shape;292;p11"/>
          <p:cNvSpPr txBox="1">
            <a:spLocks noGrp="1"/>
          </p:cNvSpPr>
          <p:nvPr>
            <p:ph type="body" idx="1"/>
          </p:nvPr>
        </p:nvSpPr>
        <p:spPr>
          <a:xfrm>
            <a:off x="628650" y="1811936"/>
            <a:ext cx="7886700" cy="300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Legal diligence overview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We work Corey to help us complete legal diligence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He will be reviewing the company’s records and understanding what legal risks remain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We will add parts of his request list into our Q&amp;A doc to help consolidate our open items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Any legal diligence sessions happen towards the end of the accounting review, after we’ve delivered a draft of the purchase agreement to you</a:t>
            </a:r>
            <a:endParaRPr dirty="0"/>
          </a:p>
          <a:p>
            <a:pPr marL="283464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Our legal process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Corey will be focused on reviewing your contracts and answering the questions in his diligence list around near-term and upcoming litigations or legal issues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</a:pPr>
            <a:r>
              <a:rPr lang="en-US" sz="1400" dirty="0"/>
              <a:t>After we deliver the purchase agreement, we will host a call between attorneys to discuss the responses to the request list; afterwards, we will focus on negotiating the documents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600"/>
              <a:buChar char="•"/>
            </a:pPr>
            <a:r>
              <a:rPr lang="en-US" sz="1400" dirty="0"/>
              <a:t>We may convert our weekly check-ins to meetings discussing open legal items</a:t>
            </a:r>
            <a:endParaRPr dirty="0"/>
          </a:p>
        </p:txBody>
      </p:sp>
      <p:sp>
        <p:nvSpPr>
          <p:cNvPr id="293" name="Google Shape;293;p11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1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628650" y="5216462"/>
            <a:ext cx="7886700" cy="645925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do / discuss:</a:t>
            </a:r>
            <a:endParaRPr dirty="0"/>
          </a:p>
          <a:p>
            <a:pPr marL="2857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Schedule time for legal DD session (week of October 1</a:t>
            </a:r>
            <a:r>
              <a:rPr lang="en-US" sz="1600" baseline="30000" dirty="0">
                <a:solidFill>
                  <a:schemeClr val="dk2"/>
                </a:solidFill>
              </a:rPr>
              <a:t>st</a:t>
            </a:r>
            <a:r>
              <a:rPr lang="en-US" sz="16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?)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All that said…</a:t>
            </a:r>
            <a:endParaRPr/>
          </a:p>
        </p:txBody>
      </p:sp>
      <p:sp>
        <p:nvSpPr>
          <p:cNvPr id="301" name="Google Shape;301;p12"/>
          <p:cNvSpPr txBox="1">
            <a:spLocks noGrp="1"/>
          </p:cNvSpPr>
          <p:nvPr>
            <p:ph type="body" idx="1"/>
          </p:nvPr>
        </p:nvSpPr>
        <p:spPr>
          <a:xfrm>
            <a:off x="628650" y="1690688"/>
            <a:ext cx="7886700" cy="377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We’re flexible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Let’s adjust this process where it makes sense and make sure it works for all of us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We want to get to know you and vice versa (tell us how you prefer to do that!)</a:t>
            </a:r>
            <a:endParaRPr dirty="0"/>
          </a:p>
          <a:p>
            <a:pPr marL="283464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know you have a business to run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It’s in everyone’s best interest for you to be able to keep doing this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We’ll ask questions you may not have answers to; no problem—if it’s necessary, we’ll dig into it later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Wherever we can minimize the burden on you, we will (e.g. cleaning raw data)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… in fact, it’s probably most efficient if you provide us “reviewer” logins to your accounting &amp; payroll software so we can pull data for you (it </a:t>
            </a:r>
            <a:r>
              <a:rPr lang="en-US" i="1" u="sng" dirty="0"/>
              <a:t>saves a lot of time</a:t>
            </a:r>
            <a:r>
              <a:rPr lang="en-US" dirty="0"/>
              <a:t>)</a:t>
            </a:r>
            <a:endParaRPr dirty="0"/>
          </a:p>
          <a:p>
            <a:pPr marL="283464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What’s first?</a:t>
            </a:r>
            <a:endParaRPr dirty="0"/>
          </a:p>
          <a:p>
            <a:pPr marL="283464" lvl="1" indent="-2834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dirty="0"/>
              <a:t>Start populating the data room with lists the accountants &amp; attorneys provided</a:t>
            </a:r>
            <a:endParaRPr dirty="0"/>
          </a:p>
        </p:txBody>
      </p:sp>
      <p:sp>
        <p:nvSpPr>
          <p:cNvPr id="302" name="Google Shape;302;p12"/>
          <p:cNvSpPr txBox="1">
            <a:spLocks noGrp="1"/>
          </p:cNvSpPr>
          <p:nvPr>
            <p:ph type="ftr" idx="11"/>
          </p:nvPr>
        </p:nvSpPr>
        <p:spPr>
          <a:xfrm>
            <a:off x="619125" y="6064850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2"/>
          <p:cNvSpPr txBox="1">
            <a:spLocks noGrp="1"/>
          </p:cNvSpPr>
          <p:nvPr>
            <p:ph type="sldNum" idx="12"/>
          </p:nvPr>
        </p:nvSpPr>
        <p:spPr>
          <a:xfrm>
            <a:off x="5689600" y="6075555"/>
            <a:ext cx="2825750" cy="64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628650" y="5467006"/>
            <a:ext cx="7886700" cy="49197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That’s it! Now that we’re kicked off, we’ll see you at our first check-in meeting!</a:t>
            </a:r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TCC Theme v2">
  <a:themeElements>
    <a:clrScheme name="CAM Collectiv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90033"/>
      </a:accent1>
      <a:accent2>
        <a:srgbClr val="FF0000"/>
      </a:accent2>
      <a:accent3>
        <a:srgbClr val="FFC000"/>
      </a:accent3>
      <a:accent4>
        <a:srgbClr val="54001C"/>
      </a:accent4>
      <a:accent5>
        <a:srgbClr val="8908A6"/>
      </a:accent5>
      <a:accent6>
        <a:srgbClr val="0F996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AEC8FE-754E-4A22-8488-222DE7DB50D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07cedf0-010d-45f1-b4c3-5f3ce9beffd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1790</Words>
  <Application>Microsoft Office PowerPoint</Application>
  <PresentationFormat>On-screen Show (4:3)</PresentationFormat>
  <Paragraphs>220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TCC Theme v2</vt:lpstr>
      <vt:lpstr>PowerPoint Presentation</vt:lpstr>
      <vt:lpstr>We’re excited to be here!</vt:lpstr>
      <vt:lpstr>The Squad: Putting a face to the names of our diligence team and partners</vt:lpstr>
      <vt:lpstr>The Squad (cont’d): We’re here to help and here’s how we typically split work</vt:lpstr>
      <vt:lpstr>Process: We should be in position to close by the end of November</vt:lpstr>
      <vt:lpstr>Process (cont’d): Our meetings will usually follow one of these formats</vt:lpstr>
      <vt:lpstr>Check-ins: We establish a regular cadence to discuss what’s needed</vt:lpstr>
      <vt:lpstr>Check-ins (cont’d): “Q&amp;A Doc” is our go-to source for latest Q’s and to-do’s</vt:lpstr>
      <vt:lpstr>Check-ins (cont’d): Our data room has everything we’re working on</vt:lpstr>
      <vt:lpstr>Diligence Sessions: Our sessions typically fall into three buckets</vt:lpstr>
      <vt:lpstr>Sessions (cont’d): CDS team will be working on a review of the numbers</vt:lpstr>
      <vt:lpstr>Sessions (cont’d): Our legal team will be reviewing company records</vt:lpstr>
      <vt:lpstr>All that said…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Jalen Ross</dc:creator>
  <cp:lastModifiedBy>Frank Moneymaker</cp:lastModifiedBy>
  <cp:revision>69</cp:revision>
  <cp:lastPrinted>2025-05-26T14:00:52Z</cp:lastPrinted>
  <dcterms:created xsi:type="dcterms:W3CDTF">2022-05-27T04:51:24Z</dcterms:created>
  <dcterms:modified xsi:type="dcterms:W3CDTF">2026-09-23T09:02:26Z</dcterms:modified>
</cp:coreProperties>
</file>