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7B0000"/>
            </a:solidFill>
            <a:effectLst/>
          </c:spPr>
          <c:invertIfNegative val="0"/>
          <c:dLbls>
            <c:numFmt formatCode="#,##0.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2406.8</c:v>
                </c:pt>
                <c:pt idx="1">
                  <c:v>2718.6</c:v>
                </c:pt>
                <c:pt idx="2">
                  <c:v>3040.8</c:v>
                </c:pt>
              </c:numCache>
            </c:numRef>
          </c:val>
        </c:ser>
        <c:dLbls>
          <c:numFmt formatCode="#,##0.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C2BAB8"/>
            </a:solidFill>
            <a:prstDash val="solid"/>
            <a:round/>
          </a:ln>
        </c:spPr>
        <c:txPr>
          <a:bodyPr/>
          <a:lstStyle/>
          <a:p>
            <a:pPr>
              <a:defRPr sz="800" b="0" i="0" u="none" strike="noStrike">
                <a:solidFill>
                  <a:srgbClr val="7A706D"/>
                </a:solidFill>
                <a:latin typeface="Arial"/>
              </a:defRPr>
            </a:pPr>
            <a:endParaRPr lang="en-US"/>
          </a:p>
        </c:txPr>
        <c:crossAx val="2094734552"/>
        <c:crosses val="autoZero"/>
        <c:auto val="1"/>
        <c:lblAlgn val="ctr"/>
        <c:noMultiLvlLbl val="1"/>
      </c:catAx>
      <c:valAx>
        <c:axId val="2094734552"/>
        <c:scaling>
          <c:orientation val="minMax"/>
          <c:max val="38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5EDEC"/>
        </a:solidFill>
        <a:ln>
          <a:noFill/>
        </a:ln>
        <a:effectLst/>
      </c:spPr>
    </c:plotArea>
    <c:plotVisOnly val="1"/>
    <c:dispBlanksAs val="span"/>
  </c:chart>
  <c:spPr>
    <a:solidFill>
      <a:srgbClr val="F5EDE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Adj. EBITDA</c:v>
                </c:pt>
              </c:strCache>
            </c:strRef>
          </c:tx>
          <c:spPr>
            <a:solidFill>
              <a:srgbClr val="7B0000"/>
            </a:solidFill>
            <a:effectLst/>
          </c:spPr>
          <c:invertIfNegative val="0"/>
          <c:dLbls>
            <c:numFmt formatCode="#,##0.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263</c:v>
                </c:pt>
                <c:pt idx="1">
                  <c:v>354.2</c:v>
                </c:pt>
                <c:pt idx="2">
                  <c:v>452.9</c:v>
                </c:pt>
              </c:numCache>
            </c:numRef>
          </c:val>
        </c:ser>
        <c:dLbls>
          <c:numFmt formatCode="#,##0.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C2BAB8"/>
            </a:solidFill>
            <a:prstDash val="solid"/>
            <a:round/>
          </a:ln>
        </c:spPr>
        <c:txPr>
          <a:bodyPr/>
          <a:lstStyle/>
          <a:p>
            <a:pPr>
              <a:defRPr sz="800" b="0" i="0" u="none" strike="noStrike">
                <a:solidFill>
                  <a:srgbClr val="7A706D"/>
                </a:solidFill>
                <a:latin typeface="Arial"/>
              </a:defRPr>
            </a:pPr>
            <a:endParaRPr lang="en-US"/>
          </a:p>
        </c:txPr>
        <c:crossAx val="2094734552"/>
        <c:crosses val="autoZero"/>
        <c:auto val="1"/>
        <c:lblAlgn val="ctr"/>
        <c:noMultiLvlLbl val="1"/>
      </c:catAx>
      <c:valAx>
        <c:axId val="2094734552"/>
        <c:scaling>
          <c:orientation val="minMax"/>
          <c:max val="56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5EDEC"/>
        </a:solidFill>
        <a:ln>
          <a:noFill/>
        </a:ln>
        <a:effectLst/>
      </c:spPr>
    </c:plotArea>
    <c:plotVisOnly val="1"/>
    <c:dispBlanksAs val="span"/>
  </c:chart>
  <c:spPr>
    <a:solidFill>
      <a:srgbClr val="F5EDEC"/>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FY2025 revenue</c:v>
                </c:pt>
              </c:strCache>
            </c:strRef>
          </c:tx>
          <c:spPr>
            <a:solidFill>
              <a:srgbClr val="7B0000"/>
            </a:solidFill>
            <a:effectLst/>
          </c:spPr>
          <c:invertIfNegative val="0"/>
          <c:dLbls>
            <c:numFmt formatCode="#,##0.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cat>
            <c:multiLvlStrRef>
              <c:f>Sheet1!$A$2:$A$4</c:f>
              <c:multiLvlStrCache>
                <c:ptCount val="3"/>
                <c:lvl>
                  <c:pt idx="0">
                    <c:v>Residential service and replacement (64%)</c:v>
                  </c:pt>
                  <c:pt idx="1">
                    <c:v>Commercial (27%)</c:v>
                  </c:pt>
                  <c:pt idx="2">
                    <c:v>Maintenance agreements (9%)</c:v>
                  </c:pt>
                </c:lvl>
              </c:multiLvlStrCache>
            </c:multiLvlStrRef>
          </c:cat>
          <c:val>
            <c:numRef>
              <c:f>Sheet1!$B$2:$B$4</c:f>
              <c:numCache>
                <c:formatCode>General</c:formatCode>
                <c:ptCount val="3"/>
                <c:pt idx="0">
                  <c:v>1946.1</c:v>
                </c:pt>
                <c:pt idx="1">
                  <c:v>821</c:v>
                </c:pt>
                <c:pt idx="2">
                  <c:v>273.7</c:v>
                </c:pt>
              </c:numCache>
            </c:numRef>
          </c:val>
        </c:ser>
        <c:dLbls>
          <c:numFmt formatCode="#,##0.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12700" cap="flat">
            <a:solidFill>
              <a:srgbClr val="C2BAB8"/>
            </a:solidFill>
            <a:prstDash val="solid"/>
            <a:round/>
          </a:ln>
        </c:spPr>
        <c:txPr>
          <a:bodyPr/>
          <a:lstStyle/>
          <a:p>
            <a:pPr>
              <a:defRPr sz="800" b="0" i="0" u="none" strike="noStrike">
                <a:solidFill>
                  <a:srgbClr val="2C2523"/>
                </a:solidFill>
                <a:latin typeface="Arial"/>
              </a:defRPr>
            </a:pPr>
            <a:endParaRPr lang="en-US"/>
          </a:p>
        </c:txPr>
        <c:crossAx val="2094734552"/>
        <c:crosses val="autoZero"/>
        <c:auto val="1"/>
        <c:lblAlgn val="ctr"/>
        <c:noMultiLvlLbl val="1"/>
      </c:catAx>
      <c:valAx>
        <c:axId val="2094734552"/>
        <c:scaling>
          <c:orientation val="minMax"/>
          <c:max val="25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5EDEC"/>
        </a:solidFill>
        <a:ln>
          <a:noFill/>
        </a:ln>
        <a:effectLst/>
      </c:spPr>
    </c:plotArea>
    <c:plotVisOnly val="1"/>
    <c:dispBlanksAs val="span"/>
  </c:chart>
  <c:spPr>
    <a:solidFill>
      <a:srgbClr val="F5EDEC"/>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3-1.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B0000"/>
        </a:solidFill>
      </p:bgPr>
    </p:bg>
    <p:spTree>
      <p:nvGrpSpPr>
        <p:cNvPr id="1" name=""/>
        <p:cNvGrpSpPr/>
        <p:nvPr/>
      </p:nvGrpSpPr>
      <p:grpSpPr>
        <a:xfrm>
          <a:off x="0" y="0"/>
          <a:ext cx="0" cy="0"/>
          <a:chOff x="0" y="0"/>
          <a:chExt cx="0" cy="0"/>
        </a:xfrm>
      </p:grpSpPr>
      <p:pic>
        <p:nvPicPr>
          <p:cNvPr id="2" name="Image 0" descr="/home/user/project-avengers/amb-material-bot/design/directions/b-editorial-boutique/amb-logo-white-tight.png">    </p:cNvPr>
          <p:cNvPicPr>
            <a:picLocks noChangeAspect="1"/>
          </p:cNvPicPr>
          <p:nvPr/>
        </p:nvPicPr>
        <p:blipFill>
          <a:blip r:embed="rId1"/>
          <a:stretch>
            <a:fillRect/>
          </a:stretch>
        </p:blipFill>
        <p:spPr>
          <a:xfrm>
            <a:off x="640080" y="566928"/>
            <a:ext cx="2194560" cy="714234"/>
          </a:xfrm>
          <a:prstGeom prst="rect">
            <a:avLst/>
          </a:prstGeom>
        </p:spPr>
      </p:pic>
      <p:sp>
        <p:nvSpPr>
          <p:cNvPr id="3" name="Text 0"/>
          <p:cNvSpPr txBox="1"/>
          <p:nvPr/>
        </p:nvSpPr>
        <p:spPr>
          <a:xfrm>
            <a:off x="640080" y="2697480"/>
            <a:ext cx="9601200" cy="868680"/>
          </a:xfrm>
          <a:prstGeom prst="rect">
            <a:avLst/>
          </a:prstGeom>
          <a:noFill/>
          <a:ln/>
        </p:spPr>
        <p:txBody>
          <a:bodyPr wrap="square" lIns="0" tIns="0" rIns="0" bIns="0" rtlCol="0" anchor="b"/>
          <a:lstStyle/>
          <a:p>
            <a:pPr indent="0" marL="0">
              <a:buNone/>
            </a:pPr>
            <a:r>
              <a:rPr lang="en-US" sz="4400" dirty="0">
                <a:solidFill>
                  <a:srgbClr val="FFFFFF"/>
                </a:solidFill>
                <a:latin typeface="Georgia" pitchFamily="34" charset="0"/>
                <a:ea typeface="Georgia" pitchFamily="34" charset="-122"/>
                <a:cs typeface="Georgia" pitchFamily="34" charset="-120"/>
              </a:rPr>
              <a:t>Project Ridgeline</a:t>
            </a:r>
            <a:endParaRPr lang="en-US" sz="4400" dirty="0"/>
          </a:p>
        </p:txBody>
      </p:sp>
      <p:sp>
        <p:nvSpPr>
          <p:cNvPr id="4" name="Shape 1"/>
          <p:cNvSpPr/>
          <p:nvPr/>
        </p:nvSpPr>
        <p:spPr>
          <a:xfrm>
            <a:off x="658368" y="3703320"/>
            <a:ext cx="1828800" cy="0"/>
          </a:xfrm>
          <a:prstGeom prst="line">
            <a:avLst/>
          </a:prstGeom>
          <a:noFill/>
          <a:ln w="12700">
            <a:solidFill>
              <a:srgbClr val="C9A227"/>
            </a:solidFill>
            <a:prstDash val="solid"/>
          </a:ln>
        </p:spPr>
      </p:sp>
      <p:sp>
        <p:nvSpPr>
          <p:cNvPr id="5" name="Text 2"/>
          <p:cNvSpPr txBox="1"/>
          <p:nvPr/>
        </p:nvSpPr>
        <p:spPr>
          <a:xfrm>
            <a:off x="640080" y="3822192"/>
            <a:ext cx="9144000" cy="329184"/>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Confidential Information Memorandum</a:t>
            </a:r>
            <a:endParaRPr lang="en-US" sz="1600" dirty="0"/>
          </a:p>
        </p:txBody>
      </p:sp>
      <p:sp>
        <p:nvSpPr>
          <p:cNvPr id="6" name="Text 3"/>
          <p:cNvSpPr txBox="1"/>
          <p:nvPr/>
        </p:nvSpPr>
        <p:spPr>
          <a:xfrm>
            <a:off x="640080" y="4187952"/>
            <a:ext cx="9144000" cy="237744"/>
          </a:xfrm>
          <a:prstGeom prst="rect">
            <a:avLst/>
          </a:prstGeom>
          <a:noFill/>
          <a:ln/>
        </p:spPr>
        <p:txBody>
          <a:bodyPr wrap="square" lIns="0" tIns="0" rIns="0" bIns="0" rtlCol="0" anchor="ctr"/>
          <a:lstStyle/>
          <a:p>
            <a:pPr indent="0" marL="0">
              <a:buNone/>
            </a:pPr>
            <a:r>
              <a:rPr lang="en-US" sz="1100" dirty="0">
                <a:solidFill>
                  <a:srgbClr val="E9D3D5"/>
                </a:solidFill>
                <a:latin typeface="Arial" pitchFamily="34" charset="0"/>
                <a:ea typeface="Arial" pitchFamily="34" charset="-122"/>
                <a:cs typeface="Arial" pitchFamily="34" charset="-120"/>
              </a:rPr>
              <a:t>Residential and commercial HVAC and plumbing services  |  Columbus, Ohio</a:t>
            </a:r>
            <a:endParaRPr lang="en-US" sz="1100" dirty="0"/>
          </a:p>
        </p:txBody>
      </p:sp>
      <p:sp>
        <p:nvSpPr>
          <p:cNvPr id="7" name="Text 4"/>
          <p:cNvSpPr txBox="1"/>
          <p:nvPr/>
        </p:nvSpPr>
        <p:spPr>
          <a:xfrm>
            <a:off x="640080" y="4443984"/>
            <a:ext cx="9144000" cy="237744"/>
          </a:xfrm>
          <a:prstGeom prst="rect">
            <a:avLst/>
          </a:prstGeom>
          <a:noFill/>
          <a:ln/>
        </p:spPr>
        <p:txBody>
          <a:bodyPr wrap="square" lIns="0" tIns="0" rIns="0" bIns="0" rtlCol="0" anchor="ctr"/>
          <a:lstStyle/>
          <a:p>
            <a:pPr indent="0" marL="0">
              <a:buNone/>
            </a:pPr>
            <a:r>
              <a:rPr lang="en-US" sz="1100" dirty="0">
                <a:solidFill>
                  <a:srgbClr val="E9D3D5"/>
                </a:solidFill>
                <a:latin typeface="Arial" pitchFamily="34" charset="0"/>
                <a:ea typeface="Arial" pitchFamily="34" charset="-122"/>
                <a:cs typeface="Arial" pitchFamily="34" charset="-120"/>
              </a:rPr>
              <a:t>September 2026</a:t>
            </a:r>
            <a:endParaRPr lang="en-US" sz="1100" dirty="0"/>
          </a:p>
        </p:txBody>
      </p:sp>
      <p:sp>
        <p:nvSpPr>
          <p:cNvPr id="8" name="Text 5"/>
          <p:cNvSpPr txBox="1"/>
          <p:nvPr/>
        </p:nvSpPr>
        <p:spPr>
          <a:xfrm>
            <a:off x="640080" y="6144768"/>
            <a:ext cx="10515600" cy="274320"/>
          </a:xfrm>
          <a:prstGeom prst="rect">
            <a:avLst/>
          </a:prstGeom>
          <a:noFill/>
          <a:ln/>
        </p:spPr>
        <p:txBody>
          <a:bodyPr wrap="square" lIns="0" tIns="0" rIns="0" bIns="0" rtlCol="0" anchor="ctr"/>
          <a:lstStyle/>
          <a:p>
            <a:pPr indent="0" marL="0">
              <a:buNone/>
            </a:pPr>
            <a:r>
              <a:rPr lang="en-US" sz="800" dirty="0">
                <a:solidFill>
                  <a:srgbClr val="E9D3D5"/>
                </a:solidFill>
                <a:latin typeface="Arial" pitchFamily="34" charset="0"/>
                <a:ea typeface="Arial" pitchFamily="34" charset="-122"/>
                <a:cs typeface="Arial" pitchFamily="34" charset="-120"/>
              </a:rPr>
              <a:t>Strictly private and confidential. Prepared by AMB Advisory Services LLC for recipients who have executed a confidentiality agreement with AMB Advisory.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82880"/>
            <a:ext cx="11368735" cy="768096"/>
          </a:xfrm>
          <a:prstGeom prst="rect">
            <a:avLst/>
          </a:prstGeom>
          <a:noFill/>
          <a:ln/>
        </p:spPr>
        <p:txBody>
          <a:bodyPr wrap="square" lIns="0" tIns="0" rIns="0" bIns="0" rtlCol="0" anchor="b"/>
          <a:lstStyle/>
          <a:p>
            <a:pPr indent="0" marL="0">
              <a:lnSpc>
                <a:spcPct val="100000"/>
              </a:lnSpc>
              <a:buNone/>
            </a:pPr>
            <a:r>
              <a:rPr lang="en-US" sz="2200" b="1" dirty="0">
                <a:solidFill>
                  <a:srgbClr val="7B0000"/>
                </a:solidFill>
                <a:latin typeface="Georgia" pitchFamily="34" charset="0"/>
                <a:ea typeface="Georgia" pitchFamily="34" charset="-122"/>
                <a:cs typeface="Georgia" pitchFamily="34" charset="-120"/>
              </a:rPr>
              <a:t>Ridgeline grew revenue at a 12.4% CAGR to $3.04M and Adj. EBITDA to $453K (14.9%) in FY2025</a:t>
            </a:r>
            <a:endParaRPr lang="en-US" sz="2200" dirty="0"/>
          </a:p>
        </p:txBody>
      </p:sp>
      <p:sp>
        <p:nvSpPr>
          <p:cNvPr id="3" name="Text 1"/>
          <p:cNvSpPr txBox="1"/>
          <p:nvPr/>
        </p:nvSpPr>
        <p:spPr>
          <a:xfrm>
            <a:off x="411480" y="987552"/>
            <a:ext cx="1463040" cy="237744"/>
          </a:xfrm>
          <a:prstGeom prst="rect">
            <a:avLst/>
          </a:prstGeom>
          <a:noFill/>
          <a:ln/>
        </p:spPr>
        <p:txBody>
          <a:bodyPr wrap="square" lIns="0" tIns="0" rIns="0" bIns="0" rtlCol="0" anchor="ctr"/>
          <a:lstStyle/>
          <a:p>
            <a:pPr indent="0" marL="0">
              <a:lnSpc>
                <a:spcPct val="110000"/>
              </a:lnSpc>
              <a:buNone/>
            </a:pPr>
            <a:r>
              <a:rPr lang="en-US" sz="800" b="1" dirty="0">
                <a:solidFill>
                  <a:srgbClr val="7B0000"/>
                </a:solidFill>
                <a:latin typeface="Arial" pitchFamily="34" charset="0"/>
                <a:ea typeface="Arial" pitchFamily="34" charset="-122"/>
                <a:cs typeface="Arial" pitchFamily="34" charset="-120"/>
              </a:rPr>
              <a:t>Executive summary</a:t>
            </a:r>
            <a:endParaRPr lang="en-US" sz="800" dirty="0"/>
          </a:p>
          <a:p>
            <a:pPr indent="0" marL="0">
              <a:lnSpc>
                <a:spcPct val="110000"/>
              </a:lnSpc>
              <a:buNone/>
            </a:pPr>
            <a:r>
              <a:rPr lang="en-US" sz="800" dirty="0">
                <a:solidFill>
                  <a:srgbClr val="7A706D"/>
                </a:solidFill>
                <a:latin typeface="Arial" pitchFamily="34" charset="0"/>
                <a:ea typeface="Arial" pitchFamily="34" charset="-122"/>
                <a:cs typeface="Arial" pitchFamily="34" charset="-120"/>
              </a:rPr>
              <a:t>Company at a glance</a:t>
            </a:r>
            <a:endParaRPr lang="en-US" sz="800" dirty="0"/>
          </a:p>
        </p:txBody>
      </p:sp>
      <p:sp>
        <p:nvSpPr>
          <p:cNvPr id="4" name="Text 2"/>
          <p:cNvSpPr txBox="1"/>
          <p:nvPr/>
        </p:nvSpPr>
        <p:spPr>
          <a:xfrm>
            <a:off x="2057400" y="987552"/>
            <a:ext cx="9722815" cy="237744"/>
          </a:xfrm>
          <a:prstGeom prst="rect">
            <a:avLst/>
          </a:prstGeom>
          <a:noFill/>
          <a:ln/>
        </p:spPr>
        <p:txBody>
          <a:bodyPr wrap="square" lIns="0" tIns="0" rIns="0" bIns="0" rtlCol="0" anchor="ctr"/>
          <a:lstStyle/>
          <a:p>
            <a:pPr indent="0" marL="0">
              <a:buNone/>
            </a:pPr>
            <a:r>
              <a:rPr lang="en-US" sz="1150" dirty="0">
                <a:solidFill>
                  <a:srgbClr val="7B0000"/>
                </a:solidFill>
                <a:latin typeface="Georgia" pitchFamily="34" charset="0"/>
                <a:ea typeface="Georgia" pitchFamily="34" charset="-122"/>
                <a:cs typeface="Georgia" pitchFamily="34" charset="-120"/>
              </a:rPr>
              <a:t>A 24-person HVAC and plumbing contractor in Columbus, Ohio, offered as an asset sale by a retiring founder.</a:t>
            </a:r>
            <a:endParaRPr lang="en-US" sz="1150" dirty="0"/>
          </a:p>
        </p:txBody>
      </p:sp>
      <p:sp>
        <p:nvSpPr>
          <p:cNvPr id="5" name="Shape 3"/>
          <p:cNvSpPr/>
          <p:nvPr/>
        </p:nvSpPr>
        <p:spPr>
          <a:xfrm>
            <a:off x="411480" y="1280160"/>
            <a:ext cx="11368735" cy="0"/>
          </a:xfrm>
          <a:prstGeom prst="line">
            <a:avLst/>
          </a:prstGeom>
          <a:noFill/>
          <a:ln w="9525">
            <a:solidFill>
              <a:srgbClr val="7B0000"/>
            </a:solidFill>
            <a:prstDash val="solid"/>
          </a:ln>
        </p:spPr>
      </p:sp>
      <p:sp>
        <p:nvSpPr>
          <p:cNvPr id="6" name="Shape 4"/>
          <p:cNvSpPr/>
          <p:nvPr/>
        </p:nvSpPr>
        <p:spPr>
          <a:xfrm>
            <a:off x="1965960" y="1280160"/>
            <a:ext cx="0" cy="5065776"/>
          </a:xfrm>
          <a:prstGeom prst="line">
            <a:avLst/>
          </a:prstGeom>
          <a:noFill/>
          <a:ln w="9525">
            <a:solidFill>
              <a:srgbClr val="7B0000"/>
            </a:solidFill>
            <a:prstDash val="solid"/>
          </a:ln>
        </p:spPr>
      </p:sp>
      <p:sp>
        <p:nvSpPr>
          <p:cNvPr id="7" name="Text 5"/>
          <p:cNvSpPr txBox="1"/>
          <p:nvPr/>
        </p:nvSpPr>
        <p:spPr>
          <a:xfrm>
            <a:off x="411480" y="3931920"/>
            <a:ext cx="1463040" cy="2414016"/>
          </a:xfrm>
          <a:prstGeom prst="rect">
            <a:avLst/>
          </a:prstGeom>
          <a:noFill/>
          <a:ln/>
        </p:spPr>
        <p:txBody>
          <a:bodyPr wrap="square" lIns="0" tIns="0" rIns="0" bIns="0" rtlCol="0" anchor="b"/>
          <a:lstStyle/>
          <a:p>
            <a:pPr indent="0" marL="0">
              <a:lnSpc>
                <a:spcPct val="100000"/>
              </a:lnSpc>
              <a:spcAft>
                <a:spcPts val="300"/>
              </a:spcAft>
              <a:buNone/>
            </a:pPr>
            <a:r>
              <a:rPr lang="en-US" sz="700" dirty="0">
                <a:solidFill>
                  <a:srgbClr val="7A706D"/>
                </a:solidFill>
                <a:latin typeface="Arial" pitchFamily="34" charset="0"/>
                <a:ea typeface="Arial" pitchFamily="34" charset="-122"/>
                <a:cs typeface="Arial" pitchFamily="34" charset="-120"/>
              </a:rPr>
              <a:t>(1) Adj. EBITDA and SDE are non-GAAP measures; the reconciliation to Reported EBITDA is on page 4.</a:t>
            </a:r>
            <a:endParaRPr lang="en-US" sz="700" dirty="0"/>
          </a:p>
          <a:p>
            <a:pPr indent="0" marL="0">
              <a:lnSpc>
                <a:spcPct val="100000"/>
              </a:lnSpc>
              <a:spcAft>
                <a:spcPts val="300"/>
              </a:spcAft>
              <a:buNone/>
            </a:pPr>
            <a:r>
              <a:rPr lang="en-US" sz="700" dirty="0">
                <a:solidFill>
                  <a:srgbClr val="7A706D"/>
                </a:solidFill>
                <a:latin typeface="Arial" pitchFamily="34" charset="0"/>
                <a:ea typeface="Arial" pitchFamily="34" charset="-122"/>
                <a:cs typeface="Arial" pitchFamily="34" charset="-120"/>
              </a:rPr>
              <a:t>(2) Per management; not independently verified.</a:t>
            </a:r>
            <a:endParaRPr lang="en-US" sz="700" dirty="0"/>
          </a:p>
        </p:txBody>
      </p:sp>
      <p:sp>
        <p:nvSpPr>
          <p:cNvPr id="8" name="Text 6"/>
          <p:cNvSpPr txBox="1"/>
          <p:nvPr/>
        </p:nvSpPr>
        <p:spPr>
          <a:xfrm>
            <a:off x="2057400" y="5998464"/>
            <a:ext cx="9722815" cy="347472"/>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ServiceTitan membership and customer reports; Management;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 Fiscal year ends December 31.</a:t>
            </a:r>
            <a:endParaRPr lang="en-US" sz="700" dirty="0"/>
          </a:p>
        </p:txBody>
      </p:sp>
      <p:sp>
        <p:nvSpPr>
          <p:cNvPr id="9" name="Shape 7"/>
          <p:cNvSpPr/>
          <p:nvPr/>
        </p:nvSpPr>
        <p:spPr>
          <a:xfrm>
            <a:off x="411480" y="6400800"/>
            <a:ext cx="11368735" cy="0"/>
          </a:xfrm>
          <a:prstGeom prst="line">
            <a:avLst/>
          </a:prstGeom>
          <a:noFill/>
          <a:ln w="6350">
            <a:solidFill>
              <a:srgbClr val="C2BAB8"/>
            </a:solidFill>
            <a:prstDash val="solid"/>
          </a:ln>
        </p:spPr>
      </p:sp>
      <p:sp>
        <p:nvSpPr>
          <p:cNvPr id="10" name="Text 8"/>
          <p:cNvSpPr txBox="1"/>
          <p:nvPr/>
        </p:nvSpPr>
        <p:spPr>
          <a:xfrm>
            <a:off x="411480" y="6455664"/>
            <a:ext cx="36576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endParaRPr lang="en-US" sz="750" dirty="0"/>
          </a:p>
        </p:txBody>
      </p:sp>
      <p:sp>
        <p:nvSpPr>
          <p:cNvPr id="11" name="Text 9"/>
          <p:cNvSpPr txBox="1"/>
          <p:nvPr/>
        </p:nvSpPr>
        <p:spPr>
          <a:xfrm>
            <a:off x="4267048" y="6455664"/>
            <a:ext cx="3657600"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12" name="Image 0" descr="/home/user/project-avengers/amb-material-bot/design/directions/b-editorial-boutique/amb-logo-tight.png">    </p:cNvPr>
          <p:cNvPicPr>
            <a:picLocks noChangeAspect="1"/>
          </p:cNvPicPr>
          <p:nvPr/>
        </p:nvPicPr>
        <p:blipFill>
          <a:blip r:embed="rId1"/>
          <a:stretch>
            <a:fillRect/>
          </a:stretch>
        </p:blipFill>
        <p:spPr>
          <a:xfrm>
            <a:off x="10629010" y="6464808"/>
            <a:ext cx="618110" cy="201168"/>
          </a:xfrm>
          <a:prstGeom prst="rect">
            <a:avLst/>
          </a:prstGeom>
        </p:spPr>
      </p:pic>
      <p:sp>
        <p:nvSpPr>
          <p:cNvPr id="13" name="Text 10"/>
          <p:cNvSpPr txBox="1"/>
          <p:nvPr/>
        </p:nvSpPr>
        <p:spPr>
          <a:xfrm>
            <a:off x="11368735" y="6455664"/>
            <a:ext cx="411480"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p>
        </p:txBody>
      </p:sp>
      <p:sp>
        <p:nvSpPr>
          <p:cNvPr id="14" name="Text 11"/>
          <p:cNvSpPr txBox="1"/>
          <p:nvPr/>
        </p:nvSpPr>
        <p:spPr>
          <a:xfrm>
            <a:off x="2057400" y="1426464"/>
            <a:ext cx="4617720" cy="4517136"/>
          </a:xfrm>
          <a:prstGeom prst="rect">
            <a:avLst/>
          </a:prstGeom>
          <a:noFill/>
          <a:ln/>
        </p:spPr>
        <p:txBody>
          <a:bodyPr wrap="square" lIns="0" tIns="0" rIns="0" bIns="0" rtlCol="0" anchor="t"/>
          <a:lstStyle/>
          <a:p>
            <a:pPr indent="0" marL="0">
              <a:lnSpc>
                <a:spcPct val="110000"/>
              </a:lnSpc>
              <a:spcAft>
                <a:spcPts val="600"/>
              </a:spcAft>
              <a:buNone/>
            </a:pPr>
            <a:r>
              <a:rPr lang="en-US" sz="950" b="1" dirty="0">
                <a:solidFill>
                  <a:srgbClr val="2C2523"/>
                </a:solidFill>
                <a:latin typeface="Arial" pitchFamily="34" charset="0"/>
                <a:ea typeface="Arial" pitchFamily="34" charset="-122"/>
                <a:cs typeface="Arial" pitchFamily="34" charset="-120"/>
              </a:rPr>
              <a:t>Overview. </a:t>
            </a:r>
            <a:pPr indent="0" marL="0">
              <a:lnSpc>
                <a:spcPct val="110000"/>
              </a:lnSpc>
              <a:buNone/>
            </a:pPr>
            <a:r>
              <a:rPr lang="en-US" sz="950" dirty="0">
                <a:solidFill>
                  <a:srgbClr val="2C2523"/>
                </a:solidFill>
                <a:latin typeface="Arial" pitchFamily="34" charset="0"/>
                <a:ea typeface="Arial" pitchFamily="34" charset="-122"/>
                <a:cs typeface="Arial" pitchFamily="34" charset="-120"/>
              </a:rPr>
              <a:t>Ridgeline Comfort Services LLC (“Ridgeline” or the “Company”) is a residential and light-commercial HVAC and plumbing contractor based in Columbus, Ohio, serving Franklin, Delaware and Licking counties within about a 35-mile radius. The Company was founded in 2009 by Mark Delaney after 12 years as a lead technician at a regional HVAC contractor; plumbing service was added in 2019. It employs 24 people: 14 service technicians, a 4-person install crew, 3 customer service and dispatch staff, an operations manager, a bookkeeper and the owner. Ridgeline holds 1,450 active maintenance-agreement members and serves commercial accounts that include property managers, small office buildings and four restaurant groups; the largest customer is about 4% of revenue. FY2025 revenue of $3.04M was 64% residential service and replacement, 27% commercial and 9% maintenance agreements. The Company is an S corporation wholly owned by Mr. Delaney, who is retiring at 61.</a:t>
            </a:r>
            <a:endParaRPr lang="en-US" sz="950" dirty="0"/>
          </a:p>
          <a:p>
            <a:pPr indent="0" marL="0">
              <a:lnSpc>
                <a:spcPct val="110000"/>
              </a:lnSpc>
              <a:spcAft>
                <a:spcPts val="600"/>
              </a:spcAft>
              <a:buNone/>
            </a:pPr>
            <a:r>
              <a:rPr lang="en-US" sz="950" b="1" dirty="0">
                <a:solidFill>
                  <a:srgbClr val="2C2523"/>
                </a:solidFill>
                <a:latin typeface="Arial" pitchFamily="34" charset="0"/>
                <a:ea typeface="Arial" pitchFamily="34" charset="-122"/>
                <a:cs typeface="Arial" pitchFamily="34" charset="-120"/>
              </a:rPr>
              <a:t>Earnings. </a:t>
            </a:r>
            <a:pPr indent="0" marL="0">
              <a:lnSpc>
                <a:spcPct val="110000"/>
              </a:lnSpc>
              <a:buNone/>
            </a:pPr>
            <a:r>
              <a:rPr lang="en-US" sz="950" dirty="0">
                <a:solidFill>
                  <a:srgbClr val="2C2523"/>
                </a:solidFill>
                <a:latin typeface="Arial" pitchFamily="34" charset="0"/>
                <a:ea typeface="Arial" pitchFamily="34" charset="-122"/>
                <a:cs typeface="Arial" pitchFamily="34" charset="-120"/>
              </a:rPr>
              <a:t>Reported EBITDA of $316.4K in FY2025 understates the earnings available to a buyer because the owner was paid $200K against a $95K replacement salary and the books carry $31.5K of personal and nonrecurring expense. Adj. EBITDA was $452.9K (14.9% margin) and SDE $547.9K; the schedule on page 4 lists each adjustment with its evidence (1).</a:t>
            </a:r>
            <a:endParaRPr lang="en-US" sz="950" dirty="0"/>
          </a:p>
          <a:p>
            <a:pPr indent="0" marL="0">
              <a:lnSpc>
                <a:spcPct val="110000"/>
              </a:lnSpc>
              <a:spcAft>
                <a:spcPts val="600"/>
              </a:spcAft>
              <a:buNone/>
            </a:pPr>
            <a:r>
              <a:rPr lang="en-US" sz="950" b="1" dirty="0">
                <a:solidFill>
                  <a:srgbClr val="2C2523"/>
                </a:solidFill>
                <a:latin typeface="Arial" pitchFamily="34" charset="0"/>
                <a:ea typeface="Arial" pitchFamily="34" charset="-122"/>
                <a:cs typeface="Arial" pitchFamily="34" charset="-120"/>
              </a:rPr>
              <a:t>Transaction. </a:t>
            </a:r>
            <a:pPr indent="0" marL="0">
              <a:lnSpc>
                <a:spcPct val="110000"/>
              </a:lnSpc>
              <a:buNone/>
            </a:pPr>
            <a:r>
              <a:rPr lang="en-US" sz="950" dirty="0">
                <a:solidFill>
                  <a:srgbClr val="2C2523"/>
                </a:solidFill>
                <a:latin typeface="Arial" pitchFamily="34" charset="0"/>
                <a:ea typeface="Arial" pitchFamily="34" charset="-122"/>
                <a:cs typeface="Arial" pitchFamily="34" charset="-120"/>
              </a:rPr>
              <a:t>The owner is offering substantially all of the operating assets of Ridgeline, free and clear of liens; the Seller retains cash, receivables and payables. The Ridgeline name, the 24 employees and the Maple Ave lease (through 2029 with a 5-year option) transfer with the business. The owner has offered up to 12 months of full-time transition, including introductions to each commercial account, and the operations manager (11 years) is expected to remain (2). The Seller is targeting a closing within 12 months.</a:t>
            </a:r>
            <a:endParaRPr lang="en-US" sz="950" dirty="0"/>
          </a:p>
        </p:txBody>
      </p:sp>
      <p:sp>
        <p:nvSpPr>
          <p:cNvPr id="15" name="Shape 12"/>
          <p:cNvSpPr/>
          <p:nvPr/>
        </p:nvSpPr>
        <p:spPr>
          <a:xfrm>
            <a:off x="6839712" y="1408176"/>
            <a:ext cx="4940503" cy="4535424"/>
          </a:xfrm>
          <a:prstGeom prst="rect">
            <a:avLst/>
          </a:prstGeom>
          <a:solidFill>
            <a:srgbClr val="F5EDEC"/>
          </a:solidFill>
          <a:ln w="12700">
            <a:solidFill>
              <a:srgbClr val="F5EDEC"/>
            </a:solidFill>
            <a:prstDash val="solid"/>
          </a:ln>
        </p:spPr>
      </p:sp>
      <p:sp>
        <p:nvSpPr>
          <p:cNvPr id="16" name="Text 13"/>
          <p:cNvSpPr txBox="1"/>
          <p:nvPr/>
        </p:nvSpPr>
        <p:spPr>
          <a:xfrm>
            <a:off x="6949440" y="1481328"/>
            <a:ext cx="4721047" cy="201168"/>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Quick Stats: financial</a:t>
            </a:r>
            <a:pPr indent="0" marL="0">
              <a:buNone/>
            </a:pP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7" name="Shape 14"/>
          <p:cNvSpPr/>
          <p:nvPr/>
        </p:nvSpPr>
        <p:spPr>
          <a:xfrm>
            <a:off x="6949440" y="1709928"/>
            <a:ext cx="4721047" cy="0"/>
          </a:xfrm>
          <a:prstGeom prst="line">
            <a:avLst/>
          </a:prstGeom>
          <a:noFill/>
          <a:ln w="6350">
            <a:solidFill>
              <a:srgbClr val="2C2523"/>
            </a:solidFill>
            <a:prstDash val="solid"/>
          </a:ln>
        </p:spPr>
      </p:sp>
      <p:sp>
        <p:nvSpPr>
          <p:cNvPr id="18" name="Text 15"/>
          <p:cNvSpPr txBox="1"/>
          <p:nvPr/>
        </p:nvSpPr>
        <p:spPr>
          <a:xfrm>
            <a:off x="411480" y="1499616"/>
            <a:ext cx="1463040" cy="329184"/>
          </a:xfrm>
          <a:prstGeom prst="rect">
            <a:avLst/>
          </a:prstGeom>
          <a:noFill/>
          <a:ln/>
        </p:spPr>
        <p:txBody>
          <a:bodyPr wrap="square" lIns="0" tIns="0" rIns="0" bIns="0" rtlCol="0" anchor="t"/>
          <a:lstStyle/>
          <a:p>
            <a:pPr indent="0" marL="0">
              <a:lnSpc>
                <a:spcPct val="110000"/>
              </a:lnSpc>
              <a:buNone/>
            </a:pPr>
            <a:r>
              <a:rPr lang="en-US" sz="750" b="1" dirty="0">
                <a:solidFill>
                  <a:srgbClr val="2C2523"/>
                </a:solidFill>
                <a:latin typeface="Arial" pitchFamily="34" charset="0"/>
                <a:ea typeface="Arial" pitchFamily="34" charset="-122"/>
                <a:cs typeface="Arial" pitchFamily="34" charset="-120"/>
              </a:rPr>
              <a:t>Exhibit 1</a:t>
            </a:r>
            <a:endParaRPr lang="en-US" sz="750" dirty="0"/>
          </a:p>
          <a:p>
            <a:pPr indent="0" marL="0">
              <a:lnSpc>
                <a:spcPct val="110000"/>
              </a:lnSpc>
              <a:buNone/>
            </a:pPr>
            <a:r>
              <a:rPr lang="en-US" sz="750" dirty="0">
                <a:solidFill>
                  <a:srgbClr val="7A706D"/>
                </a:solidFill>
                <a:latin typeface="Arial" pitchFamily="34" charset="0"/>
                <a:ea typeface="Arial" pitchFamily="34" charset="-122"/>
                <a:cs typeface="Arial" pitchFamily="34" charset="-120"/>
              </a:rPr>
              <a:t>Fiscal years to December 31</a:t>
            </a:r>
            <a:endParaRPr lang="en-US" sz="7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949440" y="1783080"/>
          <a:ext cx="4721047" cy="914400"/>
        </p:xfrm>
        <a:graphic>
          <a:graphicData uri="http://schemas.openxmlformats.org/drawingml/2006/table">
            <a:tbl>
              <a:tblPr/>
              <a:tblGrid>
                <a:gridCol w="1794967"/>
                <a:gridCol w="713232"/>
                <a:gridCol w="713232"/>
                <a:gridCol w="713232"/>
                <a:gridCol w="73152"/>
                <a:gridCol w="713232"/>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5EDEC"/>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CAGR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Revenue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$2,406.8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$2,718.6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$3,040.8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5EDEC"/>
                    </a:solidFill>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 growth</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5EDEC"/>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Gross margin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5EDEC"/>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$212.2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$316.4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5EDEC"/>
                    </a:solidFill>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96596">
                <a:tc>
                  <a:txBody>
                    <a:bodyPr/>
                    <a:lstStyle/>
                    <a:p>
                      <a:pPr algn="l" indent="0" marL="0">
                        <a:buNone/>
                      </a:pPr>
                      <a:r>
                        <a:rPr lang="en-US" sz="850" b="1" dirty="0">
                          <a:solidFill>
                            <a:srgbClr val="FFFFFF"/>
                          </a:solidFill>
                          <a:latin typeface="Arial" pitchFamily="34" charset="0"/>
                          <a:ea typeface="Arial" pitchFamily="34" charset="-122"/>
                          <a:cs typeface="Arial" pitchFamily="34" charset="-120"/>
                        </a:rPr>
                        <a:t>Adj. EBITDA (1)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$263.0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$354.2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$452.9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5EDEC"/>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31.2%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 margin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5EDEC"/>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9659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SDE (1)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$358.0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$449.2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$547.9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5EDEC"/>
                    </a:solidFill>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23.7%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20" name="Text 16"/>
          <p:cNvSpPr txBox="1"/>
          <p:nvPr/>
        </p:nvSpPr>
        <p:spPr>
          <a:xfrm>
            <a:off x="6949440" y="3497580"/>
            <a:ext cx="4721047" cy="201168"/>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Quick Stats: operating</a:t>
            </a:r>
            <a:pPr indent="0" marL="0">
              <a:buNone/>
            </a:pPr>
            <a:r>
              <a:rPr lang="en-US" sz="950" dirty="0">
                <a:solidFill>
                  <a:srgbClr val="7A706D"/>
                </a:solidFill>
                <a:latin typeface="Arial" pitchFamily="34" charset="0"/>
                <a:ea typeface="Arial" pitchFamily="34" charset="-122"/>
                <a:cs typeface="Arial" pitchFamily="34" charset="-120"/>
              </a:rPr>
              <a:t>  (as of September 2026)</a:t>
            </a:r>
            <a:endParaRPr lang="en-US" sz="950" dirty="0"/>
          </a:p>
        </p:txBody>
      </p:sp>
      <p:sp>
        <p:nvSpPr>
          <p:cNvPr id="21" name="Shape 17"/>
          <p:cNvSpPr/>
          <p:nvPr/>
        </p:nvSpPr>
        <p:spPr>
          <a:xfrm>
            <a:off x="6949440" y="3726180"/>
            <a:ext cx="4721047" cy="0"/>
          </a:xfrm>
          <a:prstGeom prst="line">
            <a:avLst/>
          </a:prstGeom>
          <a:noFill/>
          <a:ln w="6350">
            <a:solidFill>
              <a:srgbClr val="2C2523"/>
            </a:solidFill>
            <a:prstDash val="solid"/>
          </a:ln>
        </p:spPr>
      </p:sp>
      <p:sp>
        <p:nvSpPr>
          <p:cNvPr id="22" name="Text 18"/>
          <p:cNvSpPr txBox="1"/>
          <p:nvPr/>
        </p:nvSpPr>
        <p:spPr>
          <a:xfrm>
            <a:off x="411480" y="3515868"/>
            <a:ext cx="1463040" cy="329184"/>
          </a:xfrm>
          <a:prstGeom prst="rect">
            <a:avLst/>
          </a:prstGeom>
          <a:noFill/>
          <a:ln/>
        </p:spPr>
        <p:txBody>
          <a:bodyPr wrap="square" lIns="0" tIns="0" rIns="0" bIns="0" rtlCol="0" anchor="t"/>
          <a:lstStyle/>
          <a:p>
            <a:pPr indent="0" marL="0">
              <a:lnSpc>
                <a:spcPct val="110000"/>
              </a:lnSpc>
              <a:buNone/>
            </a:pPr>
            <a:r>
              <a:rPr lang="en-US" sz="750" b="1" dirty="0">
                <a:solidFill>
                  <a:srgbClr val="2C2523"/>
                </a:solidFill>
                <a:latin typeface="Arial" pitchFamily="34" charset="0"/>
                <a:ea typeface="Arial" pitchFamily="34" charset="-122"/>
                <a:cs typeface="Arial" pitchFamily="34" charset="-120"/>
              </a:rPr>
              <a:t>Exhibit 2</a:t>
            </a:r>
            <a:endParaRPr lang="en-US" sz="750" dirty="0"/>
          </a:p>
          <a:p>
            <a:pPr indent="0" marL="0">
              <a:lnSpc>
                <a:spcPct val="110000"/>
              </a:lnSpc>
              <a:buNone/>
            </a:pPr>
            <a:r>
              <a:rPr lang="en-US" sz="750" dirty="0">
                <a:solidFill>
                  <a:srgbClr val="7A706D"/>
                </a:solidFill>
                <a:latin typeface="Arial" pitchFamily="34" charset="0"/>
                <a:ea typeface="Arial" pitchFamily="34" charset="-122"/>
                <a:cs typeface="Arial" pitchFamily="34" charset="-120"/>
              </a:rPr>
              <a:t>Per ServiceTitan and management</a:t>
            </a:r>
            <a:endParaRPr lang="en-US" sz="75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949440" y="3799332"/>
          <a:ext cx="4721047" cy="914400"/>
        </p:xfrm>
        <a:graphic>
          <a:graphicData uri="http://schemas.openxmlformats.org/drawingml/2006/table">
            <a:tbl>
              <a:tblPr/>
              <a:tblGrid>
                <a:gridCol w="1828800"/>
                <a:gridCol w="658368"/>
                <a:gridCol w="2233879"/>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45720" marR="45720" marT="27432" marB="27432"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45720" marR="45720" marT="27432" marB="27432"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45720" marR="45720" marT="27432" marB="27432" anchor="ctr">
                    <a:lnL w="0" cap="flat" cmpd="sng" algn="ctr">
                      <a:noFill/>
                    </a:lnL>
                    <a:lnR w="0" cap="flat" cmpd="sng" algn="ctr">
                      <a:noFill/>
                    </a:lnR>
                    <a:lnT w="0" cap="flat" cmpd="sng" algn="ctr">
                      <a:noFill/>
                    </a:lnT>
                    <a:lnB w="0" cap="flat" cmpd="sng" algn="ctr">
                      <a:noFill/>
                    </a:lnB>
                    <a:solidFill>
                      <a:srgbClr val="7B0000"/>
                    </a:solidFill>
                  </a:tcPr>
                </a:tc>
              </a:tr>
              <a:tr h="21945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Maintenance-agreement members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1,450</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82% annual renewal (2); 9% of FY2025 revenue</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1945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Largest customer</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Commercial property manager; none above 4%</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29184">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Employees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14 technicians, 4 installers, 3 CSR/dispatch, ops manager, bookkeeper, owner</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1945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Fleet</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18 service vans and 2 install trucks; owned</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1945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Shop and office</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8,000 sq ft</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Leased through 2029 with a 5-year renewal option</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1945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Google rating</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4.8</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More than 900 reviews (2)</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29184">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Carrier Factory Authorized Dealer</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Since 2015</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Equipment through the local Carrier distributor</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82880"/>
            <a:ext cx="11368735" cy="768096"/>
          </a:xfrm>
          <a:prstGeom prst="rect">
            <a:avLst/>
          </a:prstGeom>
          <a:noFill/>
          <a:ln/>
        </p:spPr>
        <p:txBody>
          <a:bodyPr wrap="square" lIns="0" tIns="0" rIns="0" bIns="0" rtlCol="0" anchor="b"/>
          <a:lstStyle/>
          <a:p>
            <a:pPr indent="0" marL="0">
              <a:lnSpc>
                <a:spcPct val="100000"/>
              </a:lnSpc>
              <a:buNone/>
            </a:pPr>
            <a:r>
              <a:rPr lang="en-US" sz="2200" b="1" dirty="0">
                <a:solidFill>
                  <a:srgbClr val="7B0000"/>
                </a:solidFill>
                <a:latin typeface="Georgia" pitchFamily="34" charset="0"/>
                <a:ea typeface="Georgia" pitchFamily="34" charset="-122"/>
                <a:cs typeface="Georgia" pitchFamily="34" charset="-120"/>
              </a:rPr>
              <a:t>Revenue grew at a 12.4% CAGR to $3.04M in FY2025 while gross margin held at 61–62%</a:t>
            </a:r>
            <a:endParaRPr lang="en-US" sz="2200" dirty="0"/>
          </a:p>
        </p:txBody>
      </p:sp>
      <p:sp>
        <p:nvSpPr>
          <p:cNvPr id="3" name="Text 1"/>
          <p:cNvSpPr txBox="1"/>
          <p:nvPr/>
        </p:nvSpPr>
        <p:spPr>
          <a:xfrm>
            <a:off x="411480" y="987552"/>
            <a:ext cx="1463040" cy="237744"/>
          </a:xfrm>
          <a:prstGeom prst="rect">
            <a:avLst/>
          </a:prstGeom>
          <a:noFill/>
          <a:ln/>
        </p:spPr>
        <p:txBody>
          <a:bodyPr wrap="square" lIns="0" tIns="0" rIns="0" bIns="0" rtlCol="0" anchor="ctr"/>
          <a:lstStyle/>
          <a:p>
            <a:pPr indent="0" marL="0">
              <a:lnSpc>
                <a:spcPct val="110000"/>
              </a:lnSpc>
              <a:buNone/>
            </a:pPr>
            <a:r>
              <a:rPr lang="en-US" sz="800" b="1" dirty="0">
                <a:solidFill>
                  <a:srgbClr val="7B0000"/>
                </a:solidFill>
                <a:latin typeface="Arial" pitchFamily="34" charset="0"/>
                <a:ea typeface="Arial" pitchFamily="34" charset="-122"/>
                <a:cs typeface="Arial" pitchFamily="34" charset="-120"/>
              </a:rPr>
              <a:t>Financial performance</a:t>
            </a:r>
            <a:endParaRPr lang="en-US" sz="800" dirty="0"/>
          </a:p>
          <a:p>
            <a:pPr indent="0" marL="0">
              <a:lnSpc>
                <a:spcPct val="110000"/>
              </a:lnSpc>
              <a:buNone/>
            </a:pPr>
            <a:r>
              <a:rPr lang="en-US" sz="800" dirty="0">
                <a:solidFill>
                  <a:srgbClr val="7A706D"/>
                </a:solidFill>
                <a:latin typeface="Arial" pitchFamily="34" charset="0"/>
                <a:ea typeface="Arial" pitchFamily="34" charset="-122"/>
                <a:cs typeface="Arial" pitchFamily="34" charset="-120"/>
              </a:rPr>
              <a:t>Income statement summary</a:t>
            </a:r>
            <a:endParaRPr lang="en-US" sz="800" dirty="0"/>
          </a:p>
        </p:txBody>
      </p:sp>
      <p:sp>
        <p:nvSpPr>
          <p:cNvPr id="4" name="Text 2"/>
          <p:cNvSpPr txBox="1"/>
          <p:nvPr/>
        </p:nvSpPr>
        <p:spPr>
          <a:xfrm>
            <a:off x="2057400" y="987552"/>
            <a:ext cx="9722815" cy="237744"/>
          </a:xfrm>
          <a:prstGeom prst="rect">
            <a:avLst/>
          </a:prstGeom>
          <a:noFill/>
          <a:ln/>
        </p:spPr>
        <p:txBody>
          <a:bodyPr wrap="square" lIns="0" tIns="0" rIns="0" bIns="0" rtlCol="0" anchor="ctr"/>
          <a:lstStyle/>
          <a:p>
            <a:pPr indent="0" marL="0">
              <a:buNone/>
            </a:pPr>
            <a:r>
              <a:rPr lang="en-US" sz="1150" dirty="0">
                <a:solidFill>
                  <a:srgbClr val="7B0000"/>
                </a:solidFill>
                <a:latin typeface="Georgia" pitchFamily="34" charset="0"/>
                <a:ea typeface="Georgia" pitchFamily="34" charset="-122"/>
                <a:cs typeface="Georgia" pitchFamily="34" charset="-120"/>
              </a:rPr>
              <a:t>Operating expenses grew slower than revenue in both years, so Adj. EBITDA margin rose from 10.9% to 14.9%.</a:t>
            </a:r>
            <a:endParaRPr lang="en-US" sz="1150" dirty="0"/>
          </a:p>
        </p:txBody>
      </p:sp>
      <p:sp>
        <p:nvSpPr>
          <p:cNvPr id="5" name="Shape 3"/>
          <p:cNvSpPr/>
          <p:nvPr/>
        </p:nvSpPr>
        <p:spPr>
          <a:xfrm>
            <a:off x="411480" y="1280160"/>
            <a:ext cx="11368735" cy="0"/>
          </a:xfrm>
          <a:prstGeom prst="line">
            <a:avLst/>
          </a:prstGeom>
          <a:noFill/>
          <a:ln w="9525">
            <a:solidFill>
              <a:srgbClr val="7B0000"/>
            </a:solidFill>
            <a:prstDash val="solid"/>
          </a:ln>
        </p:spPr>
      </p:sp>
      <p:sp>
        <p:nvSpPr>
          <p:cNvPr id="6" name="Shape 4"/>
          <p:cNvSpPr/>
          <p:nvPr/>
        </p:nvSpPr>
        <p:spPr>
          <a:xfrm>
            <a:off x="1965960" y="1280160"/>
            <a:ext cx="0" cy="5065776"/>
          </a:xfrm>
          <a:prstGeom prst="line">
            <a:avLst/>
          </a:prstGeom>
          <a:noFill/>
          <a:ln w="9525">
            <a:solidFill>
              <a:srgbClr val="7B0000"/>
            </a:solidFill>
            <a:prstDash val="solid"/>
          </a:ln>
        </p:spPr>
      </p:sp>
      <p:sp>
        <p:nvSpPr>
          <p:cNvPr id="7" name="Text 5"/>
          <p:cNvSpPr txBox="1"/>
          <p:nvPr/>
        </p:nvSpPr>
        <p:spPr>
          <a:xfrm>
            <a:off x="411480" y="3931920"/>
            <a:ext cx="1463040" cy="2414016"/>
          </a:xfrm>
          <a:prstGeom prst="rect">
            <a:avLst/>
          </a:prstGeom>
          <a:noFill/>
          <a:ln/>
        </p:spPr>
        <p:txBody>
          <a:bodyPr wrap="square" lIns="0" tIns="0" rIns="0" bIns="0" rtlCol="0" anchor="b"/>
          <a:lstStyle/>
          <a:p>
            <a:pPr indent="0" marL="0">
              <a:lnSpc>
                <a:spcPct val="100000"/>
              </a:lnSpc>
              <a:spcAft>
                <a:spcPts val="300"/>
              </a:spcAft>
              <a:buNone/>
            </a:pPr>
            <a:r>
              <a:rPr lang="en-US" sz="700" dirty="0">
                <a:solidFill>
                  <a:srgbClr val="7A706D"/>
                </a:solidFill>
                <a:latin typeface="Arial" pitchFamily="34" charset="0"/>
                <a:ea typeface="Arial" pitchFamily="34" charset="-122"/>
                <a:cs typeface="Arial" pitchFamily="34" charset="-120"/>
              </a:rPr>
              <a:t>(1) Owner compensation above the $95K replacement salary, personal expenses and one nonrecurring settlement; itemized on page 4.</a:t>
            </a:r>
            <a:endParaRPr lang="en-US" sz="700" dirty="0"/>
          </a:p>
        </p:txBody>
      </p:sp>
      <p:sp>
        <p:nvSpPr>
          <p:cNvPr id="8" name="Text 6"/>
          <p:cNvSpPr txBox="1"/>
          <p:nvPr/>
        </p:nvSpPr>
        <p:spPr>
          <a:xfrm>
            <a:off x="2057400" y="5998464"/>
            <a:ext cx="9722815" cy="347472"/>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Financials are as provided by the Seller and have not been independently audited. Adj. EBITDA and SDE are non-GAAP measures; see page 4 for the reconciliation to Reported EBITDA.</a:t>
            </a:r>
            <a:endParaRPr lang="en-US" sz="700" dirty="0"/>
          </a:p>
        </p:txBody>
      </p:sp>
      <p:sp>
        <p:nvSpPr>
          <p:cNvPr id="9" name="Shape 7"/>
          <p:cNvSpPr/>
          <p:nvPr/>
        </p:nvSpPr>
        <p:spPr>
          <a:xfrm>
            <a:off x="411480" y="6400800"/>
            <a:ext cx="11368735" cy="0"/>
          </a:xfrm>
          <a:prstGeom prst="line">
            <a:avLst/>
          </a:prstGeom>
          <a:noFill/>
          <a:ln w="6350">
            <a:solidFill>
              <a:srgbClr val="C2BAB8"/>
            </a:solidFill>
            <a:prstDash val="solid"/>
          </a:ln>
        </p:spPr>
      </p:sp>
      <p:sp>
        <p:nvSpPr>
          <p:cNvPr id="10" name="Text 8"/>
          <p:cNvSpPr txBox="1"/>
          <p:nvPr/>
        </p:nvSpPr>
        <p:spPr>
          <a:xfrm>
            <a:off x="411480" y="6455664"/>
            <a:ext cx="36576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endParaRPr lang="en-US" sz="750" dirty="0"/>
          </a:p>
        </p:txBody>
      </p:sp>
      <p:sp>
        <p:nvSpPr>
          <p:cNvPr id="11" name="Text 9"/>
          <p:cNvSpPr txBox="1"/>
          <p:nvPr/>
        </p:nvSpPr>
        <p:spPr>
          <a:xfrm>
            <a:off x="4267048" y="6455664"/>
            <a:ext cx="3657600"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12" name="Image 0" descr="/home/user/project-avengers/amb-material-bot/design/directions/b-editorial-boutique/amb-logo-tight.png">    </p:cNvPr>
          <p:cNvPicPr>
            <a:picLocks noChangeAspect="1"/>
          </p:cNvPicPr>
          <p:nvPr/>
        </p:nvPicPr>
        <p:blipFill>
          <a:blip r:embed="rId1"/>
          <a:stretch>
            <a:fillRect/>
          </a:stretch>
        </p:blipFill>
        <p:spPr>
          <a:xfrm>
            <a:off x="10629010" y="6464808"/>
            <a:ext cx="618110" cy="201168"/>
          </a:xfrm>
          <a:prstGeom prst="rect">
            <a:avLst/>
          </a:prstGeom>
        </p:spPr>
      </p:pic>
      <p:sp>
        <p:nvSpPr>
          <p:cNvPr id="13" name="Text 10"/>
          <p:cNvSpPr txBox="1"/>
          <p:nvPr/>
        </p:nvSpPr>
        <p:spPr>
          <a:xfrm>
            <a:off x="11368735" y="6455664"/>
            <a:ext cx="411480"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3</a:t>
            </a:r>
            <a:endParaRPr lang="en-US" sz="800" dirty="0"/>
          </a:p>
        </p:txBody>
      </p:sp>
      <p:sp>
        <p:nvSpPr>
          <p:cNvPr id="14" name="Text 11"/>
          <p:cNvSpPr txBox="1"/>
          <p:nvPr/>
        </p:nvSpPr>
        <p:spPr>
          <a:xfrm>
            <a:off x="2057400" y="1426464"/>
            <a:ext cx="5212080" cy="201168"/>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Summary income statement</a:t>
            </a:r>
            <a:pPr indent="0" marL="0">
              <a:buNone/>
            </a:pP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5" name="Shape 12"/>
          <p:cNvSpPr/>
          <p:nvPr/>
        </p:nvSpPr>
        <p:spPr>
          <a:xfrm>
            <a:off x="2057400" y="1655064"/>
            <a:ext cx="5212080" cy="0"/>
          </a:xfrm>
          <a:prstGeom prst="line">
            <a:avLst/>
          </a:prstGeom>
          <a:noFill/>
          <a:ln w="6350">
            <a:solidFill>
              <a:srgbClr val="2C2523"/>
            </a:solidFill>
            <a:prstDash val="solid"/>
          </a:ln>
        </p:spPr>
      </p:sp>
      <p:sp>
        <p:nvSpPr>
          <p:cNvPr id="16" name="Text 13"/>
          <p:cNvSpPr txBox="1"/>
          <p:nvPr/>
        </p:nvSpPr>
        <p:spPr>
          <a:xfrm>
            <a:off x="411480" y="1444752"/>
            <a:ext cx="1463040" cy="329184"/>
          </a:xfrm>
          <a:prstGeom prst="rect">
            <a:avLst/>
          </a:prstGeom>
          <a:noFill/>
          <a:ln/>
        </p:spPr>
        <p:txBody>
          <a:bodyPr wrap="square" lIns="0" tIns="0" rIns="0" bIns="0" rtlCol="0" anchor="t"/>
          <a:lstStyle/>
          <a:p>
            <a:pPr indent="0" marL="0">
              <a:lnSpc>
                <a:spcPct val="110000"/>
              </a:lnSpc>
              <a:buNone/>
            </a:pPr>
            <a:r>
              <a:rPr lang="en-US" sz="750" b="1" dirty="0">
                <a:solidFill>
                  <a:srgbClr val="2C2523"/>
                </a:solidFill>
                <a:latin typeface="Arial" pitchFamily="34" charset="0"/>
                <a:ea typeface="Arial" pitchFamily="34" charset="-122"/>
                <a:cs typeface="Arial" pitchFamily="34" charset="-120"/>
              </a:rPr>
              <a:t>Exhibit 1</a:t>
            </a:r>
            <a:endParaRPr lang="en-US" sz="750" dirty="0"/>
          </a:p>
          <a:p>
            <a:pPr indent="0" marL="0">
              <a:lnSpc>
                <a:spcPct val="110000"/>
              </a:lnSpc>
              <a:buNone/>
            </a:pPr>
            <a:r>
              <a:rPr lang="en-US" sz="750" dirty="0">
                <a:solidFill>
                  <a:srgbClr val="7A706D"/>
                </a:solidFill>
                <a:latin typeface="Arial" pitchFamily="34" charset="0"/>
                <a:ea typeface="Arial" pitchFamily="34" charset="-122"/>
                <a:cs typeface="Arial" pitchFamily="34" charset="-120"/>
              </a:rPr>
              <a:t>Fiscal years to December 31</a:t>
            </a:r>
            <a:endParaRPr lang="en-US" sz="7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057400" y="1728216"/>
          <a:ext cx="5212080" cy="914400"/>
        </p:xfrm>
        <a:graphic>
          <a:graphicData uri="http://schemas.openxmlformats.org/drawingml/2006/table">
            <a:tbl>
              <a:tblPr/>
              <a:tblGrid>
                <a:gridCol w="2286000"/>
                <a:gridCol w="731520"/>
                <a:gridCol w="731520"/>
                <a:gridCol w="731520"/>
                <a:gridCol w="73152"/>
                <a:gridCol w="658368"/>
              </a:tblGrid>
              <a:tr h="192024">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FY23–25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Income statement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CAGR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Revenue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$2,406.8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$2,718.6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$3,040.8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 growth</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Cost of revenue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(938.7)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(1,046.7)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(1,158.5)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Gross profit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$1,468.1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$1,671.9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$1,882.3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13.2%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 margin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Operating expenses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(1,311.1)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(1,459.7)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(1,565.9)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of which owner compensation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$157.0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$212.2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$316.4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 margin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7.8%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Normalization adjustments (1)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96596">
                <a:tc>
                  <a:txBody>
                    <a:bodyPr/>
                    <a:lstStyle/>
                    <a:p>
                      <a:pPr algn="l" indent="0" marL="0">
                        <a:buNone/>
                      </a:pPr>
                      <a:r>
                        <a:rPr lang="en-US" sz="850" b="1" dirty="0">
                          <a:solidFill>
                            <a:srgbClr val="FFFFFF"/>
                          </a:solidFill>
                          <a:latin typeface="Arial" pitchFamily="34" charset="0"/>
                          <a:ea typeface="Arial" pitchFamily="34" charset="-122"/>
                          <a:cs typeface="Arial" pitchFamily="34" charset="-120"/>
                        </a:rPr>
                        <a:t>Adj.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$263.0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$354.2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$452.9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31.2%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 margin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Owner replacement salary</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SDE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$358.0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$449.2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$547.9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23.7%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 margin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8" name="Shape 14"/>
          <p:cNvSpPr/>
          <p:nvPr/>
        </p:nvSpPr>
        <p:spPr>
          <a:xfrm>
            <a:off x="2057400" y="4988052"/>
            <a:ext cx="5212080" cy="566928"/>
          </a:xfrm>
          <a:prstGeom prst="rect">
            <a:avLst/>
          </a:prstGeom>
          <a:solidFill>
            <a:srgbClr val="F5EDEC"/>
          </a:solidFill>
          <a:ln w="12700">
            <a:solidFill>
              <a:srgbClr val="F5EDEC"/>
            </a:solidFill>
            <a:prstDash val="solid"/>
          </a:ln>
        </p:spPr>
      </p:sp>
      <p:sp>
        <p:nvSpPr>
          <p:cNvPr id="19" name="Shape 15"/>
          <p:cNvSpPr/>
          <p:nvPr/>
        </p:nvSpPr>
        <p:spPr>
          <a:xfrm>
            <a:off x="2057400" y="4988052"/>
            <a:ext cx="27432" cy="566928"/>
          </a:xfrm>
          <a:prstGeom prst="rect">
            <a:avLst/>
          </a:prstGeom>
          <a:solidFill>
            <a:srgbClr val="7B0000"/>
          </a:solidFill>
          <a:ln w="12700">
            <a:solidFill>
              <a:srgbClr val="7B0000"/>
            </a:solidFill>
            <a:prstDash val="solid"/>
          </a:ln>
        </p:spPr>
      </p:sp>
      <p:sp>
        <p:nvSpPr>
          <p:cNvPr id="20" name="Text 16"/>
          <p:cNvSpPr txBox="1"/>
          <p:nvPr/>
        </p:nvSpPr>
        <p:spPr>
          <a:xfrm>
            <a:off x="2185416" y="4988052"/>
            <a:ext cx="4992624" cy="566928"/>
          </a:xfrm>
          <a:prstGeom prst="rect">
            <a:avLst/>
          </a:prstGeom>
          <a:noFill/>
          <a:ln/>
        </p:spPr>
        <p:txBody>
          <a:bodyPr wrap="square" lIns="0" tIns="0" rIns="0" bIns="0" rtlCol="0" anchor="ctr"/>
          <a:lstStyle/>
          <a:p>
            <a:pPr indent="0" marL="0">
              <a:lnSpc>
                <a:spcPct val="108000"/>
              </a:lnSpc>
              <a:buNone/>
            </a:pPr>
            <a:r>
              <a:rPr lang="en-US" sz="950" b="1" dirty="0">
                <a:solidFill>
                  <a:srgbClr val="7B0000"/>
                </a:solidFill>
                <a:latin typeface="Arial" pitchFamily="34" charset="0"/>
                <a:ea typeface="Arial" pitchFamily="34" charset="-122"/>
                <a:cs typeface="Arial" pitchFamily="34" charset="-120"/>
              </a:rPr>
              <a:t>Takeaway: </a:t>
            </a:r>
            <a:pPr indent="0" marL="0">
              <a:lnSpc>
                <a:spcPct val="108000"/>
              </a:lnSpc>
              <a:buNone/>
            </a:pPr>
            <a:r>
              <a:rPr lang="en-US" sz="950" dirty="0">
                <a:solidFill>
                  <a:srgbClr val="2C2523"/>
                </a:solidFill>
                <a:latin typeface="Arial" pitchFamily="34" charset="0"/>
                <a:ea typeface="Arial" pitchFamily="34" charset="-122"/>
                <a:cs typeface="Arial" pitchFamily="34" charset="-120"/>
              </a:rPr>
              <a:t>Adj. EBITDA grew at a 31.2% CAGR, 2.5 times the revenue CAGR, because operating expenses excluding owner compensation rose 9.9% a year against 12.4% for revenue.</a:t>
            </a:r>
            <a:endParaRPr lang="en-US" sz="950" dirty="0"/>
          </a:p>
        </p:txBody>
      </p:sp>
      <p:sp>
        <p:nvSpPr>
          <p:cNvPr id="21" name="Shape 17"/>
          <p:cNvSpPr/>
          <p:nvPr/>
        </p:nvSpPr>
        <p:spPr>
          <a:xfrm>
            <a:off x="7479792" y="1408176"/>
            <a:ext cx="4300423" cy="2542032"/>
          </a:xfrm>
          <a:prstGeom prst="rect">
            <a:avLst/>
          </a:prstGeom>
          <a:solidFill>
            <a:srgbClr val="F5EDEC"/>
          </a:solidFill>
          <a:ln w="12700">
            <a:solidFill>
              <a:srgbClr val="F5EDEC"/>
            </a:solidFill>
            <a:prstDash val="solid"/>
          </a:ln>
        </p:spPr>
      </p:sp>
      <p:sp>
        <p:nvSpPr>
          <p:cNvPr id="22" name="Text 18"/>
          <p:cNvSpPr txBox="1"/>
          <p:nvPr/>
        </p:nvSpPr>
        <p:spPr>
          <a:xfrm>
            <a:off x="7589520" y="1481328"/>
            <a:ext cx="2800807" cy="201168"/>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Revenue and Adj. EBITDA</a:t>
            </a:r>
            <a:pPr indent="0" marL="0">
              <a:buNone/>
            </a:pP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23" name="Text 19"/>
          <p:cNvSpPr txBox="1"/>
          <p:nvPr/>
        </p:nvSpPr>
        <p:spPr>
          <a:xfrm>
            <a:off x="10390327" y="1481328"/>
            <a:ext cx="1280160" cy="201168"/>
          </a:xfrm>
          <a:prstGeom prst="rect">
            <a:avLst/>
          </a:prstGeom>
          <a:noFill/>
          <a:ln/>
        </p:spPr>
        <p:txBody>
          <a:bodyPr wrap="square" lIns="0" tIns="0" rIns="0" bIns="0" rtlCol="0" anchor="b"/>
          <a:lstStyle/>
          <a:p>
            <a:pPr algn="r" indent="0" marL="0">
              <a:buNone/>
            </a:pPr>
            <a:r>
              <a:rPr lang="en-US" sz="750" dirty="0">
                <a:solidFill>
                  <a:srgbClr val="7A706D"/>
                </a:solidFill>
                <a:latin typeface="Arial" pitchFamily="34" charset="0"/>
                <a:ea typeface="Arial" pitchFamily="34" charset="-122"/>
                <a:cs typeface="Arial" pitchFamily="34" charset="-120"/>
              </a:rPr>
              <a:t>Margin 10.9% to 14.9%</a:t>
            </a:r>
            <a:endParaRPr lang="en-US" sz="750" dirty="0"/>
          </a:p>
        </p:txBody>
      </p:sp>
      <p:sp>
        <p:nvSpPr>
          <p:cNvPr id="24" name="Shape 20"/>
          <p:cNvSpPr/>
          <p:nvPr/>
        </p:nvSpPr>
        <p:spPr>
          <a:xfrm>
            <a:off x="7589520" y="1709928"/>
            <a:ext cx="4080967" cy="0"/>
          </a:xfrm>
          <a:prstGeom prst="line">
            <a:avLst/>
          </a:prstGeom>
          <a:noFill/>
          <a:ln w="6350">
            <a:solidFill>
              <a:srgbClr val="2C2523"/>
            </a:solidFill>
            <a:prstDash val="solid"/>
          </a:ln>
        </p:spPr>
      </p:sp>
      <p:sp>
        <p:nvSpPr>
          <p:cNvPr id="25" name="Text 21"/>
          <p:cNvSpPr txBox="1"/>
          <p:nvPr/>
        </p:nvSpPr>
        <p:spPr>
          <a:xfrm>
            <a:off x="411480" y="1810512"/>
            <a:ext cx="1463040" cy="329184"/>
          </a:xfrm>
          <a:prstGeom prst="rect">
            <a:avLst/>
          </a:prstGeom>
          <a:noFill/>
          <a:ln/>
        </p:spPr>
        <p:txBody>
          <a:bodyPr wrap="square" lIns="0" tIns="0" rIns="0" bIns="0" rtlCol="0" anchor="t"/>
          <a:lstStyle/>
          <a:p>
            <a:pPr indent="0" marL="0">
              <a:lnSpc>
                <a:spcPct val="110000"/>
              </a:lnSpc>
              <a:buNone/>
            </a:pPr>
            <a:r>
              <a:rPr lang="en-US" sz="750" b="1" dirty="0">
                <a:solidFill>
                  <a:srgbClr val="2C2523"/>
                </a:solidFill>
                <a:latin typeface="Arial" pitchFamily="34" charset="0"/>
                <a:ea typeface="Arial" pitchFamily="34" charset="-122"/>
                <a:cs typeface="Arial" pitchFamily="34" charset="-120"/>
              </a:rPr>
              <a:t>Exhibit 2</a:t>
            </a:r>
            <a:endParaRPr lang="en-US" sz="750" dirty="0"/>
          </a:p>
          <a:p>
            <a:pPr indent="0" marL="0">
              <a:lnSpc>
                <a:spcPct val="110000"/>
              </a:lnSpc>
              <a:buNone/>
            </a:pPr>
            <a:r>
              <a:rPr lang="en-US" sz="750" dirty="0">
                <a:solidFill>
                  <a:srgbClr val="7A706D"/>
                </a:solidFill>
                <a:latin typeface="Arial" pitchFamily="34" charset="0"/>
                <a:ea typeface="Arial" pitchFamily="34" charset="-122"/>
                <a:cs typeface="Arial" pitchFamily="34" charset="-120"/>
              </a:rPr>
              <a:t>Fiscal years; every bar labelled</a:t>
            </a:r>
            <a:endParaRPr lang="en-US" sz="750" dirty="0"/>
          </a:p>
        </p:txBody>
      </p:sp>
      <p:sp>
        <p:nvSpPr>
          <p:cNvPr id="26" name="Text 22"/>
          <p:cNvSpPr txBox="1"/>
          <p:nvPr/>
        </p:nvSpPr>
        <p:spPr>
          <a:xfrm>
            <a:off x="7589520" y="1783080"/>
            <a:ext cx="1949044" cy="164592"/>
          </a:xfrm>
          <a:prstGeom prst="rect">
            <a:avLst/>
          </a:prstGeom>
          <a:noFill/>
          <a:ln/>
        </p:spPr>
        <p:txBody>
          <a:bodyPr wrap="square" lIns="0" tIns="0" rIns="0" bIns="0" rtlCol="0" anchor="ctr"/>
          <a:lstStyle/>
          <a:p>
            <a:pPr algn="ctr" indent="0" marL="0">
              <a:buNone/>
            </a:pPr>
            <a:r>
              <a:rPr lang="en-US" sz="800" dirty="0">
                <a:solidFill>
                  <a:srgbClr val="7A706D"/>
                </a:solidFill>
                <a:latin typeface="Arial" pitchFamily="34" charset="0"/>
                <a:ea typeface="Arial" pitchFamily="34" charset="-122"/>
                <a:cs typeface="Arial" pitchFamily="34" charset="-120"/>
              </a:rPr>
              <a:t>Revenue</a:t>
            </a:r>
            <a:endParaRPr lang="en-US" sz="800" dirty="0"/>
          </a:p>
        </p:txBody>
      </p:sp>
      <p:sp>
        <p:nvSpPr>
          <p:cNvPr id="27" name="Text 23"/>
          <p:cNvSpPr txBox="1"/>
          <p:nvPr/>
        </p:nvSpPr>
        <p:spPr>
          <a:xfrm>
            <a:off x="9721444" y="1783080"/>
            <a:ext cx="1949044" cy="164592"/>
          </a:xfrm>
          <a:prstGeom prst="rect">
            <a:avLst/>
          </a:prstGeom>
          <a:noFill/>
          <a:ln/>
        </p:spPr>
        <p:txBody>
          <a:bodyPr wrap="square" lIns="0" tIns="0" rIns="0" bIns="0" rtlCol="0" anchor="ctr"/>
          <a:lstStyle/>
          <a:p>
            <a:pPr algn="ctr" indent="0" marL="0">
              <a:buNone/>
            </a:pPr>
            <a:r>
              <a:rPr lang="en-US" sz="800" dirty="0">
                <a:solidFill>
                  <a:srgbClr val="7A706D"/>
                </a:solidFill>
                <a:latin typeface="Arial" pitchFamily="34" charset="0"/>
                <a:ea typeface="Arial" pitchFamily="34" charset="-122"/>
                <a:cs typeface="Arial" pitchFamily="34" charset="-120"/>
              </a:rPr>
              <a:t>Adj. EBITDA</a:t>
            </a:r>
            <a:endParaRPr lang="en-US" sz="800" dirty="0"/>
          </a:p>
        </p:txBody>
      </p:sp>
      <p:graphicFrame>
        <p:nvGraphicFramePr>
          <p:cNvPr id="28" name="Chart 0" descr=""/>
          <p:cNvGraphicFramePr/>
          <p:nvPr/>
        </p:nvGraphicFramePr>
        <p:xfrm>
          <a:off x="7589520" y="1947672"/>
          <a:ext cx="1949044" cy="1911096"/>
        </p:xfrm>
        <a:graphic xmlns:a="http://schemas.openxmlformats.org/drawingml/2006/main">
          <a:graphicData uri="http://schemas.openxmlformats.org/drawingml/2006/chart">
            <c:chart xmlns:c="http://schemas.openxmlformats.org/drawingml/2006/chart" r:id="rId2"/>
          </a:graphicData>
        </a:graphic>
      </p:graphicFrame>
      <p:graphicFrame>
        <p:nvGraphicFramePr>
          <p:cNvPr id="29" name="Chart 1" descr=""/>
          <p:cNvGraphicFramePr/>
          <p:nvPr/>
        </p:nvGraphicFramePr>
        <p:xfrm>
          <a:off x="9721444" y="1947672"/>
          <a:ext cx="1949044" cy="1911096"/>
        </p:xfrm>
        <a:graphic xmlns:a="http://schemas.openxmlformats.org/drawingml/2006/main">
          <a:graphicData uri="http://schemas.openxmlformats.org/drawingml/2006/chart">
            <c:chart xmlns:c="http://schemas.openxmlformats.org/drawingml/2006/chart" r:id="rId3"/>
          </a:graphicData>
        </a:graphic>
      </p:graphicFrame>
      <p:sp>
        <p:nvSpPr>
          <p:cNvPr id="30" name="Text 24"/>
          <p:cNvSpPr txBox="1"/>
          <p:nvPr/>
        </p:nvSpPr>
        <p:spPr>
          <a:xfrm>
            <a:off x="7589520" y="4133088"/>
            <a:ext cx="4190695" cy="1810512"/>
          </a:xfrm>
          <a:prstGeom prst="rect">
            <a:avLst/>
          </a:prstGeom>
          <a:noFill/>
          <a:ln/>
        </p:spPr>
        <p:txBody>
          <a:bodyPr wrap="square" lIns="0" tIns="0" rIns="0" bIns="0" rtlCol="0" anchor="t"/>
          <a:lstStyle/>
          <a:p>
            <a:pPr marL="139700" indent="-139700">
              <a:lnSpc>
                <a:spcPct val="108000"/>
              </a:lnSpc>
              <a:spcAft>
                <a:spcPts val="500"/>
              </a:spcAft>
              <a:buClr>
                <a:srgbClr val="7B0000"/>
              </a:buClr>
              <a:buSzPct val="100000"/>
              <a:buChar char="▪"/>
            </a:pPr>
            <a:r>
              <a:rPr lang="en-US" sz="900" b="1" dirty="0">
                <a:solidFill>
                  <a:srgbClr val="2C2523"/>
                </a:solidFill>
                <a:latin typeface="Arial" pitchFamily="34" charset="0"/>
                <a:ea typeface="Arial" pitchFamily="34" charset="-122"/>
                <a:cs typeface="Arial" pitchFamily="34" charset="-120"/>
              </a:rPr>
              <a:t>Both years grew at double digits. </a:t>
            </a:r>
            <a:pPr indent="0" marL="0">
              <a:lnSpc>
                <a:spcPct val="108000"/>
              </a:lnSpc>
              <a:buNone/>
            </a:pPr>
            <a:r>
              <a:rPr lang="en-US" sz="900" dirty="0">
                <a:solidFill>
                  <a:srgbClr val="2C2523"/>
                </a:solidFill>
                <a:latin typeface="Arial" pitchFamily="34" charset="0"/>
                <a:ea typeface="Arial" pitchFamily="34" charset="-122"/>
                <a:cs typeface="Arial" pitchFamily="34" charset="-120"/>
              </a:rPr>
              <a:t>Revenue rose 13.0% in FY2024 and 11.9% in FY2025, and gross profit grew faster than revenue in each year (13.9% and 12.6%).</a:t>
            </a:r>
            <a:endParaRPr lang="en-US" sz="900" dirty="0"/>
          </a:p>
          <a:p>
            <a:pPr marL="139700" indent="-139700">
              <a:lnSpc>
                <a:spcPct val="108000"/>
              </a:lnSpc>
              <a:spcAft>
                <a:spcPts val="500"/>
              </a:spcAft>
              <a:buClr>
                <a:srgbClr val="7B0000"/>
              </a:buClr>
              <a:buSzPct val="100000"/>
              <a:buChar char="▪"/>
            </a:pPr>
            <a:r>
              <a:rPr lang="en-US" sz="900" b="1" dirty="0">
                <a:solidFill>
                  <a:srgbClr val="2C2523"/>
                </a:solidFill>
                <a:latin typeface="Arial" pitchFamily="34" charset="0"/>
                <a:ea typeface="Arial" pitchFamily="34" charset="-122"/>
                <a:cs typeface="Arial" pitchFamily="34" charset="-120"/>
              </a:rPr>
              <a:t>Gross margin widened 90 bps. </a:t>
            </a:r>
            <a:pPr indent="0" marL="0">
              <a:lnSpc>
                <a:spcPct val="108000"/>
              </a:lnSpc>
              <a:buNone/>
            </a:pPr>
            <a:r>
              <a:rPr lang="en-US" sz="900" dirty="0">
                <a:solidFill>
                  <a:srgbClr val="2C2523"/>
                </a:solidFill>
                <a:latin typeface="Arial" pitchFamily="34" charset="0"/>
                <a:ea typeface="Arial" pitchFamily="34" charset="-122"/>
                <a:cs typeface="Arial" pitchFamily="34" charset="-120"/>
              </a:rPr>
              <a:t>Cost of revenue grew at an 11.1% CAGR against 12.4% for revenue; parts and equipment come through Ferguson, Johnstone Supply and the local Carrier distributor.</a:t>
            </a:r>
            <a:endParaRPr lang="en-US" sz="900" dirty="0"/>
          </a:p>
          <a:p>
            <a:pPr marL="139700" indent="-139700">
              <a:lnSpc>
                <a:spcPct val="108000"/>
              </a:lnSpc>
              <a:spcAft>
                <a:spcPts val="500"/>
              </a:spcAft>
              <a:buClr>
                <a:srgbClr val="7B0000"/>
              </a:buClr>
              <a:buSzPct val="100000"/>
              <a:buChar char="▪"/>
            </a:pPr>
            <a:r>
              <a:rPr lang="en-US" sz="900" b="1" dirty="0">
                <a:solidFill>
                  <a:srgbClr val="2C2523"/>
                </a:solidFill>
                <a:latin typeface="Arial" pitchFamily="34" charset="0"/>
                <a:ea typeface="Arial" pitchFamily="34" charset="-122"/>
                <a:cs typeface="Arial" pitchFamily="34" charset="-120"/>
              </a:rPr>
              <a:t>Expenses grew slower than revenue. </a:t>
            </a:r>
            <a:pPr indent="0" marL="0">
              <a:lnSpc>
                <a:spcPct val="108000"/>
              </a:lnSpc>
              <a:buNone/>
            </a:pPr>
            <a:r>
              <a:rPr lang="en-US" sz="900" dirty="0">
                <a:solidFill>
                  <a:srgbClr val="2C2523"/>
                </a:solidFill>
                <a:latin typeface="Arial" pitchFamily="34" charset="0"/>
                <a:ea typeface="Arial" pitchFamily="34" charset="-122"/>
                <a:cs typeface="Arial" pitchFamily="34" charset="-120"/>
              </a:rPr>
              <a:t>Operating expenses grew 11.3% in FY2024 and 7.3% in FY2025, both below revenue growth, and Reported EBITDA margin rose from 6.5% to 10.4%.</a:t>
            </a:r>
            <a:endParaRPr lang="en-US" sz="900" dirty="0"/>
          </a:p>
          <a:p>
            <a:pPr marL="139700" indent="-139700">
              <a:lnSpc>
                <a:spcPct val="108000"/>
              </a:lnSpc>
              <a:spcAft>
                <a:spcPts val="500"/>
              </a:spcAft>
              <a:buClr>
                <a:srgbClr val="7B0000"/>
              </a:buClr>
              <a:buSzPct val="100000"/>
              <a:buChar char="▪"/>
            </a:pPr>
            <a:r>
              <a:rPr lang="en-US" sz="900" b="1" dirty="0">
                <a:solidFill>
                  <a:srgbClr val="2C2523"/>
                </a:solidFill>
                <a:latin typeface="Arial" pitchFamily="34" charset="0"/>
                <a:ea typeface="Arial" pitchFamily="34" charset="-122"/>
                <a:cs typeface="Arial" pitchFamily="34" charset="-120"/>
              </a:rPr>
              <a:t>Owner pay sits inside operating expenses. </a:t>
            </a:r>
            <a:pPr indent="0" marL="0">
              <a:lnSpc>
                <a:spcPct val="108000"/>
              </a:lnSpc>
              <a:buNone/>
            </a:pPr>
            <a:r>
              <a:rPr lang="en-US" sz="900" dirty="0">
                <a:solidFill>
                  <a:srgbClr val="2C2523"/>
                </a:solidFill>
                <a:latin typeface="Arial" pitchFamily="34" charset="0"/>
                <a:ea typeface="Arial" pitchFamily="34" charset="-122"/>
                <a:cs typeface="Arial" pitchFamily="34" charset="-120"/>
              </a:rPr>
              <a:t>The owner drew $200K in FY2025 against a $95K replacement salary; that $105K is the largest of the $136.5K of adjustments itemized on page 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82880"/>
            <a:ext cx="11368735" cy="768096"/>
          </a:xfrm>
          <a:prstGeom prst="rect">
            <a:avLst/>
          </a:prstGeom>
          <a:noFill/>
          <a:ln/>
        </p:spPr>
        <p:txBody>
          <a:bodyPr wrap="square" lIns="0" tIns="0" rIns="0" bIns="0" rtlCol="0" anchor="b"/>
          <a:lstStyle/>
          <a:p>
            <a:pPr indent="0" marL="0">
              <a:lnSpc>
                <a:spcPct val="100000"/>
              </a:lnSpc>
              <a:buNone/>
            </a:pPr>
            <a:r>
              <a:rPr lang="en-US" sz="2200" b="1" dirty="0">
                <a:solidFill>
                  <a:srgbClr val="7B0000"/>
                </a:solidFill>
                <a:latin typeface="Georgia" pitchFamily="34" charset="0"/>
                <a:ea typeface="Georgia" pitchFamily="34" charset="-122"/>
                <a:cs typeface="Georgia" pitchFamily="34" charset="-120"/>
              </a:rPr>
              <a:t>Adj. EBITDA of $453K in FY2025 restates $200K of owner pay to a $95K salary and removes $31.5K of personal and nonrecurring cost</a:t>
            </a:r>
            <a:endParaRPr lang="en-US" sz="2200" dirty="0"/>
          </a:p>
        </p:txBody>
      </p:sp>
      <p:sp>
        <p:nvSpPr>
          <p:cNvPr id="3" name="Text 1"/>
          <p:cNvSpPr txBox="1"/>
          <p:nvPr/>
        </p:nvSpPr>
        <p:spPr>
          <a:xfrm>
            <a:off x="411480" y="987552"/>
            <a:ext cx="1463040" cy="237744"/>
          </a:xfrm>
          <a:prstGeom prst="rect">
            <a:avLst/>
          </a:prstGeom>
          <a:noFill/>
          <a:ln/>
        </p:spPr>
        <p:txBody>
          <a:bodyPr wrap="square" lIns="0" tIns="0" rIns="0" bIns="0" rtlCol="0" anchor="ctr"/>
          <a:lstStyle/>
          <a:p>
            <a:pPr indent="0" marL="0">
              <a:lnSpc>
                <a:spcPct val="110000"/>
              </a:lnSpc>
              <a:buNone/>
            </a:pPr>
            <a:r>
              <a:rPr lang="en-US" sz="800" b="1" dirty="0">
                <a:solidFill>
                  <a:srgbClr val="7B0000"/>
                </a:solidFill>
                <a:latin typeface="Arial" pitchFamily="34" charset="0"/>
                <a:ea typeface="Arial" pitchFamily="34" charset="-122"/>
                <a:cs typeface="Arial" pitchFamily="34" charset="-120"/>
              </a:rPr>
              <a:t>Adjusted EBITDA</a:t>
            </a:r>
            <a:endParaRPr lang="en-US" sz="800" dirty="0"/>
          </a:p>
          <a:p>
            <a:pPr indent="0" marL="0">
              <a:lnSpc>
                <a:spcPct val="110000"/>
              </a:lnSpc>
              <a:buNone/>
            </a:pPr>
            <a:r>
              <a:rPr lang="en-US" sz="800" dirty="0">
                <a:solidFill>
                  <a:srgbClr val="7A706D"/>
                </a:solidFill>
                <a:latin typeface="Arial" pitchFamily="34" charset="0"/>
                <a:ea typeface="Arial" pitchFamily="34" charset="-122"/>
                <a:cs typeface="Arial" pitchFamily="34" charset="-120"/>
              </a:rPr>
              <a:t>Reconciliation and support</a:t>
            </a:r>
            <a:endParaRPr lang="en-US" sz="800" dirty="0"/>
          </a:p>
        </p:txBody>
      </p:sp>
      <p:sp>
        <p:nvSpPr>
          <p:cNvPr id="4" name="Text 2"/>
          <p:cNvSpPr txBox="1"/>
          <p:nvPr/>
        </p:nvSpPr>
        <p:spPr>
          <a:xfrm>
            <a:off x="2057400" y="987552"/>
            <a:ext cx="9722815" cy="237744"/>
          </a:xfrm>
          <a:prstGeom prst="rect">
            <a:avLst/>
          </a:prstGeom>
          <a:noFill/>
          <a:ln/>
        </p:spPr>
        <p:txBody>
          <a:bodyPr wrap="square" lIns="0" tIns="0" rIns="0" bIns="0" rtlCol="0" anchor="ctr"/>
          <a:lstStyle/>
          <a:p>
            <a:pPr indent="0" marL="0">
              <a:buNone/>
            </a:pPr>
            <a:r>
              <a:rPr lang="en-US" sz="1150" dirty="0">
                <a:solidFill>
                  <a:srgbClr val="7B0000"/>
                </a:solidFill>
                <a:latin typeface="Georgia" pitchFamily="34" charset="0"/>
                <a:ea typeface="Georgia" pitchFamily="34" charset="-122"/>
                <a:cs typeface="Georgia" pitchFamily="34" charset="-120"/>
              </a:rPr>
              <a:t>Five adjustments, each tied to a payroll record or a ledger account; owner compensation is 77% of the FY2025 total.</a:t>
            </a:r>
            <a:endParaRPr lang="en-US" sz="1150" dirty="0"/>
          </a:p>
        </p:txBody>
      </p:sp>
      <p:sp>
        <p:nvSpPr>
          <p:cNvPr id="5" name="Shape 3"/>
          <p:cNvSpPr/>
          <p:nvPr/>
        </p:nvSpPr>
        <p:spPr>
          <a:xfrm>
            <a:off x="411480" y="1280160"/>
            <a:ext cx="11368735" cy="0"/>
          </a:xfrm>
          <a:prstGeom prst="line">
            <a:avLst/>
          </a:prstGeom>
          <a:noFill/>
          <a:ln w="9525">
            <a:solidFill>
              <a:srgbClr val="7B0000"/>
            </a:solidFill>
            <a:prstDash val="solid"/>
          </a:ln>
        </p:spPr>
      </p:sp>
      <p:sp>
        <p:nvSpPr>
          <p:cNvPr id="6" name="Shape 4"/>
          <p:cNvSpPr/>
          <p:nvPr/>
        </p:nvSpPr>
        <p:spPr>
          <a:xfrm>
            <a:off x="1965960" y="1280160"/>
            <a:ext cx="0" cy="5065776"/>
          </a:xfrm>
          <a:prstGeom prst="line">
            <a:avLst/>
          </a:prstGeom>
          <a:noFill/>
          <a:ln w="9525">
            <a:solidFill>
              <a:srgbClr val="7B0000"/>
            </a:solidFill>
            <a:prstDash val="solid"/>
          </a:ln>
        </p:spPr>
      </p:sp>
      <p:sp>
        <p:nvSpPr>
          <p:cNvPr id="7" name="Text 5"/>
          <p:cNvSpPr txBox="1"/>
          <p:nvPr/>
        </p:nvSpPr>
        <p:spPr>
          <a:xfrm>
            <a:off x="411480" y="3931920"/>
            <a:ext cx="1463040" cy="2414016"/>
          </a:xfrm>
          <a:prstGeom prst="rect">
            <a:avLst/>
          </a:prstGeom>
          <a:noFill/>
          <a:ln/>
        </p:spPr>
        <p:txBody>
          <a:bodyPr wrap="square" lIns="0" tIns="0" rIns="0" bIns="0" rtlCol="0" anchor="b"/>
          <a:lstStyle/>
          <a:p>
            <a:pPr indent="0" marL="0">
              <a:lnSpc>
                <a:spcPct val="100000"/>
              </a:lnSpc>
              <a:spcAft>
                <a:spcPts val="300"/>
              </a:spcAft>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a:p>
            <a:pPr indent="0" marL="0">
              <a:lnSpc>
                <a:spcPct val="100000"/>
              </a:lnSpc>
              <a:spcAft>
                <a:spcPts val="300"/>
              </a:spcAft>
              <a:buNone/>
            </a:pPr>
            <a:r>
              <a:rPr lang="en-US" sz="700" dirty="0">
                <a:solidFill>
                  <a:srgbClr val="7A706D"/>
                </a:solidFill>
                <a:latin typeface="Arial" pitchFamily="34" charset="0"/>
                <a:ea typeface="Arial" pitchFamily="34" charset="-122"/>
                <a:cs typeface="Arial" pitchFamily="34" charset="-120"/>
              </a:rPr>
              <a:t>(2) Market salary for a general manager in the Columbus market, per management; a buyer’s own estimate may differ.</a:t>
            </a:r>
            <a:endParaRPr lang="en-US" sz="700" dirty="0"/>
          </a:p>
        </p:txBody>
      </p:sp>
      <p:sp>
        <p:nvSpPr>
          <p:cNvPr id="8" name="Text 6"/>
          <p:cNvSpPr txBox="1"/>
          <p:nvPr/>
        </p:nvSpPr>
        <p:spPr>
          <a:xfrm>
            <a:off x="2057400" y="5998464"/>
            <a:ext cx="9722815" cy="347472"/>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and payroll register, FY2023–FY2025; Management;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Adj. EBITDA and SDE are non-GAAP measures, reconciled to Reported EBITDA above. Financials are as provided by the Seller and have not been independently audited. Reference codes: [S] owner compensation, [N] normalization.</a:t>
            </a:r>
            <a:endParaRPr lang="en-US" sz="700" dirty="0"/>
          </a:p>
        </p:txBody>
      </p:sp>
      <p:sp>
        <p:nvSpPr>
          <p:cNvPr id="9" name="Shape 7"/>
          <p:cNvSpPr/>
          <p:nvPr/>
        </p:nvSpPr>
        <p:spPr>
          <a:xfrm>
            <a:off x="411480" y="6400800"/>
            <a:ext cx="11368735" cy="0"/>
          </a:xfrm>
          <a:prstGeom prst="line">
            <a:avLst/>
          </a:prstGeom>
          <a:noFill/>
          <a:ln w="6350">
            <a:solidFill>
              <a:srgbClr val="C2BAB8"/>
            </a:solidFill>
            <a:prstDash val="solid"/>
          </a:ln>
        </p:spPr>
      </p:sp>
      <p:sp>
        <p:nvSpPr>
          <p:cNvPr id="10" name="Text 8"/>
          <p:cNvSpPr txBox="1"/>
          <p:nvPr/>
        </p:nvSpPr>
        <p:spPr>
          <a:xfrm>
            <a:off x="411480" y="6455664"/>
            <a:ext cx="36576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endParaRPr lang="en-US" sz="750" dirty="0"/>
          </a:p>
        </p:txBody>
      </p:sp>
      <p:sp>
        <p:nvSpPr>
          <p:cNvPr id="11" name="Text 9"/>
          <p:cNvSpPr txBox="1"/>
          <p:nvPr/>
        </p:nvSpPr>
        <p:spPr>
          <a:xfrm>
            <a:off x="4267048" y="6455664"/>
            <a:ext cx="3657600"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12" name="Image 0" descr="/home/user/project-avengers/amb-material-bot/design/directions/b-editorial-boutique/amb-logo-tight.png">    </p:cNvPr>
          <p:cNvPicPr>
            <a:picLocks noChangeAspect="1"/>
          </p:cNvPicPr>
          <p:nvPr/>
        </p:nvPicPr>
        <p:blipFill>
          <a:blip r:embed="rId1"/>
          <a:stretch>
            <a:fillRect/>
          </a:stretch>
        </p:blipFill>
        <p:spPr>
          <a:xfrm>
            <a:off x="10629010" y="6464808"/>
            <a:ext cx="618110" cy="201168"/>
          </a:xfrm>
          <a:prstGeom prst="rect">
            <a:avLst/>
          </a:prstGeom>
        </p:spPr>
      </p:pic>
      <p:sp>
        <p:nvSpPr>
          <p:cNvPr id="13" name="Text 10"/>
          <p:cNvSpPr txBox="1"/>
          <p:nvPr/>
        </p:nvSpPr>
        <p:spPr>
          <a:xfrm>
            <a:off x="11368735" y="6455664"/>
            <a:ext cx="411480"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4</a:t>
            </a:r>
            <a:endParaRPr lang="en-US" sz="800" dirty="0"/>
          </a:p>
        </p:txBody>
      </p:sp>
      <p:sp>
        <p:nvSpPr>
          <p:cNvPr id="14" name="Text 11"/>
          <p:cNvSpPr txBox="1"/>
          <p:nvPr/>
        </p:nvSpPr>
        <p:spPr>
          <a:xfrm>
            <a:off x="2057400" y="1426464"/>
            <a:ext cx="7086600" cy="201168"/>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Adjusted EBITDA reconciliation</a:t>
            </a:r>
            <a:pPr indent="0" marL="0">
              <a:buNone/>
            </a:pP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5" name="Shape 12"/>
          <p:cNvSpPr/>
          <p:nvPr/>
        </p:nvSpPr>
        <p:spPr>
          <a:xfrm>
            <a:off x="2057400" y="1655064"/>
            <a:ext cx="7086600" cy="0"/>
          </a:xfrm>
          <a:prstGeom prst="line">
            <a:avLst/>
          </a:prstGeom>
          <a:noFill/>
          <a:ln w="6350">
            <a:solidFill>
              <a:srgbClr val="2C2523"/>
            </a:solidFill>
            <a:prstDash val="solid"/>
          </a:ln>
        </p:spPr>
      </p:sp>
      <p:sp>
        <p:nvSpPr>
          <p:cNvPr id="16" name="Text 13"/>
          <p:cNvSpPr txBox="1"/>
          <p:nvPr/>
        </p:nvSpPr>
        <p:spPr>
          <a:xfrm>
            <a:off x="411480" y="1444752"/>
            <a:ext cx="1463040" cy="329184"/>
          </a:xfrm>
          <a:prstGeom prst="rect">
            <a:avLst/>
          </a:prstGeom>
          <a:noFill/>
          <a:ln/>
        </p:spPr>
        <p:txBody>
          <a:bodyPr wrap="square" lIns="0" tIns="0" rIns="0" bIns="0" rtlCol="0" anchor="t"/>
          <a:lstStyle/>
          <a:p>
            <a:pPr indent="0" marL="0">
              <a:lnSpc>
                <a:spcPct val="110000"/>
              </a:lnSpc>
              <a:buNone/>
            </a:pPr>
            <a:r>
              <a:rPr lang="en-US" sz="750" b="1" dirty="0">
                <a:solidFill>
                  <a:srgbClr val="2C2523"/>
                </a:solidFill>
                <a:latin typeface="Arial" pitchFamily="34" charset="0"/>
                <a:ea typeface="Arial" pitchFamily="34" charset="-122"/>
                <a:cs typeface="Arial" pitchFamily="34" charset="-120"/>
              </a:rPr>
              <a:t>Exhibit 1</a:t>
            </a:r>
            <a:endParaRPr lang="en-US" sz="750" dirty="0"/>
          </a:p>
          <a:p>
            <a:pPr indent="0" marL="0">
              <a:lnSpc>
                <a:spcPct val="110000"/>
              </a:lnSpc>
              <a:buNone/>
            </a:pPr>
            <a:r>
              <a:rPr lang="en-US" sz="750" dirty="0">
                <a:solidFill>
                  <a:srgbClr val="7A706D"/>
                </a:solidFill>
                <a:latin typeface="Arial" pitchFamily="34" charset="0"/>
                <a:ea typeface="Arial" pitchFamily="34" charset="-122"/>
                <a:cs typeface="Arial" pitchFamily="34" charset="-120"/>
              </a:rPr>
              <a:t>Tier codes [S] and [N]; SDE shown</a:t>
            </a:r>
            <a:endParaRPr lang="en-US" sz="7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057400" y="1728216"/>
          <a:ext cx="7086600" cy="914400"/>
        </p:xfrm>
        <a:graphic>
          <a:graphicData uri="http://schemas.openxmlformats.org/drawingml/2006/table">
            <a:tbl>
              <a:tblPr/>
              <a:tblGrid>
                <a:gridCol w="438912"/>
                <a:gridCol w="2011680"/>
                <a:gridCol w="658368"/>
                <a:gridCol w="658368"/>
                <a:gridCol w="658368"/>
                <a:gridCol w="73152"/>
                <a:gridCol w="2587752"/>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Ref</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Adjustment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 and evidence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274320">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$157.0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$212.2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$316.4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QuickBooks Online P&amp;L; before interest, taxes, depreciation and amortization</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27432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compensation above replacement cost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Owner W-2 pay of $180K, $190K and $200K per payroll register, less a $95K general manager salary (2)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27432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[N1]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personal vehicle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Payments, fuel and insurance on a vehicle used personally; general ledger auto expense (1)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27432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[N2]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Charitable contributions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Donations to local organizations; discretionary and not tied to any customer account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27432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[N3]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One-time legal settlement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Single matter settled and paid in FY2024; no comparable expense in FY2023 or 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27432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[N4]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Family phones and personal meals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Family phone lines and meals coded to business expense in FY2025, per ledger review (1)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274320">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 adjustments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$106.0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$142.0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$136.5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43% of Reported EBITDA in FY2025, down from 68% in FY2023 as earnings grew</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274320">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50" b="1" dirty="0">
                          <a:solidFill>
                            <a:srgbClr val="FFFFFF"/>
                          </a:solidFill>
                          <a:latin typeface="Arial" pitchFamily="34" charset="0"/>
                          <a:ea typeface="Arial" pitchFamily="34" charset="-122"/>
                          <a:cs typeface="Arial" pitchFamily="34" charset="-120"/>
                        </a:rPr>
                        <a:t>Adj.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$263.0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$354.2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$452.9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FFFFFF"/>
                          </a:solidFill>
                          <a:latin typeface="Arial" pitchFamily="34" charset="0"/>
                          <a:ea typeface="Arial" pitchFamily="34" charset="-122"/>
                          <a:cs typeface="Arial" pitchFamily="34" charset="-120"/>
                        </a:rPr>
                        <a:t>Earnings after a market-rate general manager replaces the owner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274320">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Owner replacement salary</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Added back to state the earnings available to a single owner-operator (2)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274320">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SDE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$358.0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$449.2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$547.9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Seller’s discretionary earnings, the Main Street convention for businesses of this size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8" name="Shape 14"/>
          <p:cNvSpPr/>
          <p:nvPr/>
        </p:nvSpPr>
        <p:spPr>
          <a:xfrm>
            <a:off x="2057400" y="5202936"/>
            <a:ext cx="7086600" cy="548640"/>
          </a:xfrm>
          <a:prstGeom prst="rect">
            <a:avLst/>
          </a:prstGeom>
          <a:solidFill>
            <a:srgbClr val="F5EDEC"/>
          </a:solidFill>
          <a:ln w="12700">
            <a:solidFill>
              <a:srgbClr val="F5EDEC"/>
            </a:solidFill>
            <a:prstDash val="solid"/>
          </a:ln>
        </p:spPr>
      </p:sp>
      <p:sp>
        <p:nvSpPr>
          <p:cNvPr id="19" name="Shape 15"/>
          <p:cNvSpPr/>
          <p:nvPr/>
        </p:nvSpPr>
        <p:spPr>
          <a:xfrm>
            <a:off x="2057400" y="5202936"/>
            <a:ext cx="27432" cy="548640"/>
          </a:xfrm>
          <a:prstGeom prst="rect">
            <a:avLst/>
          </a:prstGeom>
          <a:solidFill>
            <a:srgbClr val="7B0000"/>
          </a:solidFill>
          <a:ln w="12700">
            <a:solidFill>
              <a:srgbClr val="7B0000"/>
            </a:solidFill>
            <a:prstDash val="solid"/>
          </a:ln>
        </p:spPr>
      </p:sp>
      <p:sp>
        <p:nvSpPr>
          <p:cNvPr id="20" name="Text 16"/>
          <p:cNvSpPr txBox="1"/>
          <p:nvPr/>
        </p:nvSpPr>
        <p:spPr>
          <a:xfrm>
            <a:off x="2185416" y="5202936"/>
            <a:ext cx="6867144" cy="548640"/>
          </a:xfrm>
          <a:prstGeom prst="rect">
            <a:avLst/>
          </a:prstGeom>
          <a:noFill/>
          <a:ln/>
        </p:spPr>
        <p:txBody>
          <a:bodyPr wrap="square" lIns="0" tIns="0" rIns="0" bIns="0" rtlCol="0" anchor="ctr"/>
          <a:lstStyle/>
          <a:p>
            <a:pPr indent="0" marL="0">
              <a:lnSpc>
                <a:spcPct val="108000"/>
              </a:lnSpc>
              <a:buNone/>
            </a:pPr>
            <a:r>
              <a:rPr lang="en-US" sz="950" b="1" dirty="0">
                <a:solidFill>
                  <a:srgbClr val="7B0000"/>
                </a:solidFill>
                <a:latin typeface="Arial" pitchFamily="34" charset="0"/>
                <a:ea typeface="Arial" pitchFamily="34" charset="-122"/>
                <a:cs typeface="Arial" pitchFamily="34" charset="-120"/>
              </a:rPr>
              <a:t>Takeaway: </a:t>
            </a:r>
            <a:pPr indent="0" marL="0">
              <a:lnSpc>
                <a:spcPct val="108000"/>
              </a:lnSpc>
              <a:buNone/>
            </a:pPr>
            <a:r>
              <a:rPr lang="en-US" sz="950" dirty="0">
                <a:solidFill>
                  <a:srgbClr val="2C2523"/>
                </a:solidFill>
                <a:latin typeface="Arial" pitchFamily="34" charset="0"/>
                <a:ea typeface="Arial" pitchFamily="34" charset="-122"/>
                <a:cs typeface="Arial" pitchFamily="34" charset="-120"/>
              </a:rPr>
              <a:t>Adjustments are 43% of FY2025 Reported EBITDA and 77% of them are one payroll line, so diligence on Adj. EBITDA is mainly a test of the $95K replacement salary.</a:t>
            </a:r>
            <a:endParaRPr lang="en-US" sz="950" dirty="0"/>
          </a:p>
        </p:txBody>
      </p:sp>
      <p:sp>
        <p:nvSpPr>
          <p:cNvPr id="21" name="Shape 17"/>
          <p:cNvSpPr/>
          <p:nvPr/>
        </p:nvSpPr>
        <p:spPr>
          <a:xfrm>
            <a:off x="9281160" y="1426464"/>
            <a:ext cx="0" cy="4517136"/>
          </a:xfrm>
          <a:prstGeom prst="line">
            <a:avLst/>
          </a:prstGeom>
          <a:noFill/>
          <a:ln w="6350">
            <a:solidFill>
              <a:srgbClr val="C2BAB8"/>
            </a:solidFill>
            <a:prstDash val="solid"/>
          </a:ln>
        </p:spPr>
      </p:sp>
      <p:sp>
        <p:nvSpPr>
          <p:cNvPr id="22" name="Text 18"/>
          <p:cNvSpPr txBox="1"/>
          <p:nvPr/>
        </p:nvSpPr>
        <p:spPr>
          <a:xfrm>
            <a:off x="9418320" y="1426464"/>
            <a:ext cx="2361895" cy="4517136"/>
          </a:xfrm>
          <a:prstGeom prst="rect">
            <a:avLst/>
          </a:prstGeom>
          <a:noFill/>
          <a:ln/>
        </p:spPr>
        <p:txBody>
          <a:bodyPr wrap="square" lIns="0" tIns="0" rIns="0" bIns="0" rtlCol="0" anchor="t"/>
          <a:lstStyle/>
          <a:p>
            <a:pPr marL="139700" indent="-139700">
              <a:lnSpc>
                <a:spcPct val="108000"/>
              </a:lnSpc>
              <a:spcAft>
                <a:spcPts val="500"/>
              </a:spcAft>
              <a:buClr>
                <a:srgbClr val="7B0000"/>
              </a:buClr>
              <a:buSzPct val="100000"/>
              <a:buChar char="▪"/>
            </a:pPr>
            <a:r>
              <a:rPr lang="en-US" sz="900" b="1" dirty="0">
                <a:solidFill>
                  <a:srgbClr val="2C2523"/>
                </a:solidFill>
                <a:latin typeface="Arial" pitchFamily="34" charset="0"/>
                <a:ea typeface="Arial" pitchFamily="34" charset="-122"/>
                <a:cs typeface="Arial" pitchFamily="34" charset="-120"/>
              </a:rPr>
              <a:t>Owner compensation is the only large item. </a:t>
            </a:r>
            <a:pPr indent="0" marL="0">
              <a:lnSpc>
                <a:spcPct val="108000"/>
              </a:lnSpc>
              <a:buNone/>
            </a:pPr>
            <a:r>
              <a:rPr lang="en-US" sz="900" dirty="0">
                <a:solidFill>
                  <a:srgbClr val="2C2523"/>
                </a:solidFill>
                <a:latin typeface="Arial" pitchFamily="34" charset="0"/>
                <a:ea typeface="Arial" pitchFamily="34" charset="-122"/>
                <a:cs typeface="Arial" pitchFamily="34" charset="-120"/>
              </a:rPr>
              <a:t>[S1] restates the owner’s pay of $200K in FY2025 to the $95K a general manager would cost, and accounts for $105K of the $136.5K of FY2025 adjustments (77%).</a:t>
            </a:r>
            <a:endParaRPr lang="en-US" sz="900" dirty="0"/>
          </a:p>
          <a:p>
            <a:pPr marL="139700" indent="-139700">
              <a:lnSpc>
                <a:spcPct val="108000"/>
              </a:lnSpc>
              <a:spcAft>
                <a:spcPts val="500"/>
              </a:spcAft>
              <a:buClr>
                <a:srgbClr val="7B0000"/>
              </a:buClr>
              <a:buSzPct val="100000"/>
              <a:buChar char="▪"/>
            </a:pPr>
            <a:r>
              <a:rPr lang="en-US" sz="900" b="1" dirty="0">
                <a:solidFill>
                  <a:srgbClr val="2C2523"/>
                </a:solidFill>
                <a:latin typeface="Arial" pitchFamily="34" charset="0"/>
                <a:ea typeface="Arial" pitchFamily="34" charset="-122"/>
                <a:cs typeface="Arial" pitchFamily="34" charset="-120"/>
              </a:rPr>
              <a:t>Personal expense is small and specific. </a:t>
            </a:r>
            <a:pPr indent="0" marL="0">
              <a:lnSpc>
                <a:spcPct val="108000"/>
              </a:lnSpc>
              <a:buNone/>
            </a:pPr>
            <a:r>
              <a:rPr lang="en-US" sz="900" dirty="0">
                <a:solidFill>
                  <a:srgbClr val="2C2523"/>
                </a:solidFill>
                <a:latin typeface="Arial" pitchFamily="34" charset="0"/>
                <a:ea typeface="Arial" pitchFamily="34" charset="-122"/>
                <a:cs typeface="Arial" pitchFamily="34" charset="-120"/>
              </a:rPr>
              <a:t>[N1], [N2] and [N4] total $31.5K in FY2025, 1.0% of revenue, and each maps to a named ledger account.</a:t>
            </a:r>
            <a:endParaRPr lang="en-US" sz="900" dirty="0"/>
          </a:p>
          <a:p>
            <a:pPr marL="139700" indent="-139700">
              <a:lnSpc>
                <a:spcPct val="108000"/>
              </a:lnSpc>
              <a:spcAft>
                <a:spcPts val="500"/>
              </a:spcAft>
              <a:buClr>
                <a:srgbClr val="7B0000"/>
              </a:buClr>
              <a:buSzPct val="100000"/>
              <a:buChar char="▪"/>
            </a:pPr>
            <a:r>
              <a:rPr lang="en-US" sz="900" b="1" dirty="0">
                <a:solidFill>
                  <a:srgbClr val="2C2523"/>
                </a:solidFill>
                <a:latin typeface="Arial" pitchFamily="34" charset="0"/>
                <a:ea typeface="Arial" pitchFamily="34" charset="-122"/>
                <a:cs typeface="Arial" pitchFamily="34" charset="-120"/>
              </a:rPr>
              <a:t>One nonrecurring item, in one year. </a:t>
            </a:r>
            <a:pPr indent="0" marL="0">
              <a:lnSpc>
                <a:spcPct val="108000"/>
              </a:lnSpc>
              <a:buNone/>
            </a:pPr>
            <a:r>
              <a:rPr lang="en-US" sz="900" dirty="0">
                <a:solidFill>
                  <a:srgbClr val="2C2523"/>
                </a:solidFill>
                <a:latin typeface="Arial" pitchFamily="34" charset="0"/>
                <a:ea typeface="Arial" pitchFamily="34" charset="-122"/>
                <a:cs typeface="Arial" pitchFamily="34" charset="-120"/>
              </a:rPr>
              <a:t>The $24K settlement [N3] fell in FY2024 only. Even without the add-back, FY2024 Adj. EBITDA would have grown 26% over FY2023.</a:t>
            </a:r>
            <a:endParaRPr lang="en-US" sz="900" dirty="0"/>
          </a:p>
          <a:p>
            <a:pPr marL="139700" indent="-139700">
              <a:lnSpc>
                <a:spcPct val="108000"/>
              </a:lnSpc>
              <a:spcAft>
                <a:spcPts val="500"/>
              </a:spcAft>
              <a:buClr>
                <a:srgbClr val="7B0000"/>
              </a:buClr>
              <a:buSzPct val="100000"/>
              <a:buChar char="▪"/>
            </a:pPr>
            <a:r>
              <a:rPr lang="en-US" sz="900" b="1" dirty="0">
                <a:solidFill>
                  <a:srgbClr val="2C2523"/>
                </a:solidFill>
                <a:latin typeface="Arial" pitchFamily="34" charset="0"/>
                <a:ea typeface="Arial" pitchFamily="34" charset="-122"/>
                <a:cs typeface="Arial" pitchFamily="34" charset="-120"/>
              </a:rPr>
              <a:t>Owner pay rose $10K a year. </a:t>
            </a:r>
            <a:pPr indent="0" marL="0">
              <a:lnSpc>
                <a:spcPct val="108000"/>
              </a:lnSpc>
              <a:buNone/>
            </a:pPr>
            <a:r>
              <a:rPr lang="en-US" sz="900" dirty="0">
                <a:solidFill>
                  <a:srgbClr val="2C2523"/>
                </a:solidFill>
                <a:latin typeface="Arial" pitchFamily="34" charset="0"/>
                <a:ea typeface="Arial" pitchFamily="34" charset="-122"/>
                <a:cs typeface="Arial" pitchFamily="34" charset="-120"/>
              </a:rPr>
              <a:t>W-2 pay went from $180K to $200K over FY2023–FY2025 while the replacement salary is held flat at $95K, so [S1] rises from $85K to $105K.</a:t>
            </a:r>
            <a:endParaRPr lang="en-US" sz="900" dirty="0"/>
          </a:p>
          <a:p>
            <a:pPr marL="139700" indent="-139700">
              <a:lnSpc>
                <a:spcPct val="108000"/>
              </a:lnSpc>
              <a:spcAft>
                <a:spcPts val="500"/>
              </a:spcAft>
              <a:buClr>
                <a:srgbClr val="7B0000"/>
              </a:buClr>
              <a:buSzPct val="100000"/>
              <a:buChar char="▪"/>
            </a:pPr>
            <a:r>
              <a:rPr lang="en-US" sz="900" b="1" dirty="0">
                <a:solidFill>
                  <a:srgbClr val="2C2523"/>
                </a:solidFill>
                <a:latin typeface="Arial" pitchFamily="34" charset="0"/>
                <a:ea typeface="Arial" pitchFamily="34" charset="-122"/>
                <a:cs typeface="Arial" pitchFamily="34" charset="-120"/>
              </a:rPr>
              <a:t>SDE is the Main Street headline. </a:t>
            </a:r>
            <a:pPr indent="0" marL="0">
              <a:lnSpc>
                <a:spcPct val="108000"/>
              </a:lnSpc>
              <a:buNone/>
            </a:pPr>
            <a:r>
              <a:rPr lang="en-US" sz="900" dirty="0">
                <a:solidFill>
                  <a:srgbClr val="2C2523"/>
                </a:solidFill>
                <a:latin typeface="Arial" pitchFamily="34" charset="0"/>
                <a:ea typeface="Arial" pitchFamily="34" charset="-122"/>
                <a:cs typeface="Arial" pitchFamily="34" charset="-120"/>
              </a:rPr>
              <a:t>SDE of $547.9K (18.0% of revenue) adds the $95K salary back to Adj. EBITDA; it is the measure an owner-operator buyer would use.</a:t>
            </a:r>
            <a:endParaRPr lang="en-US" sz="900" dirty="0"/>
          </a:p>
          <a:p>
            <a:pPr marL="139700" indent="-139700">
              <a:lnSpc>
                <a:spcPct val="108000"/>
              </a:lnSpc>
              <a:spcAft>
                <a:spcPts val="500"/>
              </a:spcAft>
              <a:buClr>
                <a:srgbClr val="7B0000"/>
              </a:buClr>
              <a:buSzPct val="100000"/>
              <a:buChar char="▪"/>
            </a:pPr>
            <a:r>
              <a:rPr lang="en-US" sz="900" b="1" dirty="0">
                <a:solidFill>
                  <a:srgbClr val="2C2523"/>
                </a:solidFill>
                <a:latin typeface="Arial" pitchFamily="34" charset="0"/>
                <a:ea typeface="Arial" pitchFamily="34" charset="-122"/>
                <a:cs typeface="Arial" pitchFamily="34" charset="-120"/>
              </a:rPr>
              <a:t>Nothing pro forma is included. </a:t>
            </a:r>
            <a:pPr indent="0" marL="0">
              <a:lnSpc>
                <a:spcPct val="108000"/>
              </a:lnSpc>
              <a:buNone/>
            </a:pPr>
            <a:r>
              <a:rPr lang="en-US" sz="900" dirty="0">
                <a:solidFill>
                  <a:srgbClr val="2C2523"/>
                </a:solidFill>
                <a:latin typeface="Arial" pitchFamily="34" charset="0"/>
                <a:ea typeface="Arial" pitchFamily="34" charset="-122"/>
                <a:cs typeface="Arial" pitchFamily="34" charset="-120"/>
              </a:rPr>
              <a:t>The schedule does not assume price increases, after-hours plumbing, added maintenance penetration or any change in staffing; each is left to the buyer’s own plan.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82880"/>
            <a:ext cx="11368735" cy="768096"/>
          </a:xfrm>
          <a:prstGeom prst="rect">
            <a:avLst/>
          </a:prstGeom>
          <a:noFill/>
          <a:ln/>
        </p:spPr>
        <p:txBody>
          <a:bodyPr wrap="square" lIns="0" tIns="0" rIns="0" bIns="0" rtlCol="0" anchor="b"/>
          <a:lstStyle/>
          <a:p>
            <a:pPr indent="0" marL="0">
              <a:lnSpc>
                <a:spcPct val="100000"/>
              </a:lnSpc>
              <a:buNone/>
            </a:pPr>
            <a:r>
              <a:rPr lang="en-US" sz="2200" b="1" dirty="0">
                <a:solidFill>
                  <a:srgbClr val="7B0000"/>
                </a:solidFill>
                <a:latin typeface="Georgia" pitchFamily="34" charset="0"/>
                <a:ea typeface="Georgia" pitchFamily="34" charset="-122"/>
                <a:cs typeface="Georgia" pitchFamily="34" charset="-120"/>
              </a:rPr>
              <a:t>Residential work is 64% of $3.04M FY2025 revenue and no customer exceeds 4%; 1,450 members renew at 82%</a:t>
            </a:r>
            <a:endParaRPr lang="en-US" sz="2200" dirty="0"/>
          </a:p>
        </p:txBody>
      </p:sp>
      <p:sp>
        <p:nvSpPr>
          <p:cNvPr id="3" name="Text 1"/>
          <p:cNvSpPr txBox="1"/>
          <p:nvPr/>
        </p:nvSpPr>
        <p:spPr>
          <a:xfrm>
            <a:off x="411480" y="987552"/>
            <a:ext cx="1463040" cy="237744"/>
          </a:xfrm>
          <a:prstGeom prst="rect">
            <a:avLst/>
          </a:prstGeom>
          <a:noFill/>
          <a:ln/>
        </p:spPr>
        <p:txBody>
          <a:bodyPr wrap="square" lIns="0" tIns="0" rIns="0" bIns="0" rtlCol="0" anchor="ctr"/>
          <a:lstStyle/>
          <a:p>
            <a:pPr indent="0" marL="0">
              <a:lnSpc>
                <a:spcPct val="110000"/>
              </a:lnSpc>
              <a:buNone/>
            </a:pPr>
            <a:r>
              <a:rPr lang="en-US" sz="800" b="1" dirty="0">
                <a:solidFill>
                  <a:srgbClr val="7B0000"/>
                </a:solidFill>
                <a:latin typeface="Arial" pitchFamily="34" charset="0"/>
                <a:ea typeface="Arial" pitchFamily="34" charset="-122"/>
                <a:cs typeface="Arial" pitchFamily="34" charset="-120"/>
              </a:rPr>
              <a:t>Customers</a:t>
            </a:r>
            <a:endParaRPr lang="en-US" sz="800" dirty="0"/>
          </a:p>
          <a:p>
            <a:pPr indent="0" marL="0">
              <a:lnSpc>
                <a:spcPct val="110000"/>
              </a:lnSpc>
              <a:buNone/>
            </a:pPr>
            <a:r>
              <a:rPr lang="en-US" sz="800" dirty="0">
                <a:solidFill>
                  <a:srgbClr val="7A706D"/>
                </a:solidFill>
                <a:latin typeface="Arial" pitchFamily="34" charset="0"/>
                <a:ea typeface="Arial" pitchFamily="34" charset="-122"/>
                <a:cs typeface="Arial" pitchFamily="34" charset="-120"/>
              </a:rPr>
              <a:t>Revenue mix and concentration</a:t>
            </a:r>
            <a:endParaRPr lang="en-US" sz="800" dirty="0"/>
          </a:p>
        </p:txBody>
      </p:sp>
      <p:sp>
        <p:nvSpPr>
          <p:cNvPr id="4" name="Text 2"/>
          <p:cNvSpPr txBox="1"/>
          <p:nvPr/>
        </p:nvSpPr>
        <p:spPr>
          <a:xfrm>
            <a:off x="2057400" y="987552"/>
            <a:ext cx="9722815" cy="237744"/>
          </a:xfrm>
          <a:prstGeom prst="rect">
            <a:avLst/>
          </a:prstGeom>
          <a:noFill/>
          <a:ln/>
        </p:spPr>
        <p:txBody>
          <a:bodyPr wrap="square" lIns="0" tIns="0" rIns="0" bIns="0" rtlCol="0" anchor="ctr"/>
          <a:lstStyle/>
          <a:p>
            <a:pPr indent="0" marL="0">
              <a:buNone/>
            </a:pPr>
            <a:r>
              <a:rPr lang="en-US" sz="1150" dirty="0">
                <a:solidFill>
                  <a:srgbClr val="7B0000"/>
                </a:solidFill>
                <a:latin typeface="Georgia" pitchFamily="34" charset="0"/>
                <a:ea typeface="Georgia" pitchFamily="34" charset="-122"/>
                <a:cs typeface="Georgia" pitchFamily="34" charset="-120"/>
              </a:rPr>
              <a:t>Commercial accounts (27%) are property managers, offices and four restaurant groups; maintenance agreements are 9%.</a:t>
            </a:r>
            <a:endParaRPr lang="en-US" sz="1150" dirty="0"/>
          </a:p>
        </p:txBody>
      </p:sp>
      <p:sp>
        <p:nvSpPr>
          <p:cNvPr id="5" name="Shape 3"/>
          <p:cNvSpPr/>
          <p:nvPr/>
        </p:nvSpPr>
        <p:spPr>
          <a:xfrm>
            <a:off x="411480" y="1280160"/>
            <a:ext cx="11368735" cy="0"/>
          </a:xfrm>
          <a:prstGeom prst="line">
            <a:avLst/>
          </a:prstGeom>
          <a:noFill/>
          <a:ln w="9525">
            <a:solidFill>
              <a:srgbClr val="7B0000"/>
            </a:solidFill>
            <a:prstDash val="solid"/>
          </a:ln>
        </p:spPr>
      </p:sp>
      <p:sp>
        <p:nvSpPr>
          <p:cNvPr id="6" name="Shape 4"/>
          <p:cNvSpPr/>
          <p:nvPr/>
        </p:nvSpPr>
        <p:spPr>
          <a:xfrm>
            <a:off x="1965960" y="1280160"/>
            <a:ext cx="0" cy="5065776"/>
          </a:xfrm>
          <a:prstGeom prst="line">
            <a:avLst/>
          </a:prstGeom>
          <a:noFill/>
          <a:ln w="9525">
            <a:solidFill>
              <a:srgbClr val="7B0000"/>
            </a:solidFill>
            <a:prstDash val="solid"/>
          </a:ln>
        </p:spPr>
      </p:sp>
      <p:sp>
        <p:nvSpPr>
          <p:cNvPr id="7" name="Text 5"/>
          <p:cNvSpPr txBox="1"/>
          <p:nvPr/>
        </p:nvSpPr>
        <p:spPr>
          <a:xfrm>
            <a:off x="411480" y="3931920"/>
            <a:ext cx="1463040" cy="2414016"/>
          </a:xfrm>
          <a:prstGeom prst="rect">
            <a:avLst/>
          </a:prstGeom>
          <a:noFill/>
          <a:ln/>
        </p:spPr>
        <p:txBody>
          <a:bodyPr wrap="square" lIns="0" tIns="0" rIns="0" bIns="0" rtlCol="0" anchor="b"/>
          <a:lstStyle/>
          <a:p>
            <a:pPr indent="0" marL="0">
              <a:lnSpc>
                <a:spcPct val="100000"/>
              </a:lnSpc>
              <a:spcAft>
                <a:spcPts val="300"/>
              </a:spcAft>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p:txBody>
      </p:sp>
      <p:sp>
        <p:nvSpPr>
          <p:cNvPr id="8" name="Text 6"/>
          <p:cNvSpPr txBox="1"/>
          <p:nvPr/>
        </p:nvSpPr>
        <p:spPr>
          <a:xfrm>
            <a:off x="2057400" y="5998464"/>
            <a:ext cx="9722815" cy="347472"/>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ServiceTitan revenue and membership reports, FY2025; Company financial statements (QuickBooks Online); Management;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Revenue by line per ServiceTitan job type, tied to QuickBooks Online total revenue. Customers are coded (C-001) and not named.</a:t>
            </a:r>
            <a:endParaRPr lang="en-US" sz="700" dirty="0"/>
          </a:p>
        </p:txBody>
      </p:sp>
      <p:sp>
        <p:nvSpPr>
          <p:cNvPr id="9" name="Shape 7"/>
          <p:cNvSpPr/>
          <p:nvPr/>
        </p:nvSpPr>
        <p:spPr>
          <a:xfrm>
            <a:off x="411480" y="6400800"/>
            <a:ext cx="11368735" cy="0"/>
          </a:xfrm>
          <a:prstGeom prst="line">
            <a:avLst/>
          </a:prstGeom>
          <a:noFill/>
          <a:ln w="6350">
            <a:solidFill>
              <a:srgbClr val="C2BAB8"/>
            </a:solidFill>
            <a:prstDash val="solid"/>
          </a:ln>
        </p:spPr>
      </p:sp>
      <p:sp>
        <p:nvSpPr>
          <p:cNvPr id="10" name="Text 8"/>
          <p:cNvSpPr txBox="1"/>
          <p:nvPr/>
        </p:nvSpPr>
        <p:spPr>
          <a:xfrm>
            <a:off x="411480" y="6455664"/>
            <a:ext cx="36576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endParaRPr lang="en-US" sz="750" dirty="0"/>
          </a:p>
        </p:txBody>
      </p:sp>
      <p:sp>
        <p:nvSpPr>
          <p:cNvPr id="11" name="Text 9"/>
          <p:cNvSpPr txBox="1"/>
          <p:nvPr/>
        </p:nvSpPr>
        <p:spPr>
          <a:xfrm>
            <a:off x="4267048" y="6455664"/>
            <a:ext cx="3657600"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12" name="Image 0" descr="/home/user/project-avengers/amb-material-bot/design/directions/b-editorial-boutique/amb-logo-tight.png">    </p:cNvPr>
          <p:cNvPicPr>
            <a:picLocks noChangeAspect="1"/>
          </p:cNvPicPr>
          <p:nvPr/>
        </p:nvPicPr>
        <p:blipFill>
          <a:blip r:embed="rId1"/>
          <a:stretch>
            <a:fillRect/>
          </a:stretch>
        </p:blipFill>
        <p:spPr>
          <a:xfrm>
            <a:off x="10629010" y="6464808"/>
            <a:ext cx="618110" cy="201168"/>
          </a:xfrm>
          <a:prstGeom prst="rect">
            <a:avLst/>
          </a:prstGeom>
        </p:spPr>
      </p:pic>
      <p:sp>
        <p:nvSpPr>
          <p:cNvPr id="13" name="Text 10"/>
          <p:cNvSpPr txBox="1"/>
          <p:nvPr/>
        </p:nvSpPr>
        <p:spPr>
          <a:xfrm>
            <a:off x="11368735" y="6455664"/>
            <a:ext cx="411480"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5</a:t>
            </a:r>
            <a:endParaRPr lang="en-US" sz="800" dirty="0"/>
          </a:p>
        </p:txBody>
      </p:sp>
      <p:sp>
        <p:nvSpPr>
          <p:cNvPr id="14" name="Shape 11"/>
          <p:cNvSpPr/>
          <p:nvPr/>
        </p:nvSpPr>
        <p:spPr>
          <a:xfrm>
            <a:off x="1947672" y="1408176"/>
            <a:ext cx="4270248" cy="2560320"/>
          </a:xfrm>
          <a:prstGeom prst="rect">
            <a:avLst/>
          </a:prstGeom>
          <a:solidFill>
            <a:srgbClr val="F5EDEC"/>
          </a:solidFill>
          <a:ln w="12700">
            <a:solidFill>
              <a:srgbClr val="F5EDEC"/>
            </a:solidFill>
            <a:prstDash val="solid"/>
          </a:ln>
        </p:spPr>
      </p:sp>
      <p:sp>
        <p:nvSpPr>
          <p:cNvPr id="15" name="Text 12"/>
          <p:cNvSpPr txBox="1"/>
          <p:nvPr/>
        </p:nvSpPr>
        <p:spPr>
          <a:xfrm>
            <a:off x="2057400" y="1481328"/>
            <a:ext cx="4050792" cy="201168"/>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FY2025 revenue by service line</a:t>
            </a:r>
            <a:pPr indent="0" marL="0">
              <a:buNone/>
            </a:pP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6" name="Shape 13"/>
          <p:cNvSpPr/>
          <p:nvPr/>
        </p:nvSpPr>
        <p:spPr>
          <a:xfrm>
            <a:off x="2057400" y="1709928"/>
            <a:ext cx="4050792" cy="0"/>
          </a:xfrm>
          <a:prstGeom prst="line">
            <a:avLst/>
          </a:prstGeom>
          <a:noFill/>
          <a:ln w="6350">
            <a:solidFill>
              <a:srgbClr val="2C2523"/>
            </a:solidFill>
            <a:prstDash val="solid"/>
          </a:ln>
        </p:spPr>
      </p:sp>
      <p:sp>
        <p:nvSpPr>
          <p:cNvPr id="17" name="Text 14"/>
          <p:cNvSpPr txBox="1"/>
          <p:nvPr/>
        </p:nvSpPr>
        <p:spPr>
          <a:xfrm>
            <a:off x="411480" y="1499616"/>
            <a:ext cx="1463040" cy="329184"/>
          </a:xfrm>
          <a:prstGeom prst="rect">
            <a:avLst/>
          </a:prstGeom>
          <a:noFill/>
          <a:ln/>
        </p:spPr>
        <p:txBody>
          <a:bodyPr wrap="square" lIns="0" tIns="0" rIns="0" bIns="0" rtlCol="0" anchor="t"/>
          <a:lstStyle/>
          <a:p>
            <a:pPr indent="0" marL="0">
              <a:lnSpc>
                <a:spcPct val="110000"/>
              </a:lnSpc>
              <a:buNone/>
            </a:pPr>
            <a:r>
              <a:rPr lang="en-US" sz="750" b="1" dirty="0">
                <a:solidFill>
                  <a:srgbClr val="2C2523"/>
                </a:solidFill>
                <a:latin typeface="Arial" pitchFamily="34" charset="0"/>
                <a:ea typeface="Arial" pitchFamily="34" charset="-122"/>
                <a:cs typeface="Arial" pitchFamily="34" charset="-120"/>
              </a:rPr>
              <a:t>Exhibit 1</a:t>
            </a:r>
            <a:endParaRPr lang="en-US" sz="750" dirty="0"/>
          </a:p>
          <a:p>
            <a:pPr indent="0" marL="0">
              <a:lnSpc>
                <a:spcPct val="110000"/>
              </a:lnSpc>
              <a:buNone/>
            </a:pPr>
            <a:r>
              <a:rPr lang="en-US" sz="750" dirty="0">
                <a:solidFill>
                  <a:srgbClr val="7A706D"/>
                </a:solidFill>
                <a:latin typeface="Arial" pitchFamily="34" charset="0"/>
                <a:ea typeface="Arial" pitchFamily="34" charset="-122"/>
                <a:cs typeface="Arial" pitchFamily="34" charset="-120"/>
              </a:rPr>
              <a:t>Share of revenue in each label</a:t>
            </a:r>
            <a:endParaRPr lang="en-US" sz="750" dirty="0"/>
          </a:p>
        </p:txBody>
      </p:sp>
      <p:graphicFrame>
        <p:nvGraphicFramePr>
          <p:cNvPr id="18" name="Chart 0" descr=""/>
          <p:cNvGraphicFramePr/>
          <p:nvPr/>
        </p:nvGraphicFramePr>
        <p:xfrm>
          <a:off x="2057400" y="1801368"/>
          <a:ext cx="4050792" cy="2075688"/>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txBox="1"/>
          <p:nvPr/>
        </p:nvSpPr>
        <p:spPr>
          <a:xfrm>
            <a:off x="2057400" y="4151376"/>
            <a:ext cx="4160520" cy="1792224"/>
          </a:xfrm>
          <a:prstGeom prst="rect">
            <a:avLst/>
          </a:prstGeom>
          <a:noFill/>
          <a:ln/>
        </p:spPr>
        <p:txBody>
          <a:bodyPr wrap="square" lIns="0" tIns="0" rIns="0" bIns="0" rtlCol="0" anchor="t"/>
          <a:lstStyle/>
          <a:p>
            <a:pPr marL="139700" indent="-139700">
              <a:lnSpc>
                <a:spcPct val="108000"/>
              </a:lnSpc>
              <a:spcAft>
                <a:spcPts val="500"/>
              </a:spcAft>
              <a:buClr>
                <a:srgbClr val="7B0000"/>
              </a:buClr>
              <a:buSzPct val="100000"/>
              <a:buChar char="▪"/>
            </a:pPr>
            <a:r>
              <a:rPr lang="en-US" sz="900" b="1" dirty="0">
                <a:solidFill>
                  <a:srgbClr val="2C2523"/>
                </a:solidFill>
                <a:latin typeface="Arial" pitchFamily="34" charset="0"/>
                <a:ea typeface="Arial" pitchFamily="34" charset="-122"/>
                <a:cs typeface="Arial" pitchFamily="34" charset="-120"/>
              </a:rPr>
              <a:t>Concentration is low. </a:t>
            </a:r>
            <a:pPr indent="0" marL="0">
              <a:lnSpc>
                <a:spcPct val="108000"/>
              </a:lnSpc>
              <a:buNone/>
            </a:pPr>
            <a:r>
              <a:rPr lang="en-US" sz="900" dirty="0">
                <a:solidFill>
                  <a:srgbClr val="2C2523"/>
                </a:solidFill>
                <a:latin typeface="Arial" pitchFamily="34" charset="0"/>
                <a:ea typeface="Arial" pitchFamily="34" charset="-122"/>
                <a:cs typeface="Arial" pitchFamily="34" charset="-120"/>
              </a:rPr>
              <a:t>The largest customer, a commercial property manager (C-001), is about 4% of FY2025 revenue; the residential line, 64% of revenue, is single-household jobs.</a:t>
            </a:r>
            <a:endParaRPr lang="en-US" sz="900" dirty="0"/>
          </a:p>
          <a:p>
            <a:pPr marL="139700" indent="-139700">
              <a:lnSpc>
                <a:spcPct val="108000"/>
              </a:lnSpc>
              <a:spcAft>
                <a:spcPts val="500"/>
              </a:spcAft>
              <a:buClr>
                <a:srgbClr val="7B0000"/>
              </a:buClr>
              <a:buSzPct val="100000"/>
              <a:buChar char="▪"/>
            </a:pPr>
            <a:r>
              <a:rPr lang="en-US" sz="900" b="1" dirty="0">
                <a:solidFill>
                  <a:srgbClr val="2C2523"/>
                </a:solidFill>
                <a:latin typeface="Arial" pitchFamily="34" charset="0"/>
                <a:ea typeface="Arial" pitchFamily="34" charset="-122"/>
                <a:cs typeface="Arial" pitchFamily="34" charset="-120"/>
              </a:rPr>
              <a:t>Maintenance agreements are the recurring layer. </a:t>
            </a:r>
            <a:pPr indent="0" marL="0">
              <a:lnSpc>
                <a:spcPct val="108000"/>
              </a:lnSpc>
              <a:buNone/>
            </a:pPr>
            <a:r>
              <a:rPr lang="en-US" sz="900" dirty="0">
                <a:solidFill>
                  <a:srgbClr val="2C2523"/>
                </a:solidFill>
                <a:latin typeface="Arial" pitchFamily="34" charset="0"/>
                <a:ea typeface="Arial" pitchFamily="34" charset="-122"/>
                <a:cs typeface="Arial" pitchFamily="34" charset="-120"/>
              </a:rPr>
              <a:t>1,450 members paid $273.7K in FY2025, about $189 each, and renew at 82% (1); two tune-ups a year and a 15% repair discount keep members’ repair work with Ridgeline.</a:t>
            </a:r>
            <a:endParaRPr lang="en-US" sz="900" dirty="0"/>
          </a:p>
          <a:p>
            <a:pPr marL="139700" indent="-139700">
              <a:lnSpc>
                <a:spcPct val="108000"/>
              </a:lnSpc>
              <a:spcAft>
                <a:spcPts val="500"/>
              </a:spcAft>
              <a:buClr>
                <a:srgbClr val="7B0000"/>
              </a:buClr>
              <a:buSzPct val="100000"/>
              <a:buChar char="▪"/>
            </a:pPr>
            <a:r>
              <a:rPr lang="en-US" sz="900" b="1" dirty="0">
                <a:solidFill>
                  <a:srgbClr val="2C2523"/>
                </a:solidFill>
                <a:latin typeface="Arial" pitchFamily="34" charset="0"/>
                <a:ea typeface="Arial" pitchFamily="34" charset="-122"/>
                <a:cs typeface="Arial" pitchFamily="34" charset="-120"/>
              </a:rPr>
              <a:t>Attach rate is the open lever. </a:t>
            </a:r>
            <a:pPr indent="0" marL="0">
              <a:lnSpc>
                <a:spcPct val="108000"/>
              </a:lnSpc>
              <a:buNone/>
            </a:pPr>
            <a:r>
              <a:rPr lang="en-US" sz="900" dirty="0">
                <a:solidFill>
                  <a:srgbClr val="2C2523"/>
                </a:solidFill>
                <a:latin typeface="Arial" pitchFamily="34" charset="0"/>
                <a:ea typeface="Arial" pitchFamily="34" charset="-122"/>
                <a:cs typeface="Arial" pitchFamily="34" charset="-120"/>
              </a:rPr>
              <a:t>Agreements are offered on about 35% of service calls (1), and two property managers have asked for quotes on additional buildings.</a:t>
            </a:r>
            <a:endParaRPr lang="en-US" sz="900" dirty="0"/>
          </a:p>
          <a:p>
            <a:pPr marL="139700" indent="-139700">
              <a:lnSpc>
                <a:spcPct val="108000"/>
              </a:lnSpc>
              <a:spcAft>
                <a:spcPts val="500"/>
              </a:spcAft>
              <a:buClr>
                <a:srgbClr val="7B0000"/>
              </a:buClr>
              <a:buSzPct val="100000"/>
              <a:buChar char="▪"/>
            </a:pPr>
            <a:r>
              <a:rPr lang="en-US" sz="900" b="1" dirty="0">
                <a:solidFill>
                  <a:srgbClr val="2C2523"/>
                </a:solidFill>
                <a:latin typeface="Arial" pitchFamily="34" charset="0"/>
                <a:ea typeface="Arial" pitchFamily="34" charset="-122"/>
                <a:cs typeface="Arial" pitchFamily="34" charset="-120"/>
              </a:rPr>
              <a:t>Reviews, not paid marketing, generate leads. </a:t>
            </a:r>
            <a:pPr indent="0" marL="0">
              <a:lnSpc>
                <a:spcPct val="108000"/>
              </a:lnSpc>
              <a:buNone/>
            </a:pPr>
            <a:r>
              <a:rPr lang="en-US" sz="900" dirty="0">
                <a:solidFill>
                  <a:srgbClr val="2C2523"/>
                </a:solidFill>
                <a:latin typeface="Arial" pitchFamily="34" charset="0"/>
                <a:ea typeface="Arial" pitchFamily="34" charset="-122"/>
                <a:cs typeface="Arial" pitchFamily="34" charset="-120"/>
              </a:rPr>
              <a:t>Most leads come from referrals and a 4.8 Google rating on more than 900 reviews (1); paid digital spend is small.</a:t>
            </a:r>
            <a:endParaRPr lang="en-US" sz="900" dirty="0"/>
          </a:p>
        </p:txBody>
      </p:sp>
      <p:sp>
        <p:nvSpPr>
          <p:cNvPr id="20" name="Text 16"/>
          <p:cNvSpPr txBox="1"/>
          <p:nvPr/>
        </p:nvSpPr>
        <p:spPr>
          <a:xfrm>
            <a:off x="6537960" y="1426464"/>
            <a:ext cx="5242255" cy="201168"/>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Revenue lines and customer profile</a:t>
            </a:r>
            <a:pPr indent="0" marL="0">
              <a:buNone/>
            </a:pPr>
            <a:r>
              <a:rPr lang="en-US" sz="950" dirty="0">
                <a:solidFill>
                  <a:srgbClr val="7A706D"/>
                </a:solidFill>
                <a:latin typeface="Arial" pitchFamily="34" charset="0"/>
                <a:ea typeface="Arial" pitchFamily="34" charset="-122"/>
                <a:cs typeface="Arial" pitchFamily="34" charset="-120"/>
              </a:rPr>
              <a:t>  (FY2025, $000s)</a:t>
            </a:r>
            <a:endParaRPr lang="en-US" sz="950" dirty="0"/>
          </a:p>
        </p:txBody>
      </p:sp>
      <p:sp>
        <p:nvSpPr>
          <p:cNvPr id="21" name="Shape 17"/>
          <p:cNvSpPr/>
          <p:nvPr/>
        </p:nvSpPr>
        <p:spPr>
          <a:xfrm>
            <a:off x="6537960" y="1655064"/>
            <a:ext cx="5242255" cy="0"/>
          </a:xfrm>
          <a:prstGeom prst="line">
            <a:avLst/>
          </a:prstGeom>
          <a:noFill/>
          <a:ln w="6350">
            <a:solidFill>
              <a:srgbClr val="2C2523"/>
            </a:solidFill>
            <a:prstDash val="solid"/>
          </a:ln>
        </p:spPr>
      </p:sp>
      <p:sp>
        <p:nvSpPr>
          <p:cNvPr id="22" name="Text 18"/>
          <p:cNvSpPr txBox="1"/>
          <p:nvPr/>
        </p:nvSpPr>
        <p:spPr>
          <a:xfrm>
            <a:off x="411480" y="1865376"/>
            <a:ext cx="1463040" cy="329184"/>
          </a:xfrm>
          <a:prstGeom prst="rect">
            <a:avLst/>
          </a:prstGeom>
          <a:noFill/>
          <a:ln/>
        </p:spPr>
        <p:txBody>
          <a:bodyPr wrap="square" lIns="0" tIns="0" rIns="0" bIns="0" rtlCol="0" anchor="t"/>
          <a:lstStyle/>
          <a:p>
            <a:pPr indent="0" marL="0">
              <a:lnSpc>
                <a:spcPct val="110000"/>
              </a:lnSpc>
              <a:buNone/>
            </a:pPr>
            <a:r>
              <a:rPr lang="en-US" sz="750" b="1" dirty="0">
                <a:solidFill>
                  <a:srgbClr val="2C2523"/>
                </a:solidFill>
                <a:latin typeface="Arial" pitchFamily="34" charset="0"/>
                <a:ea typeface="Arial" pitchFamily="34" charset="-122"/>
                <a:cs typeface="Arial" pitchFamily="34" charset="-120"/>
              </a:rPr>
              <a:t>Exhibit 2</a:t>
            </a:r>
            <a:endParaRPr lang="en-US" sz="750" dirty="0"/>
          </a:p>
          <a:p>
            <a:pPr indent="0" marL="0">
              <a:lnSpc>
                <a:spcPct val="110000"/>
              </a:lnSpc>
              <a:buNone/>
            </a:pPr>
            <a:r>
              <a:rPr lang="en-US" sz="750" dirty="0">
                <a:solidFill>
                  <a:srgbClr val="7A706D"/>
                </a:solidFill>
                <a:latin typeface="Arial" pitchFamily="34" charset="0"/>
                <a:ea typeface="Arial" pitchFamily="34" charset="-122"/>
                <a:cs typeface="Arial" pitchFamily="34" charset="-120"/>
              </a:rPr>
              <a:t>Largest customer coded C-001</a:t>
            </a:r>
            <a:endParaRPr lang="en-US" sz="7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37960" y="1728216"/>
          <a:ext cx="5242255" cy="914400"/>
        </p:xfrm>
        <a:graphic>
          <a:graphicData uri="http://schemas.openxmlformats.org/drawingml/2006/table">
            <a:tbl>
              <a:tblPr/>
              <a:tblGrid>
                <a:gridCol w="1188720"/>
                <a:gridCol w="566928"/>
                <a:gridCol w="457200"/>
                <a:gridCol w="1417320"/>
                <a:gridCol w="1612087"/>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Service line</a:t>
                      </a:r>
                      <a:endParaRPr lang="en-US" sz="800" dirty="0">
                        <a:latin typeface="Arial" charset="0"/>
                        <a:ea typeface="Arial" charset="0"/>
                        <a:cs typeface="Arial" charset="0"/>
                      </a:endParaRPr>
                    </a:p>
                  </a:txBody>
                  <a:tcPr marL="45720" marR="45720" marT="27432" marB="27432"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45720" marR="45720" marT="27432" marB="27432"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45720" marR="45720" marT="27432" marB="27432"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What the customer buys</a:t>
                      </a:r>
                      <a:endParaRPr lang="en-US" sz="800" dirty="0">
                        <a:latin typeface="Arial" charset="0"/>
                        <a:ea typeface="Arial" charset="0"/>
                        <a:cs typeface="Arial" charset="0"/>
                      </a:endParaRPr>
                    </a:p>
                  </a:txBody>
                  <a:tcPr marL="45720" marR="45720" marT="27432" marB="27432"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Customers and concentration</a:t>
                      </a:r>
                      <a:endParaRPr lang="en-US" sz="800" dirty="0">
                        <a:latin typeface="Arial" charset="0"/>
                        <a:ea typeface="Arial" charset="0"/>
                        <a:cs typeface="Arial" charset="0"/>
                      </a:endParaRPr>
                    </a:p>
                  </a:txBody>
                  <a:tcPr marL="45720" marR="45720" marT="27432" marB="27432" anchor="ctr">
                    <a:lnL w="0" cap="flat" cmpd="sng" algn="ctr">
                      <a:noFill/>
                    </a:lnL>
                    <a:lnR w="0" cap="flat" cmpd="sng" algn="ctr">
                      <a:noFill/>
                    </a:lnR>
                    <a:lnT w="0" cap="flat" cmpd="sng" algn="ctr">
                      <a:noFill/>
                    </a:lnT>
                    <a:lnB w="0" cap="flat" cmpd="sng" algn="ctr">
                      <a:noFill/>
                    </a:lnB>
                    <a:solidFill>
                      <a:srgbClr val="7B0000"/>
                    </a:solidFill>
                  </a:tcPr>
                </a:tc>
              </a:tr>
              <a:tr h="4023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Residential service and replacement</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1,946.1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64.0%</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Repairs, system replacements and plumbing service</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Homeowners in Franklin, Delaware and Licking counties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7548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Commercial</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821.0</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27.0%</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Service, replacement and preventive maintenance</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Property managers, small offices and four restaurant groups; largest (C-001) 4%</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023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Maintenance agreements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273.7</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9.0%</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Two tune-ups a year, priority scheduling, 15% repair discount</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1,450 members; 82% renewal (1); $189 per member</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116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$3,040.8</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100.0%</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24" name="Shape 19"/>
          <p:cNvSpPr/>
          <p:nvPr/>
        </p:nvSpPr>
        <p:spPr>
          <a:xfrm>
            <a:off x="6428232" y="3639312"/>
            <a:ext cx="5351983" cy="2304288"/>
          </a:xfrm>
          <a:prstGeom prst="rect">
            <a:avLst/>
          </a:prstGeom>
          <a:solidFill>
            <a:srgbClr val="F5EDEC"/>
          </a:solidFill>
          <a:ln w="12700">
            <a:solidFill>
              <a:srgbClr val="F5EDEC"/>
            </a:solidFill>
            <a:prstDash val="solid"/>
          </a:ln>
        </p:spPr>
      </p:sp>
      <p:sp>
        <p:nvSpPr>
          <p:cNvPr id="25" name="Text 20"/>
          <p:cNvSpPr txBox="1"/>
          <p:nvPr/>
        </p:nvSpPr>
        <p:spPr>
          <a:xfrm>
            <a:off x="6537960" y="3712464"/>
            <a:ext cx="5132527" cy="201168"/>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Maintenance-agreement base</a:t>
            </a:r>
            <a:pPr indent="0" marL="0">
              <a:buNone/>
            </a:pPr>
            <a:r>
              <a:rPr lang="en-US" sz="950" dirty="0">
                <a:solidFill>
                  <a:srgbClr val="7A706D"/>
                </a:solidFill>
                <a:latin typeface="Arial" pitchFamily="34" charset="0"/>
                <a:ea typeface="Arial" pitchFamily="34" charset="-122"/>
                <a:cs typeface="Arial" pitchFamily="34" charset="-120"/>
              </a:rPr>
              <a:t>  (#, $)</a:t>
            </a:r>
            <a:endParaRPr lang="en-US" sz="950" dirty="0"/>
          </a:p>
        </p:txBody>
      </p:sp>
      <p:sp>
        <p:nvSpPr>
          <p:cNvPr id="26" name="Shape 21"/>
          <p:cNvSpPr/>
          <p:nvPr/>
        </p:nvSpPr>
        <p:spPr>
          <a:xfrm>
            <a:off x="6537960" y="3941064"/>
            <a:ext cx="5132527" cy="0"/>
          </a:xfrm>
          <a:prstGeom prst="line">
            <a:avLst/>
          </a:prstGeom>
          <a:noFill/>
          <a:ln w="6350">
            <a:solidFill>
              <a:srgbClr val="2C2523"/>
            </a:solidFill>
            <a:prstDash val="solid"/>
          </a:ln>
        </p:spPr>
      </p:sp>
      <p:sp>
        <p:nvSpPr>
          <p:cNvPr id="27" name="Text 22"/>
          <p:cNvSpPr txBox="1"/>
          <p:nvPr/>
        </p:nvSpPr>
        <p:spPr>
          <a:xfrm>
            <a:off x="411480" y="3730752"/>
            <a:ext cx="1463040" cy="329184"/>
          </a:xfrm>
          <a:prstGeom prst="rect">
            <a:avLst/>
          </a:prstGeom>
          <a:noFill/>
          <a:ln/>
        </p:spPr>
        <p:txBody>
          <a:bodyPr wrap="square" lIns="0" tIns="0" rIns="0" bIns="0" rtlCol="0" anchor="t"/>
          <a:lstStyle/>
          <a:p>
            <a:pPr indent="0" marL="0">
              <a:lnSpc>
                <a:spcPct val="110000"/>
              </a:lnSpc>
              <a:buNone/>
            </a:pPr>
            <a:r>
              <a:rPr lang="en-US" sz="750" b="1" dirty="0">
                <a:solidFill>
                  <a:srgbClr val="2C2523"/>
                </a:solidFill>
                <a:latin typeface="Arial" pitchFamily="34" charset="0"/>
                <a:ea typeface="Arial" pitchFamily="34" charset="-122"/>
                <a:cs typeface="Arial" pitchFamily="34" charset="-120"/>
              </a:rPr>
              <a:t>Exhibit 3</a:t>
            </a:r>
            <a:endParaRPr lang="en-US" sz="750" dirty="0"/>
          </a:p>
          <a:p>
            <a:pPr indent="0" marL="0">
              <a:lnSpc>
                <a:spcPct val="110000"/>
              </a:lnSpc>
              <a:buNone/>
            </a:pPr>
            <a:r>
              <a:rPr lang="en-US" sz="750" dirty="0">
                <a:solidFill>
                  <a:srgbClr val="7A706D"/>
                </a:solidFill>
                <a:latin typeface="Arial" pitchFamily="34" charset="0"/>
                <a:ea typeface="Arial" pitchFamily="34" charset="-122"/>
                <a:cs typeface="Arial" pitchFamily="34" charset="-120"/>
              </a:rPr>
              <a:t>Members as of September 2026; revenue FY2025</a:t>
            </a:r>
            <a:endParaRPr lang="en-US" sz="7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537960" y="4014216"/>
          <a:ext cx="5132527" cy="914400"/>
        </p:xfrm>
        <a:graphic>
          <a:graphicData uri="http://schemas.openxmlformats.org/drawingml/2006/table">
            <a:tbl>
              <a:tblPr/>
              <a:tblGrid>
                <a:gridCol w="1737360"/>
                <a:gridCol w="640080"/>
                <a:gridCol w="2755087"/>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Measure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20574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Active members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Two tune-ups a year, priority scheduling, 15% repair discount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574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Annual renewal rate (1)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About 260 members must be replaced each year to hold the base flat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574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FY2025 agreement revenue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$273.7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9.0% of total revenue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574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Revenue per member</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Agreement revenue divided by active members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574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Tune-up visits a year</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2,900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Two per member, scheduled in ServiceTitan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574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Members per technician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1,450 members across 14 service technicians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574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Offered on service calls (1)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Technicians earn a spiff on each agreement sold</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82880"/>
            <a:ext cx="11368735" cy="768096"/>
          </a:xfrm>
          <a:prstGeom prst="rect">
            <a:avLst/>
          </a:prstGeom>
          <a:noFill/>
          <a:ln/>
        </p:spPr>
        <p:txBody>
          <a:bodyPr wrap="square" lIns="0" tIns="0" rIns="0" bIns="0" rtlCol="0" anchor="b"/>
          <a:lstStyle/>
          <a:p>
            <a:pPr indent="0" marL="0">
              <a:lnSpc>
                <a:spcPct val="100000"/>
              </a:lnSpc>
              <a:buNone/>
            </a:pPr>
            <a:r>
              <a:rPr lang="en-US" sz="2200" b="1" dirty="0">
                <a:solidFill>
                  <a:srgbClr val="7B0000"/>
                </a:solidFill>
                <a:latin typeface="Georgia" pitchFamily="34" charset="0"/>
                <a:ea typeface="Georgia" pitchFamily="34" charset="-122"/>
                <a:cs typeface="Georgia" pitchFamily="34" charset="-120"/>
              </a:rPr>
              <a:t>An 11-year operations manager runs the 24-person team; the owner’s 45-hour week is estimating, commercial accounts and hiring</a:t>
            </a:r>
            <a:endParaRPr lang="en-US" sz="2200" dirty="0"/>
          </a:p>
        </p:txBody>
      </p:sp>
      <p:sp>
        <p:nvSpPr>
          <p:cNvPr id="3" name="Text 1"/>
          <p:cNvSpPr txBox="1"/>
          <p:nvPr/>
        </p:nvSpPr>
        <p:spPr>
          <a:xfrm>
            <a:off x="411480" y="987552"/>
            <a:ext cx="1463040" cy="237744"/>
          </a:xfrm>
          <a:prstGeom prst="rect">
            <a:avLst/>
          </a:prstGeom>
          <a:noFill/>
          <a:ln/>
        </p:spPr>
        <p:txBody>
          <a:bodyPr wrap="square" lIns="0" tIns="0" rIns="0" bIns="0" rtlCol="0" anchor="ctr"/>
          <a:lstStyle/>
          <a:p>
            <a:pPr indent="0" marL="0">
              <a:lnSpc>
                <a:spcPct val="110000"/>
              </a:lnSpc>
              <a:buNone/>
            </a:pPr>
            <a:r>
              <a:rPr lang="en-US" sz="800" b="1" dirty="0">
                <a:solidFill>
                  <a:srgbClr val="7B0000"/>
                </a:solidFill>
                <a:latin typeface="Arial" pitchFamily="34" charset="0"/>
                <a:ea typeface="Arial" pitchFamily="34" charset="-122"/>
                <a:cs typeface="Arial" pitchFamily="34" charset="-120"/>
              </a:rPr>
              <a:t>Operations and people</a:t>
            </a:r>
            <a:endParaRPr lang="en-US" sz="800" dirty="0"/>
          </a:p>
          <a:p>
            <a:pPr indent="0" marL="0">
              <a:lnSpc>
                <a:spcPct val="110000"/>
              </a:lnSpc>
              <a:buNone/>
            </a:pPr>
            <a:r>
              <a:rPr lang="en-US" sz="800" dirty="0">
                <a:solidFill>
                  <a:srgbClr val="7A706D"/>
                </a:solidFill>
                <a:latin typeface="Arial" pitchFamily="34" charset="0"/>
                <a:ea typeface="Arial" pitchFamily="34" charset="-122"/>
                <a:cs typeface="Arial" pitchFamily="34" charset="-120"/>
              </a:rPr>
              <a:t>Organization and facilities</a:t>
            </a:r>
            <a:endParaRPr lang="en-US" sz="800" dirty="0"/>
          </a:p>
        </p:txBody>
      </p:sp>
      <p:sp>
        <p:nvSpPr>
          <p:cNvPr id="4" name="Text 2"/>
          <p:cNvSpPr txBox="1"/>
          <p:nvPr/>
        </p:nvSpPr>
        <p:spPr>
          <a:xfrm>
            <a:off x="2057400" y="987552"/>
            <a:ext cx="9722815" cy="237744"/>
          </a:xfrm>
          <a:prstGeom prst="rect">
            <a:avLst/>
          </a:prstGeom>
          <a:noFill/>
          <a:ln/>
        </p:spPr>
        <p:txBody>
          <a:bodyPr wrap="square" lIns="0" tIns="0" rIns="0" bIns="0" rtlCol="0" anchor="ctr"/>
          <a:lstStyle/>
          <a:p>
            <a:pPr indent="0" marL="0">
              <a:buNone/>
            </a:pPr>
            <a:r>
              <a:rPr lang="en-US" sz="1150" dirty="0">
                <a:solidFill>
                  <a:srgbClr val="7B0000"/>
                </a:solidFill>
                <a:latin typeface="Georgia" pitchFamily="34" charset="0"/>
                <a:ea typeface="Georgia" pitchFamily="34" charset="-122"/>
                <a:cs typeface="Georgia" pitchFamily="34" charset="-120"/>
              </a:rPr>
              <a:t>18 vans, 2 trucks, an 8,000 sq ft shop leased through 2029 and ServiceTitan dispatch all transfer with the business.</a:t>
            </a:r>
            <a:endParaRPr lang="en-US" sz="1150" dirty="0"/>
          </a:p>
        </p:txBody>
      </p:sp>
      <p:sp>
        <p:nvSpPr>
          <p:cNvPr id="5" name="Shape 3"/>
          <p:cNvSpPr/>
          <p:nvPr/>
        </p:nvSpPr>
        <p:spPr>
          <a:xfrm>
            <a:off x="411480" y="1280160"/>
            <a:ext cx="11368735" cy="0"/>
          </a:xfrm>
          <a:prstGeom prst="line">
            <a:avLst/>
          </a:prstGeom>
          <a:noFill/>
          <a:ln w="9525">
            <a:solidFill>
              <a:srgbClr val="7B0000"/>
            </a:solidFill>
            <a:prstDash val="solid"/>
          </a:ln>
        </p:spPr>
      </p:sp>
      <p:sp>
        <p:nvSpPr>
          <p:cNvPr id="6" name="Shape 4"/>
          <p:cNvSpPr/>
          <p:nvPr/>
        </p:nvSpPr>
        <p:spPr>
          <a:xfrm>
            <a:off x="1965960" y="1280160"/>
            <a:ext cx="0" cy="5065776"/>
          </a:xfrm>
          <a:prstGeom prst="line">
            <a:avLst/>
          </a:prstGeom>
          <a:noFill/>
          <a:ln w="9525">
            <a:solidFill>
              <a:srgbClr val="7B0000"/>
            </a:solidFill>
            <a:prstDash val="solid"/>
          </a:ln>
        </p:spPr>
      </p:sp>
      <p:sp>
        <p:nvSpPr>
          <p:cNvPr id="7" name="Text 5"/>
          <p:cNvSpPr txBox="1"/>
          <p:nvPr/>
        </p:nvSpPr>
        <p:spPr>
          <a:xfrm>
            <a:off x="411480" y="3931920"/>
            <a:ext cx="1463040" cy="2414016"/>
          </a:xfrm>
          <a:prstGeom prst="rect">
            <a:avLst/>
          </a:prstGeom>
          <a:noFill/>
          <a:ln/>
        </p:spPr>
        <p:txBody>
          <a:bodyPr wrap="square" lIns="0" tIns="0" rIns="0" bIns="0" rtlCol="0" anchor="b"/>
          <a:lstStyle/>
          <a:p>
            <a:pPr indent="0" marL="0">
              <a:lnSpc>
                <a:spcPct val="100000"/>
              </a:lnSpc>
              <a:spcAft>
                <a:spcPts val="300"/>
              </a:spcAft>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a:p>
            <a:pPr indent="0" marL="0">
              <a:lnSpc>
                <a:spcPct val="100000"/>
              </a:lnSpc>
              <a:spcAft>
                <a:spcPts val="300"/>
              </a:spcAft>
              <a:buNone/>
            </a:pPr>
            <a:r>
              <a:rPr lang="en-US" sz="700" dirty="0">
                <a:solidFill>
                  <a:srgbClr val="7A706D"/>
                </a:solidFill>
                <a:latin typeface="Arial" pitchFamily="34" charset="0"/>
                <a:ea typeface="Arial" pitchFamily="34" charset="-122"/>
                <a:cs typeface="Arial" pitchFamily="34" charset="-120"/>
              </a:rPr>
              <a:t>(2) Market salary for a general manager in the Columbus market, per management; a buyer’s own estimate may differ.</a:t>
            </a:r>
            <a:endParaRPr lang="en-US" sz="700" dirty="0"/>
          </a:p>
        </p:txBody>
      </p:sp>
      <p:sp>
        <p:nvSpPr>
          <p:cNvPr id="8" name="Text 6"/>
          <p:cNvSpPr txBox="1"/>
          <p:nvPr/>
        </p:nvSpPr>
        <p:spPr>
          <a:xfrm>
            <a:off x="2057400" y="5998464"/>
            <a:ext cx="9722815" cy="347472"/>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Management; company payroll register (headcount);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Headcount as of September 2026. Employees other than management are described by role only; no individual compensation is shown.</a:t>
            </a:r>
            <a:endParaRPr lang="en-US" sz="700" dirty="0"/>
          </a:p>
        </p:txBody>
      </p:sp>
      <p:sp>
        <p:nvSpPr>
          <p:cNvPr id="9" name="Shape 7"/>
          <p:cNvSpPr/>
          <p:nvPr/>
        </p:nvSpPr>
        <p:spPr>
          <a:xfrm>
            <a:off x="411480" y="6400800"/>
            <a:ext cx="11368735" cy="0"/>
          </a:xfrm>
          <a:prstGeom prst="line">
            <a:avLst/>
          </a:prstGeom>
          <a:noFill/>
          <a:ln w="6350">
            <a:solidFill>
              <a:srgbClr val="C2BAB8"/>
            </a:solidFill>
            <a:prstDash val="solid"/>
          </a:ln>
        </p:spPr>
      </p:sp>
      <p:sp>
        <p:nvSpPr>
          <p:cNvPr id="10" name="Text 8"/>
          <p:cNvSpPr txBox="1"/>
          <p:nvPr/>
        </p:nvSpPr>
        <p:spPr>
          <a:xfrm>
            <a:off x="411480" y="6455664"/>
            <a:ext cx="36576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endParaRPr lang="en-US" sz="750" dirty="0"/>
          </a:p>
        </p:txBody>
      </p:sp>
      <p:sp>
        <p:nvSpPr>
          <p:cNvPr id="11" name="Text 9"/>
          <p:cNvSpPr txBox="1"/>
          <p:nvPr/>
        </p:nvSpPr>
        <p:spPr>
          <a:xfrm>
            <a:off x="4267048" y="6455664"/>
            <a:ext cx="3657600"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12" name="Image 0" descr="/home/user/project-avengers/amb-material-bot/design/directions/b-editorial-boutique/amb-logo-tight.png">    </p:cNvPr>
          <p:cNvPicPr>
            <a:picLocks noChangeAspect="1"/>
          </p:cNvPicPr>
          <p:nvPr/>
        </p:nvPicPr>
        <p:blipFill>
          <a:blip r:embed="rId1"/>
          <a:stretch>
            <a:fillRect/>
          </a:stretch>
        </p:blipFill>
        <p:spPr>
          <a:xfrm>
            <a:off x="10629010" y="6464808"/>
            <a:ext cx="618110" cy="201168"/>
          </a:xfrm>
          <a:prstGeom prst="rect">
            <a:avLst/>
          </a:prstGeom>
        </p:spPr>
      </p:pic>
      <p:sp>
        <p:nvSpPr>
          <p:cNvPr id="13" name="Text 10"/>
          <p:cNvSpPr txBox="1"/>
          <p:nvPr/>
        </p:nvSpPr>
        <p:spPr>
          <a:xfrm>
            <a:off x="11368735" y="6455664"/>
            <a:ext cx="411480"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p>
        </p:txBody>
      </p:sp>
      <p:sp>
        <p:nvSpPr>
          <p:cNvPr id="14" name="Text 11"/>
          <p:cNvSpPr txBox="1"/>
          <p:nvPr/>
        </p:nvSpPr>
        <p:spPr>
          <a:xfrm>
            <a:off x="2057400" y="1426464"/>
            <a:ext cx="4434840" cy="4517136"/>
          </a:xfrm>
          <a:prstGeom prst="rect">
            <a:avLst/>
          </a:prstGeom>
          <a:noFill/>
          <a:ln/>
        </p:spPr>
        <p:txBody>
          <a:bodyPr wrap="square" lIns="0" tIns="0" rIns="0" bIns="0" rtlCol="0" anchor="t"/>
          <a:lstStyle/>
          <a:p>
            <a:pPr indent="0" marL="0">
              <a:lnSpc>
                <a:spcPct val="110000"/>
              </a:lnSpc>
              <a:spcAft>
                <a:spcPts val="600"/>
              </a:spcAft>
              <a:buNone/>
            </a:pPr>
            <a:r>
              <a:rPr lang="en-US" sz="950" b="1" dirty="0">
                <a:solidFill>
                  <a:srgbClr val="2C2523"/>
                </a:solidFill>
                <a:latin typeface="Arial" pitchFamily="34" charset="0"/>
                <a:ea typeface="Arial" pitchFamily="34" charset="-122"/>
                <a:cs typeface="Arial" pitchFamily="34" charset="-120"/>
              </a:rPr>
              <a:t>Team. </a:t>
            </a:r>
            <a:pPr indent="0" marL="0">
              <a:lnSpc>
                <a:spcPct val="110000"/>
              </a:lnSpc>
              <a:buNone/>
            </a:pPr>
            <a:r>
              <a:rPr lang="en-US" sz="950" dirty="0">
                <a:solidFill>
                  <a:srgbClr val="2C2523"/>
                </a:solidFill>
                <a:latin typeface="Arial" pitchFamily="34" charset="0"/>
                <a:ea typeface="Arial" pitchFamily="34" charset="-122"/>
                <a:cs typeface="Arial" pitchFamily="34" charset="-120"/>
              </a:rPr>
              <a:t>Ridgeline employs 24 people, all full time and non-union: 14 service technicians, a 4-person install crew, 3 customer service and dispatch staff, an operations manager, a bookkeeper and the owner. Technicians are paid hourly plus spiff commissions on maintenance agreements sold on service calls, which ties field pay to the recurring base. Lisa Tran, operations manager for 11 years, runs dispatch and day-to-day scheduling through ServiceTitan and is expected to remain with the business (1).</a:t>
            </a:r>
            <a:endParaRPr lang="en-US" sz="950" dirty="0"/>
          </a:p>
          <a:p>
            <a:pPr indent="0" marL="0">
              <a:lnSpc>
                <a:spcPct val="110000"/>
              </a:lnSpc>
              <a:spcAft>
                <a:spcPts val="600"/>
              </a:spcAft>
              <a:buNone/>
            </a:pPr>
            <a:r>
              <a:rPr lang="en-US" sz="950" b="1" dirty="0">
                <a:solidFill>
                  <a:srgbClr val="2C2523"/>
                </a:solidFill>
                <a:latin typeface="Arial" pitchFamily="34" charset="0"/>
                <a:ea typeface="Arial" pitchFamily="34" charset="-122"/>
                <a:cs typeface="Arial" pitchFamily="34" charset="-120"/>
              </a:rPr>
              <a:t>Owner role. </a:t>
            </a:r>
            <a:pPr indent="0" marL="0">
              <a:lnSpc>
                <a:spcPct val="110000"/>
              </a:lnSpc>
              <a:buNone/>
            </a:pPr>
            <a:r>
              <a:rPr lang="en-US" sz="950" dirty="0">
                <a:solidFill>
                  <a:srgbClr val="2C2523"/>
                </a:solidFill>
                <a:latin typeface="Arial" pitchFamily="34" charset="0"/>
                <a:ea typeface="Arial" pitchFamily="34" charset="-122"/>
                <a:cs typeface="Arial" pitchFamily="34" charset="-120"/>
              </a:rPr>
              <a:t>Mark Delaney works about 45 hours a week on four tasks: estimating large replacements, commercial relationships, vendor terms and hiring. None of the four is a field role, and together they map to the general manager position that management costs at $95,000 a year (2). He has offered up to 12 months of full-time transition and will introduce the buyer to each commercial account.</a:t>
            </a:r>
            <a:endParaRPr lang="en-US" sz="950" dirty="0"/>
          </a:p>
          <a:p>
            <a:pPr indent="0" marL="0">
              <a:lnSpc>
                <a:spcPct val="110000"/>
              </a:lnSpc>
              <a:spcAft>
                <a:spcPts val="600"/>
              </a:spcAft>
              <a:buNone/>
            </a:pPr>
            <a:r>
              <a:rPr lang="en-US" sz="950" b="1" dirty="0">
                <a:solidFill>
                  <a:srgbClr val="2C2523"/>
                </a:solidFill>
                <a:latin typeface="Arial" pitchFamily="34" charset="0"/>
                <a:ea typeface="Arial" pitchFamily="34" charset="-122"/>
                <a:cs typeface="Arial" pitchFamily="34" charset="-120"/>
              </a:rPr>
              <a:t>Facilities and fleet. </a:t>
            </a:r>
            <a:pPr indent="0" marL="0">
              <a:lnSpc>
                <a:spcPct val="110000"/>
              </a:lnSpc>
              <a:buNone/>
            </a:pPr>
            <a:r>
              <a:rPr lang="en-US" sz="950" dirty="0">
                <a:solidFill>
                  <a:srgbClr val="2C2523"/>
                </a:solidFill>
                <a:latin typeface="Arial" pitchFamily="34" charset="0"/>
                <a:ea typeface="Arial" pitchFamily="34" charset="-122"/>
                <a:cs typeface="Arial" pitchFamily="34" charset="-120"/>
              </a:rPr>
              <a:t>The Company leases an 8,000 sq ft shop and office on Maple Ave from an unrelated landlord; the lease runs through 2029 with a 5-year renewal option. It owns 18 service vans and 2 install trucks, financed with vehicle loans; in an asset sale the vehicles transfer free and clear of those loans.</a:t>
            </a:r>
            <a:endParaRPr lang="en-US" sz="950" dirty="0"/>
          </a:p>
          <a:p>
            <a:pPr indent="0" marL="0">
              <a:lnSpc>
                <a:spcPct val="110000"/>
              </a:lnSpc>
              <a:spcAft>
                <a:spcPts val="600"/>
              </a:spcAft>
              <a:buNone/>
            </a:pPr>
            <a:r>
              <a:rPr lang="en-US" sz="950" b="1" dirty="0">
                <a:solidFill>
                  <a:srgbClr val="2C2523"/>
                </a:solidFill>
                <a:latin typeface="Arial" pitchFamily="34" charset="0"/>
                <a:ea typeface="Arial" pitchFamily="34" charset="-122"/>
                <a:cs typeface="Arial" pitchFamily="34" charset="-120"/>
              </a:rPr>
              <a:t>Systems and suppliers. </a:t>
            </a:r>
            <a:pPr indent="0" marL="0">
              <a:lnSpc>
                <a:spcPct val="110000"/>
              </a:lnSpc>
              <a:buNone/>
            </a:pPr>
            <a:r>
              <a:rPr lang="en-US" sz="950" dirty="0">
                <a:solidFill>
                  <a:srgbClr val="2C2523"/>
                </a:solidFill>
                <a:latin typeface="Arial" pitchFamily="34" charset="0"/>
                <a:ea typeface="Arial" pitchFamily="34" charset="-122"/>
                <a:cs typeface="Arial" pitchFamily="34" charset="-120"/>
              </a:rPr>
              <a:t>Dispatch, invoicing and memberships run on ServiceTitan and the books on QuickBooks Online, so job-level revenue by type ties to the financial statements. Parts and equipment come from Ferguson, Johnstone Supply and the local Carrier distributor; Ridgeline has been a Carrier Factory Authorized Dealer since 2015. Its Google rating is 4.8 on more than 900 reviews (1).</a:t>
            </a:r>
            <a:endParaRPr lang="en-US" sz="950" dirty="0"/>
          </a:p>
        </p:txBody>
      </p:sp>
      <p:sp>
        <p:nvSpPr>
          <p:cNvPr id="15" name="Text 12"/>
          <p:cNvSpPr txBox="1"/>
          <p:nvPr/>
        </p:nvSpPr>
        <p:spPr>
          <a:xfrm>
            <a:off x="6812280" y="1426464"/>
            <a:ext cx="4967935" cy="201168"/>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Organization and post-close intent</a:t>
            </a:r>
            <a:pPr indent="0" marL="0">
              <a:buNone/>
            </a:pPr>
            <a:r>
              <a:rPr lang="en-US" sz="950" dirty="0">
                <a:solidFill>
                  <a:srgbClr val="7A706D"/>
                </a:solidFill>
                <a:latin typeface="Arial" pitchFamily="34" charset="0"/>
                <a:ea typeface="Arial" pitchFamily="34" charset="-122"/>
                <a:cs typeface="Arial" pitchFamily="34" charset="-120"/>
              </a:rPr>
              <a:t>  (#)</a:t>
            </a:r>
            <a:endParaRPr lang="en-US" sz="950" dirty="0"/>
          </a:p>
        </p:txBody>
      </p:sp>
      <p:sp>
        <p:nvSpPr>
          <p:cNvPr id="16" name="Shape 13"/>
          <p:cNvSpPr/>
          <p:nvPr/>
        </p:nvSpPr>
        <p:spPr>
          <a:xfrm>
            <a:off x="6812280" y="1655064"/>
            <a:ext cx="4967935" cy="0"/>
          </a:xfrm>
          <a:prstGeom prst="line">
            <a:avLst/>
          </a:prstGeom>
          <a:noFill/>
          <a:ln w="6350">
            <a:solidFill>
              <a:srgbClr val="2C2523"/>
            </a:solidFill>
            <a:prstDash val="solid"/>
          </a:ln>
        </p:spPr>
      </p:sp>
      <p:sp>
        <p:nvSpPr>
          <p:cNvPr id="17" name="Text 14"/>
          <p:cNvSpPr txBox="1"/>
          <p:nvPr/>
        </p:nvSpPr>
        <p:spPr>
          <a:xfrm>
            <a:off x="411480" y="1444752"/>
            <a:ext cx="1463040" cy="329184"/>
          </a:xfrm>
          <a:prstGeom prst="rect">
            <a:avLst/>
          </a:prstGeom>
          <a:noFill/>
          <a:ln/>
        </p:spPr>
        <p:txBody>
          <a:bodyPr wrap="square" lIns="0" tIns="0" rIns="0" bIns="0" rtlCol="0" anchor="t"/>
          <a:lstStyle/>
          <a:p>
            <a:pPr indent="0" marL="0">
              <a:lnSpc>
                <a:spcPct val="110000"/>
              </a:lnSpc>
              <a:buNone/>
            </a:pPr>
            <a:r>
              <a:rPr lang="en-US" sz="750" b="1" dirty="0">
                <a:solidFill>
                  <a:srgbClr val="2C2523"/>
                </a:solidFill>
                <a:latin typeface="Arial" pitchFamily="34" charset="0"/>
                <a:ea typeface="Arial" pitchFamily="34" charset="-122"/>
                <a:cs typeface="Arial" pitchFamily="34" charset="-120"/>
              </a:rPr>
              <a:t>Exhibit 1</a:t>
            </a:r>
            <a:endParaRPr lang="en-US" sz="750" dirty="0"/>
          </a:p>
          <a:p>
            <a:pPr indent="0" marL="0">
              <a:lnSpc>
                <a:spcPct val="110000"/>
              </a:lnSpc>
              <a:buNone/>
            </a:pPr>
            <a:r>
              <a:rPr lang="en-US" sz="750" dirty="0">
                <a:solidFill>
                  <a:srgbClr val="7A706D"/>
                </a:solidFill>
                <a:latin typeface="Arial" pitchFamily="34" charset="0"/>
                <a:ea typeface="Arial" pitchFamily="34" charset="-122"/>
                <a:cs typeface="Arial" pitchFamily="34" charset="-120"/>
              </a:rPr>
              <a:t>Management named; others by role</a:t>
            </a:r>
            <a:endParaRPr lang="en-US" sz="7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12280" y="1728216"/>
          <a:ext cx="4967935" cy="914400"/>
        </p:xfrm>
        <a:graphic>
          <a:graphicData uri="http://schemas.openxmlformats.org/drawingml/2006/table">
            <a:tbl>
              <a:tblPr/>
              <a:tblGrid>
                <a:gridCol w="1417320"/>
                <a:gridCol w="411480"/>
                <a:gridCol w="2103120"/>
                <a:gridCol w="1036015"/>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Role</a:t>
                      </a:r>
                      <a:endParaRPr lang="en-US" sz="800" dirty="0">
                        <a:latin typeface="Arial" charset="0"/>
                        <a:ea typeface="Arial" charset="0"/>
                        <a:cs typeface="Arial" charset="0"/>
                      </a:endParaRPr>
                    </a:p>
                  </a:txBody>
                  <a:tcPr marL="45720" marR="45720" marT="27432" marB="27432"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Count</a:t>
                      </a:r>
                      <a:endParaRPr lang="en-US" sz="800" dirty="0">
                        <a:latin typeface="Arial" charset="0"/>
                        <a:ea typeface="Arial" charset="0"/>
                        <a:cs typeface="Arial" charset="0"/>
                      </a:endParaRPr>
                    </a:p>
                  </a:txBody>
                  <a:tcPr marL="45720" marR="45720" marT="27432" marB="27432"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Tenure and responsibilities</a:t>
                      </a:r>
                      <a:endParaRPr lang="en-US" sz="800" dirty="0">
                        <a:latin typeface="Arial" charset="0"/>
                        <a:ea typeface="Arial" charset="0"/>
                        <a:cs typeface="Arial" charset="0"/>
                      </a:endParaRPr>
                    </a:p>
                  </a:txBody>
                  <a:tcPr marL="45720" marR="45720" marT="27432" marB="27432"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Post-close</a:t>
                      </a:r>
                      <a:endParaRPr lang="en-US" sz="800" dirty="0">
                        <a:latin typeface="Arial" charset="0"/>
                        <a:ea typeface="Arial" charset="0"/>
                        <a:cs typeface="Arial" charset="0"/>
                      </a:endParaRPr>
                    </a:p>
                  </a:txBody>
                  <a:tcPr marL="45720" marR="45720" marT="27432" marB="27432" anchor="ctr">
                    <a:lnL w="0" cap="flat" cmpd="sng" algn="ctr">
                      <a:noFill/>
                    </a:lnL>
                    <a:lnR w="0" cap="flat" cmpd="sng" algn="ctr">
                      <a:noFill/>
                    </a:lnR>
                    <a:lnT w="0" cap="flat" cmpd="sng" algn="ctr">
                      <a:noFill/>
                    </a:lnT>
                    <a:lnB w="0" cap="flat" cmpd="sng" algn="ctr">
                      <a:noFill/>
                    </a:lnB>
                    <a:solidFill>
                      <a:srgbClr val="7B0000"/>
                    </a:solidFill>
                  </a:tcPr>
                </a:tc>
              </a:tr>
              <a:tr h="38404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(Mark Delaney)</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Founded 2009; estimating, commercial relationships, vendor terms, hiring; about 45 hours a week</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12-month transition offered</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74320">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Operations manager (Lisa Tran)</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11 years; dispatch and day-to-day scheduling</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Expected to remain (1)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74320">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Service technicians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Hourly plus spiffs on maintenance agreements; non-union</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Retained</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116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Install crew</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System replacements and installations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Retained</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74320">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Customer service and dispatch</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Inbound calls; ServiceTitan scheduling</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Retained</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116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Bookkeeper</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QuickBooks Online; monthly close</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Retained</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116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24</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19" name="Shape 15"/>
          <p:cNvSpPr/>
          <p:nvPr/>
        </p:nvSpPr>
        <p:spPr>
          <a:xfrm>
            <a:off x="6702552" y="3968496"/>
            <a:ext cx="5077663" cy="1975104"/>
          </a:xfrm>
          <a:prstGeom prst="rect">
            <a:avLst/>
          </a:prstGeom>
          <a:solidFill>
            <a:srgbClr val="F5EDEC"/>
          </a:solidFill>
          <a:ln w="12700">
            <a:solidFill>
              <a:srgbClr val="F5EDEC"/>
            </a:solidFill>
            <a:prstDash val="solid"/>
          </a:ln>
        </p:spPr>
      </p:sp>
      <p:sp>
        <p:nvSpPr>
          <p:cNvPr id="20" name="Text 16"/>
          <p:cNvSpPr txBox="1"/>
          <p:nvPr/>
        </p:nvSpPr>
        <p:spPr>
          <a:xfrm>
            <a:off x="6812280" y="4041648"/>
            <a:ext cx="4858207" cy="201168"/>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Operating assets and systems</a:t>
            </a:r>
            <a:pPr indent="0" marL="0">
              <a:buNone/>
            </a:pPr>
            <a:endParaRPr lang="en-US" sz="950" dirty="0"/>
          </a:p>
        </p:txBody>
      </p:sp>
      <p:sp>
        <p:nvSpPr>
          <p:cNvPr id="21" name="Shape 17"/>
          <p:cNvSpPr/>
          <p:nvPr/>
        </p:nvSpPr>
        <p:spPr>
          <a:xfrm>
            <a:off x="6812280" y="4270248"/>
            <a:ext cx="4858207" cy="0"/>
          </a:xfrm>
          <a:prstGeom prst="line">
            <a:avLst/>
          </a:prstGeom>
          <a:noFill/>
          <a:ln w="6350">
            <a:solidFill>
              <a:srgbClr val="2C2523"/>
            </a:solidFill>
            <a:prstDash val="solid"/>
          </a:ln>
        </p:spPr>
      </p:sp>
      <p:sp>
        <p:nvSpPr>
          <p:cNvPr id="22" name="Text 18"/>
          <p:cNvSpPr txBox="1"/>
          <p:nvPr/>
        </p:nvSpPr>
        <p:spPr>
          <a:xfrm>
            <a:off x="411480" y="4059936"/>
            <a:ext cx="1463040" cy="329184"/>
          </a:xfrm>
          <a:prstGeom prst="rect">
            <a:avLst/>
          </a:prstGeom>
          <a:noFill/>
          <a:ln/>
        </p:spPr>
        <p:txBody>
          <a:bodyPr wrap="square" lIns="0" tIns="0" rIns="0" bIns="0" rtlCol="0" anchor="t"/>
          <a:lstStyle/>
          <a:p>
            <a:pPr indent="0" marL="0">
              <a:lnSpc>
                <a:spcPct val="110000"/>
              </a:lnSpc>
              <a:buNone/>
            </a:pPr>
            <a:r>
              <a:rPr lang="en-US" sz="750" b="1" dirty="0">
                <a:solidFill>
                  <a:srgbClr val="2C2523"/>
                </a:solidFill>
                <a:latin typeface="Arial" pitchFamily="34" charset="0"/>
                <a:ea typeface="Arial" pitchFamily="34" charset="-122"/>
                <a:cs typeface="Arial" pitchFamily="34" charset="-120"/>
              </a:rPr>
              <a:t>Exhibit 2</a:t>
            </a:r>
            <a:endParaRPr lang="en-US" sz="750" dirty="0"/>
          </a:p>
          <a:p>
            <a:pPr indent="0" marL="0">
              <a:lnSpc>
                <a:spcPct val="110000"/>
              </a:lnSpc>
              <a:buNone/>
            </a:pPr>
            <a:r>
              <a:rPr lang="en-US" sz="750" dirty="0">
                <a:solidFill>
                  <a:srgbClr val="7A706D"/>
                </a:solidFill>
                <a:latin typeface="Arial" pitchFamily="34" charset="0"/>
                <a:ea typeface="Arial" pitchFamily="34" charset="-122"/>
                <a:cs typeface="Arial" pitchFamily="34" charset="-120"/>
              </a:rPr>
              <a:t>As of September 2026</a:t>
            </a:r>
            <a:endParaRPr lang="en-US" sz="7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812280" y="4343400"/>
          <a:ext cx="4858207" cy="914400"/>
        </p:xfrm>
        <a:graphic>
          <a:graphicData uri="http://schemas.openxmlformats.org/drawingml/2006/table">
            <a:tbl>
              <a:tblPr/>
              <a:tblGrid>
                <a:gridCol w="1097280"/>
                <a:gridCol w="3760927"/>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Item</a:t>
                      </a:r>
                      <a:endParaRPr lang="en-US" sz="800" dirty="0">
                        <a:latin typeface="Arial" charset="0"/>
                        <a:ea typeface="Arial" charset="0"/>
                        <a:cs typeface="Arial" charset="0"/>
                      </a:endParaRPr>
                    </a:p>
                  </a:txBody>
                  <a:tcPr marL="45720" marR="45720" marT="27432" marB="27432"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Detail</a:t>
                      </a:r>
                      <a:endParaRPr lang="en-US" sz="800" dirty="0">
                        <a:latin typeface="Arial" charset="0"/>
                        <a:ea typeface="Arial" charset="0"/>
                        <a:cs typeface="Arial" charset="0"/>
                      </a:endParaRPr>
                    </a:p>
                  </a:txBody>
                  <a:tcPr marL="45720" marR="45720" marT="27432" marB="27432" anchor="ctr">
                    <a:lnL w="0" cap="flat" cmpd="sng" algn="ctr">
                      <a:noFill/>
                    </a:lnL>
                    <a:lnR w="0" cap="flat" cmpd="sng" algn="ctr">
                      <a:noFill/>
                    </a:lnR>
                    <a:lnT w="0" cap="flat" cmpd="sng" algn="ctr">
                      <a:noFill/>
                    </a:lnT>
                    <a:lnB w="0" cap="flat" cmpd="sng" algn="ctr">
                      <a:noFill/>
                    </a:lnB>
                    <a:solidFill>
                      <a:srgbClr val="7B0000"/>
                    </a:solidFill>
                  </a:tcPr>
                </a:tc>
              </a:tr>
              <a:tr h="31089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Shop and office</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8,000 sq ft, Maple Ave; leased through 2029 with a 5-year option; unrelated landlord</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116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Fleet</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18 service vans, 2 install trucks; owned, vehicle loans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116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Systems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ServiceTitan (dispatch, invoicing, memberships); QuickBooks Online</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116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Suppliers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Ferguson, Johnstone Supply; Carrier via the local distributor</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116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Credentials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Carrier Factory Authorized Dealer since 2015; Google 4.8, 900+ reviews (1)</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0116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Service area</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Franklin, Delaware and Licking counties; about a 35-mile radius</a:t>
                      </a:r>
                      <a:endParaRPr lang="en-US" sz="850" dirty="0">
                        <a:latin typeface="Arial" charset="0"/>
                        <a:ea typeface="Arial" charset="0"/>
                        <a:cs typeface="Arial" charset="0"/>
                      </a:endParaRPr>
                    </a:p>
                  </a:txBody>
                  <a:tcPr marL="45720" marR="45720" marT="27432" marB="27432"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82880"/>
            <a:ext cx="11368735" cy="768096"/>
          </a:xfrm>
          <a:prstGeom prst="rect">
            <a:avLst/>
          </a:prstGeom>
          <a:noFill/>
          <a:ln/>
        </p:spPr>
        <p:txBody>
          <a:bodyPr wrap="square" lIns="0" tIns="0" rIns="0" bIns="0" rtlCol="0" anchor="b"/>
          <a:lstStyle/>
          <a:p>
            <a:pPr indent="0" marL="0">
              <a:lnSpc>
                <a:spcPct val="100000"/>
              </a:lnSpc>
              <a:buNone/>
            </a:pPr>
            <a:r>
              <a:rPr lang="en-US" sz="2200" b="1" dirty="0">
                <a:solidFill>
                  <a:srgbClr val="7B0000"/>
                </a:solidFill>
                <a:latin typeface="Georgia" pitchFamily="34" charset="0"/>
                <a:ea typeface="Georgia" pitchFamily="34" charset="-122"/>
                <a:cs typeface="Georgia" pitchFamily="34" charset="-120"/>
              </a:rPr>
              <a:t>Owner dependence and the $95K replacement salary lead buyer diligence; the largest customer is 4% and the lease runs through 2029</a:t>
            </a:r>
            <a:endParaRPr lang="en-US" sz="2200" dirty="0"/>
          </a:p>
        </p:txBody>
      </p:sp>
      <p:sp>
        <p:nvSpPr>
          <p:cNvPr id="3" name="Text 1"/>
          <p:cNvSpPr txBox="1"/>
          <p:nvPr/>
        </p:nvSpPr>
        <p:spPr>
          <a:xfrm>
            <a:off x="411480" y="987552"/>
            <a:ext cx="1463040" cy="237744"/>
          </a:xfrm>
          <a:prstGeom prst="rect">
            <a:avLst/>
          </a:prstGeom>
          <a:noFill/>
          <a:ln/>
        </p:spPr>
        <p:txBody>
          <a:bodyPr wrap="square" lIns="0" tIns="0" rIns="0" bIns="0" rtlCol="0" anchor="ctr"/>
          <a:lstStyle/>
          <a:p>
            <a:pPr indent="0" marL="0">
              <a:lnSpc>
                <a:spcPct val="110000"/>
              </a:lnSpc>
              <a:buNone/>
            </a:pPr>
            <a:r>
              <a:rPr lang="en-US" sz="800" b="1" dirty="0">
                <a:solidFill>
                  <a:srgbClr val="7B0000"/>
                </a:solidFill>
                <a:latin typeface="Arial" pitchFamily="34" charset="0"/>
                <a:ea typeface="Arial" pitchFamily="34" charset="-122"/>
                <a:cs typeface="Arial" pitchFamily="34" charset="-120"/>
              </a:rPr>
              <a:t>Executive summary</a:t>
            </a:r>
            <a:endParaRPr lang="en-US" sz="800" dirty="0"/>
          </a:p>
          <a:p>
            <a:pPr indent="0" marL="0">
              <a:lnSpc>
                <a:spcPct val="110000"/>
              </a:lnSpc>
              <a:buNone/>
            </a:pPr>
            <a:r>
              <a:rPr lang="en-US" sz="800" dirty="0">
                <a:solidFill>
                  <a:srgbClr val="7A706D"/>
                </a:solidFill>
                <a:latin typeface="Arial" pitchFamily="34" charset="0"/>
                <a:ea typeface="Arial" pitchFamily="34" charset="-122"/>
                <a:cs typeface="Arial" pitchFamily="34" charset="-120"/>
              </a:rPr>
              <a:t>Considerations for buyers</a:t>
            </a:r>
            <a:endParaRPr lang="en-US" sz="800" dirty="0"/>
          </a:p>
        </p:txBody>
      </p:sp>
      <p:sp>
        <p:nvSpPr>
          <p:cNvPr id="4" name="Text 2"/>
          <p:cNvSpPr txBox="1"/>
          <p:nvPr/>
        </p:nvSpPr>
        <p:spPr>
          <a:xfrm>
            <a:off x="2057400" y="987552"/>
            <a:ext cx="9722815" cy="237744"/>
          </a:xfrm>
          <a:prstGeom prst="rect">
            <a:avLst/>
          </a:prstGeom>
          <a:noFill/>
          <a:ln/>
        </p:spPr>
        <p:txBody>
          <a:bodyPr wrap="square" lIns="0" tIns="0" rIns="0" bIns="0" rtlCol="0" anchor="ctr"/>
          <a:lstStyle/>
          <a:p>
            <a:pPr indent="0" marL="0">
              <a:buNone/>
            </a:pPr>
            <a:r>
              <a:rPr lang="en-US" sz="1150" dirty="0">
                <a:solidFill>
                  <a:srgbClr val="7B0000"/>
                </a:solidFill>
                <a:latin typeface="Georgia" pitchFamily="34" charset="0"/>
                <a:ea typeface="Georgia" pitchFamily="34" charset="-122"/>
                <a:cs typeface="Georgia" pitchFamily="34" charset="-120"/>
              </a:rPr>
              <a:t>Each item states what the data shows and how it is addressed; none is adjusted for in Adj. EBITDA on page 4.</a:t>
            </a:r>
            <a:endParaRPr lang="en-US" sz="1150" dirty="0"/>
          </a:p>
        </p:txBody>
      </p:sp>
      <p:sp>
        <p:nvSpPr>
          <p:cNvPr id="5" name="Shape 3"/>
          <p:cNvSpPr/>
          <p:nvPr/>
        </p:nvSpPr>
        <p:spPr>
          <a:xfrm>
            <a:off x="411480" y="1280160"/>
            <a:ext cx="11368735" cy="0"/>
          </a:xfrm>
          <a:prstGeom prst="line">
            <a:avLst/>
          </a:prstGeom>
          <a:noFill/>
          <a:ln w="9525">
            <a:solidFill>
              <a:srgbClr val="7B0000"/>
            </a:solidFill>
            <a:prstDash val="solid"/>
          </a:ln>
        </p:spPr>
      </p:sp>
      <p:sp>
        <p:nvSpPr>
          <p:cNvPr id="6" name="Shape 4"/>
          <p:cNvSpPr/>
          <p:nvPr/>
        </p:nvSpPr>
        <p:spPr>
          <a:xfrm>
            <a:off x="1965960" y="1280160"/>
            <a:ext cx="0" cy="5065776"/>
          </a:xfrm>
          <a:prstGeom prst="line">
            <a:avLst/>
          </a:prstGeom>
          <a:noFill/>
          <a:ln w="9525">
            <a:solidFill>
              <a:srgbClr val="7B0000"/>
            </a:solidFill>
            <a:prstDash val="solid"/>
          </a:ln>
        </p:spPr>
      </p:sp>
      <p:sp>
        <p:nvSpPr>
          <p:cNvPr id="7" name="Text 5"/>
          <p:cNvSpPr txBox="1"/>
          <p:nvPr/>
        </p:nvSpPr>
        <p:spPr>
          <a:xfrm>
            <a:off x="411480" y="3931920"/>
            <a:ext cx="1463040" cy="2414016"/>
          </a:xfrm>
          <a:prstGeom prst="rect">
            <a:avLst/>
          </a:prstGeom>
          <a:noFill/>
          <a:ln/>
        </p:spPr>
        <p:txBody>
          <a:bodyPr wrap="square" lIns="0" tIns="0" rIns="0" bIns="0" rtlCol="0" anchor="b"/>
          <a:lstStyle/>
          <a:p>
            <a:pPr indent="0" marL="0">
              <a:lnSpc>
                <a:spcPct val="100000"/>
              </a:lnSpc>
              <a:spcAft>
                <a:spcPts val="300"/>
              </a:spcAft>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p:txBody>
      </p:sp>
      <p:sp>
        <p:nvSpPr>
          <p:cNvPr id="8" name="Text 6"/>
          <p:cNvSpPr txBox="1"/>
          <p:nvPr/>
        </p:nvSpPr>
        <p:spPr>
          <a:xfrm>
            <a:off x="2057400" y="5998464"/>
            <a:ext cx="9722815" cy="347472"/>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Management; company financial statements (QuickBooks Online) and payroll register, FY2023–FY2025;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a:t>
            </a:r>
            <a:endParaRPr lang="en-US" sz="700" dirty="0"/>
          </a:p>
        </p:txBody>
      </p:sp>
      <p:sp>
        <p:nvSpPr>
          <p:cNvPr id="9" name="Shape 7"/>
          <p:cNvSpPr/>
          <p:nvPr/>
        </p:nvSpPr>
        <p:spPr>
          <a:xfrm>
            <a:off x="411480" y="6400800"/>
            <a:ext cx="11368735" cy="0"/>
          </a:xfrm>
          <a:prstGeom prst="line">
            <a:avLst/>
          </a:prstGeom>
          <a:noFill/>
          <a:ln w="6350">
            <a:solidFill>
              <a:srgbClr val="C2BAB8"/>
            </a:solidFill>
            <a:prstDash val="solid"/>
          </a:ln>
        </p:spPr>
      </p:sp>
      <p:sp>
        <p:nvSpPr>
          <p:cNvPr id="10" name="Text 8"/>
          <p:cNvSpPr txBox="1"/>
          <p:nvPr/>
        </p:nvSpPr>
        <p:spPr>
          <a:xfrm>
            <a:off x="411480" y="6455664"/>
            <a:ext cx="36576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endParaRPr lang="en-US" sz="750" dirty="0"/>
          </a:p>
        </p:txBody>
      </p:sp>
      <p:sp>
        <p:nvSpPr>
          <p:cNvPr id="11" name="Text 9"/>
          <p:cNvSpPr txBox="1"/>
          <p:nvPr/>
        </p:nvSpPr>
        <p:spPr>
          <a:xfrm>
            <a:off x="4267048" y="6455664"/>
            <a:ext cx="3657600"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12" name="Image 0" descr="/home/user/project-avengers/amb-material-bot/design/directions/b-editorial-boutique/amb-logo-tight.png">    </p:cNvPr>
          <p:cNvPicPr>
            <a:picLocks noChangeAspect="1"/>
          </p:cNvPicPr>
          <p:nvPr/>
        </p:nvPicPr>
        <p:blipFill>
          <a:blip r:embed="rId1"/>
          <a:stretch>
            <a:fillRect/>
          </a:stretch>
        </p:blipFill>
        <p:spPr>
          <a:xfrm>
            <a:off x="10629010" y="6464808"/>
            <a:ext cx="618110" cy="201168"/>
          </a:xfrm>
          <a:prstGeom prst="rect">
            <a:avLst/>
          </a:prstGeom>
        </p:spPr>
      </p:pic>
      <p:sp>
        <p:nvSpPr>
          <p:cNvPr id="13" name="Text 10"/>
          <p:cNvSpPr txBox="1"/>
          <p:nvPr/>
        </p:nvSpPr>
        <p:spPr>
          <a:xfrm>
            <a:off x="11368735" y="6455664"/>
            <a:ext cx="411480"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7</a:t>
            </a:r>
            <a:endParaRPr lang="en-US" sz="800" dirty="0"/>
          </a:p>
        </p:txBody>
      </p:sp>
      <p:sp>
        <p:nvSpPr>
          <p:cNvPr id="14" name="Text 11"/>
          <p:cNvSpPr txBox="1"/>
          <p:nvPr/>
        </p:nvSpPr>
        <p:spPr>
          <a:xfrm>
            <a:off x="2057400" y="1426464"/>
            <a:ext cx="9722815" cy="201168"/>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Considerations for buyers</a:t>
            </a:r>
            <a:pPr indent="0" marL="0">
              <a:buNone/>
            </a:pPr>
            <a:endParaRPr lang="en-US" sz="950" dirty="0"/>
          </a:p>
        </p:txBody>
      </p:sp>
      <p:sp>
        <p:nvSpPr>
          <p:cNvPr id="15" name="Shape 12"/>
          <p:cNvSpPr/>
          <p:nvPr/>
        </p:nvSpPr>
        <p:spPr>
          <a:xfrm>
            <a:off x="2057400" y="1655064"/>
            <a:ext cx="9722815" cy="0"/>
          </a:xfrm>
          <a:prstGeom prst="line">
            <a:avLst/>
          </a:prstGeom>
          <a:noFill/>
          <a:ln w="6350">
            <a:solidFill>
              <a:srgbClr val="2C2523"/>
            </a:solidFill>
            <a:prstDash val="solid"/>
          </a:ln>
        </p:spPr>
      </p:sp>
      <p:sp>
        <p:nvSpPr>
          <p:cNvPr id="16" name="Text 13"/>
          <p:cNvSpPr txBox="1"/>
          <p:nvPr/>
        </p:nvSpPr>
        <p:spPr>
          <a:xfrm>
            <a:off x="411480" y="1444752"/>
            <a:ext cx="1463040" cy="329184"/>
          </a:xfrm>
          <a:prstGeom prst="rect">
            <a:avLst/>
          </a:prstGeom>
          <a:noFill/>
          <a:ln/>
        </p:spPr>
        <p:txBody>
          <a:bodyPr wrap="square" lIns="0" tIns="0" rIns="0" bIns="0" rtlCol="0" anchor="t"/>
          <a:lstStyle/>
          <a:p>
            <a:pPr indent="0" marL="0">
              <a:lnSpc>
                <a:spcPct val="110000"/>
              </a:lnSpc>
              <a:buNone/>
            </a:pPr>
            <a:r>
              <a:rPr lang="en-US" sz="750" b="1" dirty="0">
                <a:solidFill>
                  <a:srgbClr val="2C2523"/>
                </a:solidFill>
                <a:latin typeface="Arial" pitchFamily="34" charset="0"/>
                <a:ea typeface="Arial" pitchFamily="34" charset="-122"/>
                <a:cs typeface="Arial" pitchFamily="34" charset="-120"/>
              </a:rPr>
              <a:t>Exhibit 1</a:t>
            </a:r>
            <a:endParaRPr lang="en-US" sz="750" dirty="0"/>
          </a:p>
          <a:p>
            <a:pPr indent="0" marL="0">
              <a:lnSpc>
                <a:spcPct val="110000"/>
              </a:lnSpc>
              <a:buNone/>
            </a:pPr>
            <a:r>
              <a:rPr lang="en-US" sz="750" dirty="0">
                <a:solidFill>
                  <a:srgbClr val="7A706D"/>
                </a:solidFill>
                <a:latin typeface="Arial" pitchFamily="34" charset="0"/>
                <a:ea typeface="Arial" pitchFamily="34" charset="-122"/>
                <a:cs typeface="Arial" pitchFamily="34" charset="-120"/>
              </a:rPr>
              <a:t>Six items, each with the data and the response</a:t>
            </a:r>
            <a:endParaRPr lang="en-US" sz="7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057400" y="1728216"/>
          <a:ext cx="9722815" cy="914400"/>
        </p:xfrm>
        <a:graphic>
          <a:graphicData uri="http://schemas.openxmlformats.org/drawingml/2006/table">
            <a:tbl>
              <a:tblPr/>
              <a:tblGrid>
                <a:gridCol w="1645920"/>
                <a:gridCol w="3977640"/>
                <a:gridCol w="4099255"/>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Consideration</a:t>
                      </a:r>
                      <a:endParaRPr lang="en-US" sz="800" dirty="0">
                        <a:latin typeface="Arial" charset="0"/>
                        <a:ea typeface="Arial" charset="0"/>
                        <a:cs typeface="Arial" charset="0"/>
                      </a:endParaRPr>
                    </a:p>
                  </a:txBody>
                  <a:tcPr marL="54864" marR="54864" marT="36576" marB="36576"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What the data shows</a:t>
                      </a:r>
                      <a:endParaRPr lang="en-US" sz="800" dirty="0">
                        <a:latin typeface="Arial" charset="0"/>
                        <a:ea typeface="Arial" charset="0"/>
                        <a:cs typeface="Arial" charset="0"/>
                      </a:endParaRPr>
                    </a:p>
                  </a:txBody>
                  <a:tcPr marL="54864" marR="54864" marT="36576" marB="36576"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How it is addressed</a:t>
                      </a:r>
                      <a:endParaRPr lang="en-US" sz="800" dirty="0">
                        <a:latin typeface="Arial" charset="0"/>
                        <a:ea typeface="Arial" charset="0"/>
                        <a:cs typeface="Arial" charset="0"/>
                      </a:endParaRPr>
                    </a:p>
                  </a:txBody>
                  <a:tcPr marL="54864" marR="54864" marT="36576" marB="36576" anchor="ctr">
                    <a:lnL w="0" cap="flat" cmpd="sng" algn="ctr">
                      <a:noFill/>
                    </a:lnL>
                    <a:lnR w="0" cap="flat" cmpd="sng" algn="ctr">
                      <a:noFill/>
                    </a:lnR>
                    <a:lnT w="0" cap="flat" cmpd="sng" algn="ctr">
                      <a:noFill/>
                    </a:lnT>
                    <a:lnB w="0" cap="flat" cmpd="sng" algn="ctr">
                      <a:noFill/>
                    </a:lnB>
                    <a:solidFill>
                      <a:srgbClr val="7B0000"/>
                    </a:solidFill>
                  </a:tcPr>
                </a:tc>
              </a:tr>
              <a:tr h="566928">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Owner involvement</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The owner works about 45 hours a week on estimating large replacements, commercial relationships, vendor terms and hiring. None of the four is a field role, and none is delegated today.</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The operations manager (11 years) already runs dispatch and scheduling. The owner offers up to 12 months of full-time transition, and Adj. EBITDA carries a $95K general manager salary in his place (page 4).</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7200">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Replacement salary</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Adj. EBITDA of $452.9K assumes a $95K general manager. Each $10K above that figure reduces Adj. EBITDA by $10K, or 2.2%.</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The figure is management’s estimate for the Columbus market (1). A buyer can substitute its own number without changing any other line of the schedule.</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566928">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Maintenance-agreement renewal</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1,450 members renew at 82% (1), so about 260 members must be replaced each year to hold the base flat. Agreement revenue was $273.7K in FY2025, 9.0% of the total.</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Agreements are offered on about 35% of service calls (1); technicians earn a spiff on each sale, and the two-tune-up cycle puts a technician in each member’s home twice a year.</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566928">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Field labor</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Field labor is 18 of 24 employees (14 technicians, 4 installers). Pay is hourly plus commissions, non-union, and hiring is one of the owner’s four roles.</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The current crew delivered the 12.4% revenue CAGR without a change in headcount reported by management (1). Hiring transfers to the general manager during the 12-month transition.</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7200">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Customer concentration</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The largest customer, a commercial property manager (C-001), is about 4% of FY2025 revenue. Residential work, 64% of revenue, consists of single-household jobs.</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No single account is material to earnings. The owner will introduce the buyer to each commercial account during the transition period.</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566928">
                <a:tc>
                  <a:txBody>
                    <a:bodyPr/>
                    <a:lstStyle/>
                    <a:p>
                      <a:pPr algn="l" indent="0" marL="0">
                        <a:buNone/>
                      </a:pPr>
                      <a:r>
                        <a:rPr lang="en-US" sz="900" b="1" dirty="0">
                          <a:solidFill>
                            <a:srgbClr val="2C2523"/>
                          </a:solidFill>
                          <a:latin typeface="Arial" pitchFamily="34" charset="0"/>
                          <a:ea typeface="Arial" pitchFamily="34" charset="-122"/>
                          <a:cs typeface="Arial" pitchFamily="34" charset="-120"/>
                        </a:rPr>
                        <a:t>Premises and fleet</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The 8,000 sq ft shop is leased from an unrelated landlord through 2029 with a 5-year renewal option. The 18 vans and 2 trucks are owned and financed with vehicle loans.</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900" dirty="0">
                          <a:solidFill>
                            <a:srgbClr val="2C2523"/>
                          </a:solidFill>
                          <a:latin typeface="Arial" pitchFamily="34" charset="0"/>
                          <a:ea typeface="Arial" pitchFamily="34" charset="-122"/>
                          <a:cs typeface="Arial" pitchFamily="34" charset="-120"/>
                        </a:rPr>
                        <a:t>The lease has about three years of term plus the 5-year option. In an asset sale the Seller repays the vehicle loans at closing and the fleet transfers free and clear of liens.</a:t>
                      </a:r>
                      <a:endParaRPr lang="en-US" sz="900" dirty="0">
                        <a:latin typeface="Arial" charset="0"/>
                        <a:ea typeface="Arial" charset="0"/>
                        <a:cs typeface="Arial" charset="0"/>
                      </a:endParaRPr>
                    </a:p>
                  </a:txBody>
                  <a:tcPr marL="54864" marR="54864" marT="36576" marB="36576" anchor="t">
                    <a:lnL w="0" cap="flat" cmpd="sng" algn="ctr">
                      <a:noFill/>
                    </a:lnL>
                    <a:lnR w="0" cap="flat" cmpd="sng" algn="ctr">
                      <a:noFill/>
                    </a:lnR>
                    <a:lnT w="0" cap="flat" cmpd="sng" algn="ctr">
                      <a:noFill/>
                    </a:lnT>
                    <a:lnB w="0" cap="flat" cmpd="sng" algn="ctr">
                      <a:noFill/>
                    </a:lnB>
                  </a:tcPr>
                </a:tc>
              </a:tr>
            </a:tbl>
          </a:graphicData>
        </a:graphic>
      </p:graphicFrame>
      <p:sp>
        <p:nvSpPr>
          <p:cNvPr id="18" name="Shape 14"/>
          <p:cNvSpPr/>
          <p:nvPr/>
        </p:nvSpPr>
        <p:spPr>
          <a:xfrm>
            <a:off x="2057400" y="5285232"/>
            <a:ext cx="9722815" cy="502920"/>
          </a:xfrm>
          <a:prstGeom prst="rect">
            <a:avLst/>
          </a:prstGeom>
          <a:solidFill>
            <a:srgbClr val="F5EDEC"/>
          </a:solidFill>
          <a:ln w="12700">
            <a:solidFill>
              <a:srgbClr val="F5EDEC"/>
            </a:solidFill>
            <a:prstDash val="solid"/>
          </a:ln>
        </p:spPr>
      </p:sp>
      <p:sp>
        <p:nvSpPr>
          <p:cNvPr id="19" name="Shape 15"/>
          <p:cNvSpPr/>
          <p:nvPr/>
        </p:nvSpPr>
        <p:spPr>
          <a:xfrm>
            <a:off x="2057400" y="5285232"/>
            <a:ext cx="27432" cy="502920"/>
          </a:xfrm>
          <a:prstGeom prst="rect">
            <a:avLst/>
          </a:prstGeom>
          <a:solidFill>
            <a:srgbClr val="7B0000"/>
          </a:solidFill>
          <a:ln w="12700">
            <a:solidFill>
              <a:srgbClr val="7B0000"/>
            </a:solidFill>
            <a:prstDash val="solid"/>
          </a:ln>
        </p:spPr>
      </p:sp>
      <p:sp>
        <p:nvSpPr>
          <p:cNvPr id="20" name="Text 16"/>
          <p:cNvSpPr txBox="1"/>
          <p:nvPr/>
        </p:nvSpPr>
        <p:spPr>
          <a:xfrm>
            <a:off x="2185416" y="5285232"/>
            <a:ext cx="9503359" cy="502920"/>
          </a:xfrm>
          <a:prstGeom prst="rect">
            <a:avLst/>
          </a:prstGeom>
          <a:noFill/>
          <a:ln/>
        </p:spPr>
        <p:txBody>
          <a:bodyPr wrap="square" lIns="0" tIns="0" rIns="0" bIns="0" rtlCol="0" anchor="ctr"/>
          <a:lstStyle/>
          <a:p>
            <a:pPr indent="0" marL="0">
              <a:lnSpc>
                <a:spcPct val="108000"/>
              </a:lnSpc>
              <a:buNone/>
            </a:pPr>
            <a:r>
              <a:rPr lang="en-US" sz="950" b="1" dirty="0">
                <a:solidFill>
                  <a:srgbClr val="7B0000"/>
                </a:solidFill>
                <a:latin typeface="Arial" pitchFamily="34" charset="0"/>
                <a:ea typeface="Arial" pitchFamily="34" charset="-122"/>
                <a:cs typeface="Arial" pitchFamily="34" charset="-120"/>
              </a:rPr>
              <a:t>Takeaway: </a:t>
            </a:r>
            <a:pPr indent="0" marL="0">
              <a:lnSpc>
                <a:spcPct val="108000"/>
              </a:lnSpc>
              <a:buNone/>
            </a:pPr>
            <a:r>
              <a:rPr lang="en-US" sz="950" dirty="0">
                <a:solidFill>
                  <a:srgbClr val="2C2523"/>
                </a:solidFill>
                <a:latin typeface="Arial" pitchFamily="34" charset="0"/>
                <a:ea typeface="Arial" pitchFamily="34" charset="-122"/>
                <a:cs typeface="Arial" pitchFamily="34" charset="-120"/>
              </a:rPr>
              <a:t>Four of the six items resolve to the same test, whether a $95K general manager and the 11-year operations manager can carry the owner’s four roles; the other two (concentration at 4%, a lease with three years plus an option) are matters of record.</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AMB Advisory Services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Ridgeline: Confidential Information Memorandum</dc:title>
  <dc:subject>PptxGenJS Presentation</dc:subject>
  <dc:creator>AMB Advisory Services LLC</dc:creator>
  <cp:lastModifiedBy>AMB Advisory Services LLC</cp:lastModifiedBy>
  <cp:revision>1</cp:revision>
  <dcterms:created xsi:type="dcterms:W3CDTF">2026-09-28T03:04:41Z</dcterms:created>
  <dcterms:modified xsi:type="dcterms:W3CDTF">2026-09-28T03:04:41Z</dcterms:modified>
</cp:coreProperties>
</file>