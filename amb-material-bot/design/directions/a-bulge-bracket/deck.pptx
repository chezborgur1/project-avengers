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7B0000"/>
            </a:solidFill>
            <a:effectLst/>
          </c:spPr>
          <c:invertIfNegative val="0"/>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2407</c:v>
                </c:pt>
                <c:pt idx="1">
                  <c:v>2719</c:v>
                </c:pt>
                <c:pt idx="2">
                  <c:v>3041</c:v>
                </c:pt>
              </c:numCache>
            </c:numRef>
          </c:val>
        </c:ser>
        <c:ser>
          <c:idx val="1"/>
          <c:order val="1"/>
          <c:tx>
            <c:strRef>
              <c:f>Sheet1!$C$1</c:f>
              <c:strCache>
                <c:ptCount val="1"/>
                <c:pt idx="0">
                  <c:v>Adj. EBITDA</c:v>
                </c:pt>
              </c:strCache>
            </c:strRef>
          </c:tx>
          <c:spPr>
            <a:solidFill>
              <a:srgbClr val="DCC7C4"/>
            </a:solidFill>
            <a:effectLst/>
          </c:spPr>
          <c:invertIfNegative val="0"/>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263</c:v>
                </c:pt>
                <c:pt idx="1">
                  <c:v>354</c:v>
                </c:pt>
                <c:pt idx="2">
                  <c:v>453</c:v>
                </c:pt>
              </c:numCache>
            </c:numRef>
          </c:val>
        </c:ser>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6350" cap="flat">
            <a:solidFill>
              <a:srgbClr val="C2BAB8"/>
            </a:solidFill>
            <a:prstDash val="solid"/>
            <a:round/>
          </a:ln>
        </c:spPr>
        <c:txPr>
          <a:bodyPr/>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800">
              <a:solidFill>
                <a:srgbClr val="2C2523"/>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FY2025 revenue</c:v>
                </c:pt>
              </c:strCache>
            </c:strRef>
          </c:tx>
          <c:spPr>
            <a:solidFill>
              <a:srgbClr val="7B0000"/>
            </a:solidFill>
            <a:effectLst/>
          </c:spPr>
          <c:invertIfNegative val="0"/>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Residential service &amp; replacement</c:v>
                  </c:pt>
                  <c:pt idx="1">
                    <c:v>Commercial</c:v>
                  </c:pt>
                  <c:pt idx="2">
                    <c:v>Maintenance agreements</c:v>
                  </c:pt>
                </c:lvl>
              </c:multiLvlStrCache>
            </c:multiLvlStrRef>
          </c:cat>
          <c:val>
            <c:numRef>
              <c:f>Sheet1!$B$2:$B$4</c:f>
              <c:numCache>
                <c:formatCode>General</c:formatCode>
                <c:ptCount val="3"/>
                <c:pt idx="0">
                  <c:v>1946</c:v>
                </c:pt>
                <c:pt idx="1">
                  <c:v>821</c:v>
                </c:pt>
                <c:pt idx="2">
                  <c:v>274</c:v>
                </c:pt>
              </c:numCache>
            </c:numRef>
          </c:val>
        </c:ser>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6350" cap="flat">
            <a:solidFill>
              <a:srgbClr val="C2BAB8"/>
            </a:solidFill>
            <a:prstDash val="solid"/>
            <a:round/>
          </a:ln>
        </c:spPr>
        <c:txPr>
          <a:bodyPr/>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ax val="24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project-avengers/amb-material-bot/design/directions/a-bulge-bracket/assets/amb-logo-tight.png">    </p:cNvPr>
          <p:cNvPicPr>
            <a:picLocks noChangeAspect="1"/>
          </p:cNvPicPr>
          <p:nvPr/>
        </p:nvPicPr>
        <p:blipFill>
          <a:blip r:embed="rId1"/>
          <a:stretch>
            <a:fillRect/>
          </a:stretch>
        </p:blipFill>
        <p:spPr>
          <a:xfrm>
            <a:off x="640080" y="566928"/>
            <a:ext cx="2194560" cy="714234"/>
          </a:xfrm>
          <a:prstGeom prst="rect">
            <a:avLst/>
          </a:prstGeom>
        </p:spPr>
      </p:pic>
      <p:sp>
        <p:nvSpPr>
          <p:cNvPr id="3" name="Text 0"/>
          <p:cNvSpPr txBox="1"/>
          <p:nvPr/>
        </p:nvSpPr>
        <p:spPr>
          <a:xfrm>
            <a:off x="640080" y="2788920"/>
            <a:ext cx="10058400" cy="777240"/>
          </a:xfrm>
          <a:prstGeom prst="rect">
            <a:avLst/>
          </a:prstGeom>
          <a:noFill/>
          <a:ln/>
        </p:spPr>
        <p:txBody>
          <a:bodyPr wrap="square" lIns="0" tIns="0" rIns="0" bIns="0" rtlCol="0" anchor="b"/>
          <a:lstStyle/>
          <a:p>
            <a:pPr algn="l" indent="0" marL="0">
              <a:buNone/>
            </a:pPr>
            <a:r>
              <a:rPr lang="en-US" sz="4000" dirty="0">
                <a:solidFill>
                  <a:srgbClr val="2C2523"/>
                </a:solidFill>
                <a:latin typeface="Georgia" pitchFamily="34" charset="0"/>
                <a:ea typeface="Georgia" pitchFamily="34" charset="-122"/>
                <a:cs typeface="Georgia" pitchFamily="34" charset="-120"/>
              </a:rPr>
              <a:t>Project Ridgeline</a:t>
            </a:r>
            <a:endParaRPr lang="en-US" sz="4000" dirty="0"/>
          </a:p>
        </p:txBody>
      </p:sp>
      <p:sp>
        <p:nvSpPr>
          <p:cNvPr id="4" name="Shape 1"/>
          <p:cNvSpPr/>
          <p:nvPr/>
        </p:nvSpPr>
        <p:spPr>
          <a:xfrm>
            <a:off x="658368" y="3703320"/>
            <a:ext cx="1828800" cy="0"/>
          </a:xfrm>
          <a:prstGeom prst="line">
            <a:avLst/>
          </a:prstGeom>
          <a:noFill/>
          <a:ln w="12700">
            <a:solidFill>
              <a:srgbClr val="7B0000"/>
            </a:solidFill>
            <a:prstDash val="solid"/>
          </a:ln>
        </p:spPr>
      </p:sp>
      <p:sp>
        <p:nvSpPr>
          <p:cNvPr id="5" name="Text 2"/>
          <p:cNvSpPr txBox="1"/>
          <p:nvPr/>
        </p:nvSpPr>
        <p:spPr>
          <a:xfrm>
            <a:off x="640080" y="3822192"/>
            <a:ext cx="10058400" cy="310896"/>
          </a:xfrm>
          <a:prstGeom prst="rect">
            <a:avLst/>
          </a:prstGeom>
          <a:noFill/>
          <a:ln/>
        </p:spPr>
        <p:txBody>
          <a:bodyPr wrap="square" lIns="0" tIns="0" rIns="0" bIns="0" rtlCol="0" anchor="t"/>
          <a:lstStyle/>
          <a:p>
            <a:pPr algn="l" indent="0" marL="0">
              <a:buNone/>
            </a:pPr>
            <a:r>
              <a:rPr lang="en-US" sz="1600" dirty="0">
                <a:solidFill>
                  <a:srgbClr val="2C2523"/>
                </a:solidFill>
                <a:latin typeface="Arial" pitchFamily="34" charset="0"/>
                <a:ea typeface="Arial" pitchFamily="34" charset="-122"/>
                <a:cs typeface="Arial" pitchFamily="34" charset="-120"/>
              </a:rPr>
              <a:t>Confidential Information Memorandum</a:t>
            </a:r>
            <a:endParaRPr lang="en-US" sz="1600" dirty="0"/>
          </a:p>
        </p:txBody>
      </p:sp>
      <p:sp>
        <p:nvSpPr>
          <p:cNvPr id="6" name="Text 3"/>
          <p:cNvSpPr txBox="1"/>
          <p:nvPr/>
        </p:nvSpPr>
        <p:spPr>
          <a:xfrm>
            <a:off x="640080" y="4169664"/>
            <a:ext cx="10058400" cy="237744"/>
          </a:xfrm>
          <a:prstGeom prst="rect">
            <a:avLst/>
          </a:prstGeom>
          <a:noFill/>
          <a:ln/>
        </p:spPr>
        <p:txBody>
          <a:bodyPr wrap="square" lIns="0" tIns="0" rIns="0" bIns="0" rtlCol="0" anchor="t"/>
          <a:lstStyle/>
          <a:p>
            <a:pPr algn="l" indent="0" marL="0">
              <a:buNone/>
            </a:pPr>
            <a:r>
              <a:rPr lang="en-US" sz="1100" dirty="0">
                <a:solidFill>
                  <a:srgbClr val="7A706D"/>
                </a:solidFill>
                <a:latin typeface="Arial" pitchFamily="34" charset="0"/>
                <a:ea typeface="Arial" pitchFamily="34" charset="-122"/>
                <a:cs typeface="Arial" pitchFamily="34" charset="-120"/>
              </a:rPr>
              <a:t>September 2026</a:t>
            </a:r>
            <a:endParaRPr lang="en-US" sz="1100" dirty="0"/>
          </a:p>
        </p:txBody>
      </p:sp>
      <p:sp>
        <p:nvSpPr>
          <p:cNvPr id="7" name="Shape 4"/>
          <p:cNvSpPr/>
          <p:nvPr/>
        </p:nvSpPr>
        <p:spPr>
          <a:xfrm>
            <a:off x="411480" y="6400800"/>
            <a:ext cx="11368735" cy="0"/>
          </a:xfrm>
          <a:prstGeom prst="line">
            <a:avLst/>
          </a:prstGeom>
          <a:noFill/>
          <a:ln w="6350">
            <a:solidFill>
              <a:srgbClr val="C2BAB8"/>
            </a:solidFill>
            <a:prstDash val="solid"/>
          </a:ln>
        </p:spPr>
      </p:sp>
      <p:sp>
        <p:nvSpPr>
          <p:cNvPr id="8" name="Text 5"/>
          <p:cNvSpPr txBox="1"/>
          <p:nvPr/>
        </p:nvSpPr>
        <p:spPr>
          <a:xfrm>
            <a:off x="411480" y="6455664"/>
            <a:ext cx="8778240" cy="219456"/>
          </a:xfrm>
          <a:prstGeom prst="rect">
            <a:avLst/>
          </a:prstGeom>
          <a:noFill/>
          <a:ln/>
        </p:spPr>
        <p:txBody>
          <a:bodyPr wrap="square" lIns="0" tIns="0" rIns="0" bIns="0" rtlCol="0" anchor="ctr"/>
          <a:lstStyle/>
          <a:p>
            <a:pPr algn="l" indent="0" marL="0">
              <a:buNone/>
            </a:pPr>
            <a:r>
              <a:rPr lang="en-US" sz="750" dirty="0">
                <a:solidFill>
                  <a:srgbClr val="7A706D"/>
                </a:solidFill>
                <a:latin typeface="Arial" pitchFamily="34" charset="0"/>
                <a:ea typeface="Arial" pitchFamily="34" charset="-122"/>
                <a:cs typeface="Arial" pitchFamily="34" charset="-120"/>
              </a:rPr>
              <a:t>Strictly private and confidential. Prepared by AMB Advisory Services LLC for recipients who have executed a confidentiality agreement with AMB Advisory.</a:t>
            </a:r>
            <a:endParaRPr lang="en-US" sz="750" dirty="0"/>
          </a:p>
        </p:txBody>
      </p:sp>
      <p:sp>
        <p:nvSpPr>
          <p:cNvPr id="9" name="Text 6"/>
          <p:cNvSpPr txBox="1"/>
          <p:nvPr/>
        </p:nvSpPr>
        <p:spPr>
          <a:xfrm>
            <a:off x="8229600" y="6455664"/>
            <a:ext cx="3550615" cy="219456"/>
          </a:xfrm>
          <a:prstGeom prst="rect">
            <a:avLst/>
          </a:prstGeom>
          <a:noFill/>
          <a:ln/>
        </p:spPr>
        <p:txBody>
          <a:bodyPr wrap="square" lIns="0" tIns="0" rIns="0" bIns="0" rtlCol="0" anchor="ctr"/>
          <a:lstStyle/>
          <a:p>
            <a:pPr algn="r" indent="0" marL="0">
              <a:buNone/>
            </a:pPr>
            <a:r>
              <a:rPr lang="en-US" sz="750" dirty="0">
                <a:solidFill>
                  <a:srgbClr val="7A706D"/>
                </a:solidFill>
                <a:latin typeface="Arial" pitchFamily="34" charset="0"/>
                <a:ea typeface="Arial" pitchFamily="34" charset="-122"/>
                <a:cs typeface="Arial" pitchFamily="34" charset="-120"/>
              </a:rPr>
              <a:t>Tampa, Florida  ·  ambadvisoryservices.com</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algn="l" indent="0" marL="0">
              <a:lnSpc>
                <a:spcPct val="100000"/>
              </a:lnSpc>
              <a:buNone/>
            </a:pPr>
            <a:r>
              <a:rPr lang="en-US" sz="2000" b="1" dirty="0">
                <a:solidFill>
                  <a:srgbClr val="2C2523"/>
                </a:solidFill>
                <a:latin typeface="Georgia" pitchFamily="34" charset="0"/>
                <a:ea typeface="Georgia" pitchFamily="34" charset="-122"/>
                <a:cs typeface="Georgia" pitchFamily="34" charset="-120"/>
              </a:rPr>
              <a:t>Ridgeline reached $3.04M of revenue in FY2025, a 12.4% three-year CAGR, with Adj. EBITDA of $453K (14.9% margin)</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Shape 2"/>
          <p:cNvSpPr/>
          <p:nvPr/>
        </p:nvSpPr>
        <p:spPr>
          <a:xfrm>
            <a:off x="411480" y="6400800"/>
            <a:ext cx="11368735" cy="0"/>
          </a:xfrm>
          <a:prstGeom prst="line">
            <a:avLst/>
          </a:prstGeom>
          <a:noFill/>
          <a:ln w="6350">
            <a:solidFill>
              <a:srgbClr val="C2BAB8"/>
            </a:solidFill>
            <a:prstDash val="solid"/>
          </a:ln>
        </p:spPr>
      </p:sp>
      <p:sp>
        <p:nvSpPr>
          <p:cNvPr id="5" name="Text 3"/>
          <p:cNvSpPr txBox="1"/>
          <p:nvPr/>
        </p:nvSpPr>
        <p:spPr>
          <a:xfrm>
            <a:off x="411480" y="6455664"/>
            <a:ext cx="4572000" cy="219456"/>
          </a:xfrm>
          <a:prstGeom prst="rect">
            <a:avLst/>
          </a:prstGeom>
          <a:noFill/>
          <a:ln/>
        </p:spPr>
        <p:txBody>
          <a:bodyPr wrap="square" lIns="0" tIns="0" rIns="0" bIns="0" rtlCol="0" anchor="ctr"/>
          <a:lstStyle/>
          <a:p>
            <a:pPr algn="l" indent="0" marL="0">
              <a:buNone/>
            </a:pPr>
            <a:r>
              <a:rPr lang="en-US" sz="750" dirty="0">
                <a:solidFill>
                  <a:srgbClr val="7A706D"/>
                </a:solidFill>
                <a:latin typeface="Arial" pitchFamily="34" charset="0"/>
                <a:ea typeface="Arial" pitchFamily="34" charset="-122"/>
                <a:cs typeface="Arial" pitchFamily="34" charset="-120"/>
              </a:rPr>
              <a:t>Project Ridgeline</a:t>
            </a:r>
            <a:pPr algn="l" indent="0" marL="0">
              <a:buNone/>
            </a:pPr>
            <a:r>
              <a:rPr lang="en-US" sz="750" dirty="0">
                <a:solidFill>
                  <a:srgbClr val="C2BAB8"/>
                </a:solidFill>
                <a:latin typeface="Arial" pitchFamily="34" charset="0"/>
                <a:ea typeface="Arial" pitchFamily="34" charset="-122"/>
                <a:cs typeface="Arial" pitchFamily="34" charset="-120"/>
              </a:rPr>
              <a:t>  |  </a:t>
            </a:r>
            <a:pPr algn="l" indent="0" marL="0">
              <a:buNone/>
            </a:pPr>
            <a:r>
              <a:rPr lang="en-US" sz="750" dirty="0">
                <a:solidFill>
                  <a:srgbClr val="7B0000"/>
                </a:solidFill>
                <a:latin typeface="Arial" pitchFamily="34" charset="0"/>
                <a:ea typeface="Arial" pitchFamily="34" charset="-122"/>
                <a:cs typeface="Arial" pitchFamily="34" charset="-120"/>
              </a:rPr>
              <a:t>Executive summary</a:t>
            </a:r>
            <a:endParaRPr lang="en-US" sz="750" dirty="0"/>
          </a:p>
        </p:txBody>
      </p:sp>
      <p:sp>
        <p:nvSpPr>
          <p:cNvPr id="6" name="Text 4"/>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7" name="Image 0" descr="/home/user/project-avengers/amb-material-bot/design/directions/a-bulge-bracket/assets/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8" name="Text 5"/>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p>
        </p:txBody>
      </p:sp>
      <p:sp>
        <p:nvSpPr>
          <p:cNvPr id="9" name="Text 6"/>
          <p:cNvSpPr txBox="1"/>
          <p:nvPr/>
        </p:nvSpPr>
        <p:spPr>
          <a:xfrm>
            <a:off x="411480" y="1115568"/>
            <a:ext cx="6557162" cy="4754880"/>
          </a:xfrm>
          <a:prstGeom prst="rect">
            <a:avLst/>
          </a:prstGeom>
          <a:noFill/>
          <a:ln/>
        </p:spPr>
        <p:txBody>
          <a:bodyPr wrap="square" lIns="0" tIns="0" rIns="0" bIns="0" rtlCol="0" anchor="t"/>
          <a:lstStyle/>
          <a:p>
            <a:pPr algn="l" indent="0" marL="0">
              <a:lnSpc>
                <a:spcPct val="108000"/>
              </a:lnSpc>
              <a:spcAft>
                <a:spcPts val="700"/>
              </a:spcAft>
              <a:buNone/>
            </a:pPr>
            <a:r>
              <a:rPr lang="en-US" sz="1000" b="1" dirty="0">
                <a:solidFill>
                  <a:srgbClr val="2C2523"/>
                </a:solidFill>
                <a:latin typeface="Arial" pitchFamily="34" charset="0"/>
                <a:ea typeface="Arial" pitchFamily="34" charset="-122"/>
                <a:cs typeface="Arial" pitchFamily="34" charset="-120"/>
              </a:rPr>
              <a:t>Overview.  </a:t>
            </a:r>
            <a:pPr algn="l" indent="0" marL="0">
              <a:lnSpc>
                <a:spcPct val="108000"/>
              </a:lnSpc>
              <a:buNone/>
            </a:pPr>
            <a:r>
              <a:rPr lang="en-US" sz="1000" dirty="0">
                <a:solidFill>
                  <a:srgbClr val="2C2523"/>
                </a:solidFill>
                <a:latin typeface="Arial" pitchFamily="34" charset="0"/>
                <a:ea typeface="Arial" pitchFamily="34" charset="-122"/>
                <a:cs typeface="Arial" pitchFamily="34" charset="-120"/>
              </a:rPr>
              <a:t>Ridgeline Comfort Services LLC ("Ridgeline" or the "Company") is a residential and light-commercial HVAC and plumbing contractor based in Columbus, Ohio, serving Franklin, Delaware and Licking counties within about a 35-mile radius. Mark Delaney founded the Company in 2009 after 12 years as a lead technician at a regional HVAC contractor, and added plumbing service in 2019. Ridgeline employs 24 people, including 14 service technicians and 4 installers, and runs 18 service vans and 2 install trucks from an 8,000 sq ft leased shop. FY2025 revenue of $3.04M was 64% residential service and replacement, 27% commercial and 9% maintenance agreements, which cover 1,450 members renewing at about 82% (1). The Company has been a Carrier Factory Authorized Dealer since 2015 and holds a 4.8 Google rating from more than 900 reviews (1). Ridgeline is an S-Corp wholly owned by Mr. Delaney, who is retiring.</a:t>
            </a:r>
            <a:endParaRPr lang="en-US" sz="1000" dirty="0"/>
          </a:p>
          <a:p>
            <a:pPr algn="l" indent="0" marL="0">
              <a:lnSpc>
                <a:spcPct val="108000"/>
              </a:lnSpc>
              <a:spcAft>
                <a:spcPts val="700"/>
              </a:spcAft>
              <a:buNone/>
            </a:pPr>
            <a:r>
              <a:rPr lang="en-US" sz="1000" b="1" dirty="0">
                <a:solidFill>
                  <a:srgbClr val="2C2523"/>
                </a:solidFill>
                <a:latin typeface="Arial" pitchFamily="34" charset="0"/>
                <a:ea typeface="Arial" pitchFamily="34" charset="-122"/>
                <a:cs typeface="Arial" pitchFamily="34" charset="-120"/>
              </a:rPr>
              <a:t>Financial record.  </a:t>
            </a:r>
            <a:pPr algn="l" indent="0" marL="0">
              <a:lnSpc>
                <a:spcPct val="108000"/>
              </a:lnSpc>
              <a:buNone/>
            </a:pPr>
            <a:r>
              <a:rPr lang="en-US" sz="1000" dirty="0">
                <a:solidFill>
                  <a:srgbClr val="2C2523"/>
                </a:solidFill>
                <a:latin typeface="Arial" pitchFamily="34" charset="0"/>
                <a:ea typeface="Arial" pitchFamily="34" charset="-122"/>
                <a:cs typeface="Arial" pitchFamily="34" charset="-120"/>
              </a:rPr>
              <a:t>Revenue grew from $2.41M in FY2023 to $3.04M in FY2025, a 12.4% CAGR, while gross margin held between 61.0% and 61.9%. Reported EBITDA doubled from $157K to $316K over the same period because other operating expenses grew 7.6% in FY2025 against revenue growth of 11.9%. Adj. EBITDA of $453K in FY2025 (14.9% margin) reflects $105K of owner compensation above a $95,000 market salary and $31.5K of personal and one-time expenses; SDE was $548K (2).</a:t>
            </a:r>
            <a:endParaRPr lang="en-US" sz="1000" dirty="0"/>
          </a:p>
          <a:p>
            <a:pPr algn="l" indent="0" marL="0">
              <a:lnSpc>
                <a:spcPct val="108000"/>
              </a:lnSpc>
              <a:spcAft>
                <a:spcPts val="700"/>
              </a:spcAft>
              <a:buNone/>
            </a:pPr>
            <a:r>
              <a:rPr lang="en-US" sz="1000" b="1" dirty="0">
                <a:solidFill>
                  <a:srgbClr val="2C2523"/>
                </a:solidFill>
                <a:latin typeface="Arial" pitchFamily="34" charset="0"/>
                <a:ea typeface="Arial" pitchFamily="34" charset="-122"/>
                <a:cs typeface="Arial" pitchFamily="34" charset="-120"/>
              </a:rPr>
              <a:t>Growth levers identified by management (1).  </a:t>
            </a:r>
            <a:pPr algn="l" indent="0" marL="0">
              <a:lnSpc>
                <a:spcPct val="108000"/>
              </a:lnSpc>
              <a:buNone/>
            </a:pPr>
            <a:r>
              <a:rPr lang="en-US" sz="1000" dirty="0">
                <a:solidFill>
                  <a:srgbClr val="2C2523"/>
                </a:solidFill>
                <a:latin typeface="Arial" pitchFamily="34" charset="0"/>
                <a:ea typeface="Arial" pitchFamily="34" charset="-122"/>
                <a:cs typeface="Arial" pitchFamily="34" charset="-120"/>
              </a:rPr>
              <a:t>Maintenance agreements are offered on about 35% of service calls today, so the offer rate rather than price is the first lever. After-hours emergency plumbing is turned away after 7 pm. Two property managers have asked for quotes on additional buildings for preventive-maintenance contracts. The Company does little paid digital marketing; most leads come from referrals and Google reviews. None of these levers is included in the figures shown.</a:t>
            </a:r>
            <a:endParaRPr lang="en-US" sz="1000" dirty="0"/>
          </a:p>
          <a:p>
            <a:pPr algn="l" indent="0" marL="0">
              <a:lnSpc>
                <a:spcPct val="108000"/>
              </a:lnSpc>
              <a:spcAft>
                <a:spcPts val="700"/>
              </a:spcAft>
              <a:buNone/>
            </a:pPr>
            <a:r>
              <a:rPr lang="en-US" sz="1000" b="1" dirty="0">
                <a:solidFill>
                  <a:srgbClr val="2C2523"/>
                </a:solidFill>
                <a:latin typeface="Arial" pitchFamily="34" charset="0"/>
                <a:ea typeface="Arial" pitchFamily="34" charset="-122"/>
                <a:cs typeface="Arial" pitchFamily="34" charset="-120"/>
              </a:rPr>
              <a:t>Transaction.  </a:t>
            </a:r>
            <a:pPr algn="l" indent="0" marL="0">
              <a:lnSpc>
                <a:spcPct val="108000"/>
              </a:lnSpc>
              <a:buNone/>
            </a:pPr>
            <a:r>
              <a:rPr lang="en-US" sz="1000" dirty="0">
                <a:solidFill>
                  <a:srgbClr val="2C2523"/>
                </a:solidFill>
                <a:latin typeface="Arial" pitchFamily="34" charset="0"/>
                <a:ea typeface="Arial" pitchFamily="34" charset="-122"/>
                <a:cs typeface="Arial" pitchFamily="34" charset="-120"/>
              </a:rPr>
              <a:t>The Seller prefers a sale of substantially all operating assets, free and clear of liens, and is open to a buyer keeping the Ridgeline name and all 24 employees. Mr. Delaney will remain for up to 12 months after closing to transfer commercial relationships, estimating and vendor terms. All inquiries should be directed to AMB Advisory; do not contact the Seller or its employees directly.</a:t>
            </a:r>
            <a:endParaRPr lang="en-US" sz="1000" dirty="0"/>
          </a:p>
          <a:p>
            <a:pPr algn="l" indent="0" marL="0">
              <a:lnSpc>
                <a:spcPct val="108000"/>
              </a:lnSpc>
              <a:spcAft>
                <a:spcPts val="700"/>
              </a:spcAft>
              <a:buNone/>
            </a:pPr>
            <a:r>
              <a:rPr lang="en-US" sz="1000" b="1" dirty="0">
                <a:solidFill>
                  <a:srgbClr val="2C2523"/>
                </a:solidFill>
                <a:latin typeface="Arial" pitchFamily="34" charset="0"/>
                <a:ea typeface="Arial" pitchFamily="34" charset="-122"/>
                <a:cs typeface="Arial" pitchFamily="34" charset="-120"/>
              </a:rPr>
              <a:t>Basis of preparation.  </a:t>
            </a:r>
            <a:pPr algn="l" indent="0" marL="0">
              <a:lnSpc>
                <a:spcPct val="108000"/>
              </a:lnSpc>
              <a:buNone/>
            </a:pPr>
            <a:r>
              <a:rPr lang="en-US" sz="1000" dirty="0">
                <a:solidFill>
                  <a:srgbClr val="2C2523"/>
                </a:solidFill>
                <a:latin typeface="Arial" pitchFamily="34" charset="0"/>
                <a:ea typeface="Arial" pitchFamily="34" charset="-122"/>
                <a:cs typeface="Arial" pitchFamily="34" charset="-120"/>
              </a:rPr>
              <a:t>Financial figures are taken from QuickBooks Online statements for FY2023–FY2025 and are unaudited. Cost of revenue is derived from reported gross margin (page 3). Each adjustment to Reported EBITDA carries a tier code ([N] normalization, [S] owner compensation) and is supported line by line on page 4; no pro forma items are included.</a:t>
            </a:r>
            <a:endParaRPr lang="en-US" sz="1000" dirty="0"/>
          </a:p>
        </p:txBody>
      </p:sp>
      <p:sp>
        <p:nvSpPr>
          <p:cNvPr id="10" name="Shape 7"/>
          <p:cNvSpPr/>
          <p:nvPr/>
        </p:nvSpPr>
        <p:spPr>
          <a:xfrm>
            <a:off x="7060082" y="1115568"/>
            <a:ext cx="0" cy="4754880"/>
          </a:xfrm>
          <a:prstGeom prst="line">
            <a:avLst/>
          </a:prstGeom>
          <a:noFill/>
          <a:ln w="6350">
            <a:solidFill>
              <a:srgbClr val="C2BAB8"/>
            </a:solidFill>
            <a:prstDash val="solid"/>
          </a:ln>
        </p:spPr>
      </p:sp>
      <p:sp>
        <p:nvSpPr>
          <p:cNvPr id="11" name="Text 8"/>
          <p:cNvSpPr txBox="1"/>
          <p:nvPr/>
        </p:nvSpPr>
        <p:spPr>
          <a:xfrm>
            <a:off x="7151522" y="1115568"/>
            <a:ext cx="4631436"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2.1</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Quick Stats</a:t>
            </a:r>
            <a:pPr algn="l" indent="0" marL="0">
              <a:buNone/>
            </a:pPr>
            <a:r>
              <a:rPr lang="en-US" sz="950" dirty="0">
                <a:solidFill>
                  <a:srgbClr val="7A706D"/>
                </a:solidFill>
                <a:latin typeface="Arial" pitchFamily="34" charset="0"/>
                <a:ea typeface="Arial" pitchFamily="34" charset="-122"/>
                <a:cs typeface="Arial" pitchFamily="34" charset="-120"/>
              </a:rPr>
              <a:t>  ($000s unless noted)</a:t>
            </a:r>
            <a:endParaRPr lang="en-US" sz="950" dirty="0"/>
          </a:p>
        </p:txBody>
      </p:sp>
      <p:sp>
        <p:nvSpPr>
          <p:cNvPr id="12" name="Shape 9"/>
          <p:cNvSpPr/>
          <p:nvPr/>
        </p:nvSpPr>
        <p:spPr>
          <a:xfrm>
            <a:off x="7151522" y="1362456"/>
            <a:ext cx="4631436" cy="0"/>
          </a:xfrm>
          <a:prstGeom prst="line">
            <a:avLst/>
          </a:prstGeom>
          <a:noFill/>
          <a:ln w="6350">
            <a:solidFill>
              <a:srgbClr val="2C2523"/>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151522" y="1417320"/>
          <a:ext cx="4631436" cy="914400"/>
        </p:xfrm>
        <a:graphic>
          <a:graphicData uri="http://schemas.openxmlformats.org/drawingml/2006/table">
            <a:tbl>
              <a:tblPr/>
              <a:tblGrid>
                <a:gridCol w="1691640"/>
                <a:gridCol w="566928"/>
                <a:gridCol w="566928"/>
                <a:gridCol w="1805940"/>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Financial</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CAGR 12.4%, FY2023–25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growth</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Gross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+40 bps y/y</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10.4% margin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Adj. EBITDA (2)</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453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14.9% margin; page 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SDE (2)</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Adj. EBITDA + $95K salary</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Operating (FY2025 or current)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Mix: res. / comm. / maint.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64/27/9%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Per management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Agreement members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82% renewal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Largest customer</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 revenue; commercial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Employees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14 technicians, 4 installers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 per employee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24 full-time staff</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Vehicles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18 vans, 2 install trucks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Google rating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900+ reviews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4" name="Text 10"/>
          <p:cNvSpPr txBox="1"/>
          <p:nvPr/>
        </p:nvSpPr>
        <p:spPr>
          <a:xfrm>
            <a:off x="7151522" y="4430268"/>
            <a:ext cx="4631436"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2.2</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Transaction summary</a:t>
            </a:r>
            <a:endParaRPr lang="en-US" sz="950" dirty="0"/>
          </a:p>
        </p:txBody>
      </p:sp>
      <p:sp>
        <p:nvSpPr>
          <p:cNvPr id="15" name="Shape 11"/>
          <p:cNvSpPr/>
          <p:nvPr/>
        </p:nvSpPr>
        <p:spPr>
          <a:xfrm>
            <a:off x="7151522" y="4677156"/>
            <a:ext cx="4631436" cy="0"/>
          </a:xfrm>
          <a:prstGeom prst="line">
            <a:avLst/>
          </a:prstGeom>
          <a:noFill/>
          <a:ln w="6350">
            <a:solidFill>
              <a:srgbClr val="2C2523"/>
            </a:solidFill>
            <a:prstDash val="solid"/>
          </a:ln>
        </p:spPr>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7151522" y="4732020"/>
          <a:ext cx="4631436" cy="914400"/>
        </p:xfrm>
        <a:graphic>
          <a:graphicData uri="http://schemas.openxmlformats.org/drawingml/2006/table">
            <a:tbl>
              <a:tblPr/>
              <a:tblGrid>
                <a:gridCol w="1325880"/>
                <a:gridCol w="3305556"/>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Term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Summary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365760">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What is offered</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Substantially all operating assets of Ridgeline Comfort Services LLC, free and clear of liens</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37744">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Reason for sale</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Owner retirement (age 61); exit targeted within 12 months</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37744">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Owner transition</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Up to 12 months post-close; introduces commercial accounts</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37744">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Key employees</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Operations manager (11 years) expected to stay; all 24 offered continuity</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37744">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Contact</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AMB Advisory Services; no direct contact with the Seller or staff</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r>
            </a:tbl>
          </a:graphicData>
        </a:graphic>
      </p:graphicFrame>
      <p:sp>
        <p:nvSpPr>
          <p:cNvPr id="17" name="Text 12"/>
          <p:cNvSpPr txBox="1"/>
          <p:nvPr/>
        </p:nvSpPr>
        <p:spPr>
          <a:xfrm>
            <a:off x="411480" y="5907024"/>
            <a:ext cx="11368735" cy="420624"/>
          </a:xfrm>
          <a:prstGeom prst="rect">
            <a:avLst/>
          </a:prstGeom>
          <a:noFill/>
          <a:ln/>
        </p:spPr>
        <p:txBody>
          <a:bodyPr wrap="square" lIns="0" tIns="0" rIns="0" bIns="0" rtlCol="0" anchor="b"/>
          <a:lstStyle/>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management; AMB Advisory analysis.</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fiscal year ends December 31. Financials are as provided by the Seller and have not been independently audited.</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   (2) Adj. EBITDA and SDE are non-GAAP measures; see page 4 for the reconciliation to Reported EBITDA.</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algn="l" indent="0" marL="0">
              <a:lnSpc>
                <a:spcPct val="100000"/>
              </a:lnSpc>
              <a:buNone/>
            </a:pPr>
            <a:r>
              <a:rPr lang="en-US" sz="2000" b="1" dirty="0">
                <a:solidFill>
                  <a:srgbClr val="2C2523"/>
                </a:solidFill>
                <a:latin typeface="Georgia" pitchFamily="34" charset="0"/>
                <a:ea typeface="Georgia" pitchFamily="34" charset="-122"/>
                <a:cs typeface="Georgia" pitchFamily="34" charset="-120"/>
              </a:rPr>
              <a:t>Revenue grew at a 12.4% CAGR to $3.04M in FY2025 and Adj. EBITDA margin rose from 10.9% to 14.9% as expenses grew more slowly than sales</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Shape 2"/>
          <p:cNvSpPr/>
          <p:nvPr/>
        </p:nvSpPr>
        <p:spPr>
          <a:xfrm>
            <a:off x="411480" y="6400800"/>
            <a:ext cx="11368735" cy="0"/>
          </a:xfrm>
          <a:prstGeom prst="line">
            <a:avLst/>
          </a:prstGeom>
          <a:noFill/>
          <a:ln w="6350">
            <a:solidFill>
              <a:srgbClr val="C2BAB8"/>
            </a:solidFill>
            <a:prstDash val="solid"/>
          </a:ln>
        </p:spPr>
      </p:sp>
      <p:sp>
        <p:nvSpPr>
          <p:cNvPr id="5" name="Text 3"/>
          <p:cNvSpPr txBox="1"/>
          <p:nvPr/>
        </p:nvSpPr>
        <p:spPr>
          <a:xfrm>
            <a:off x="411480" y="6455664"/>
            <a:ext cx="4572000" cy="219456"/>
          </a:xfrm>
          <a:prstGeom prst="rect">
            <a:avLst/>
          </a:prstGeom>
          <a:noFill/>
          <a:ln/>
        </p:spPr>
        <p:txBody>
          <a:bodyPr wrap="square" lIns="0" tIns="0" rIns="0" bIns="0" rtlCol="0" anchor="ctr"/>
          <a:lstStyle/>
          <a:p>
            <a:pPr algn="l" indent="0" marL="0">
              <a:buNone/>
            </a:pPr>
            <a:r>
              <a:rPr lang="en-US" sz="750" dirty="0">
                <a:solidFill>
                  <a:srgbClr val="7A706D"/>
                </a:solidFill>
                <a:latin typeface="Arial" pitchFamily="34" charset="0"/>
                <a:ea typeface="Arial" pitchFamily="34" charset="-122"/>
                <a:cs typeface="Arial" pitchFamily="34" charset="-120"/>
              </a:rPr>
              <a:t>Project Ridgeline</a:t>
            </a:r>
            <a:pPr algn="l" indent="0" marL="0">
              <a:buNone/>
            </a:pPr>
            <a:r>
              <a:rPr lang="en-US" sz="750" dirty="0">
                <a:solidFill>
                  <a:srgbClr val="C2BAB8"/>
                </a:solidFill>
                <a:latin typeface="Arial" pitchFamily="34" charset="0"/>
                <a:ea typeface="Arial" pitchFamily="34" charset="-122"/>
                <a:cs typeface="Arial" pitchFamily="34" charset="-120"/>
              </a:rPr>
              <a:t>  |  </a:t>
            </a:r>
            <a:pPr algn="l" indent="0" marL="0">
              <a:buNone/>
            </a:pPr>
            <a:r>
              <a:rPr lang="en-US" sz="750" dirty="0">
                <a:solidFill>
                  <a:srgbClr val="7B0000"/>
                </a:solidFill>
                <a:latin typeface="Arial" pitchFamily="34" charset="0"/>
                <a:ea typeface="Arial" pitchFamily="34" charset="-122"/>
                <a:cs typeface="Arial" pitchFamily="34" charset="-120"/>
              </a:rPr>
              <a:t>Financial performance</a:t>
            </a:r>
            <a:endParaRPr lang="en-US" sz="750" dirty="0"/>
          </a:p>
        </p:txBody>
      </p:sp>
      <p:sp>
        <p:nvSpPr>
          <p:cNvPr id="6" name="Text 4"/>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7" name="Image 0" descr="/home/user/project-avengers/amb-material-bot/design/directions/a-bulge-bracket/assets/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8" name="Text 5"/>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3</a:t>
            </a:r>
            <a:endParaRPr lang="en-US" sz="800" dirty="0"/>
          </a:p>
        </p:txBody>
      </p:sp>
      <p:sp>
        <p:nvSpPr>
          <p:cNvPr id="9" name="Text 6"/>
          <p:cNvSpPr txBox="1"/>
          <p:nvPr/>
        </p:nvSpPr>
        <p:spPr>
          <a:xfrm>
            <a:off x="411480" y="1115568"/>
            <a:ext cx="5594299"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3.1</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Summary income statement</a:t>
            </a:r>
            <a:pPr algn="l"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0" name="Shape 7"/>
          <p:cNvSpPr/>
          <p:nvPr/>
        </p:nvSpPr>
        <p:spPr>
          <a:xfrm>
            <a:off x="411480" y="1362456"/>
            <a:ext cx="5594299" cy="0"/>
          </a:xfrm>
          <a:prstGeom prst="line">
            <a:avLst/>
          </a:prstGeom>
          <a:noFill/>
          <a:ln w="6350">
            <a:solidFill>
              <a:srgbClr val="2C2523"/>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5577840" cy="914400"/>
        </p:xfrm>
        <a:graphic>
          <a:graphicData uri="http://schemas.openxmlformats.org/drawingml/2006/table">
            <a:tbl>
              <a:tblPr/>
              <a:tblGrid>
                <a:gridCol w="2359152"/>
                <a:gridCol w="621792"/>
                <a:gridCol w="621792"/>
                <a:gridCol w="621792"/>
                <a:gridCol w="73152"/>
                <a:gridCol w="640080"/>
                <a:gridCol w="640080"/>
              </a:tblGrid>
              <a:tr h="192024">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 ended Dec-31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Growth y/y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r>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Income statement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$2,407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$2,719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$3,041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Cost of revenue (1)</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(939)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(1,159)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Gross profit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$1,468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$1,672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$1,882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13.9%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12.6%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Operating expenses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compensation, as paid</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Other operating expenses (2)</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(1,366)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7.8%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Adjustments (page 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Normalization adjustments [N1–N4]</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Owner comp. above market [S1]</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$263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$453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Replacement compensation [S2]</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Seller's discretionary earnings (SDE)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25.5%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Memo</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Total adjustments, % of Adj. EBITDA</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comp. as paid, % of 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2" name="Shape 8"/>
          <p:cNvSpPr/>
          <p:nvPr/>
        </p:nvSpPr>
        <p:spPr>
          <a:xfrm>
            <a:off x="6097219" y="1115568"/>
            <a:ext cx="0" cy="4754880"/>
          </a:xfrm>
          <a:prstGeom prst="line">
            <a:avLst/>
          </a:prstGeom>
          <a:noFill/>
          <a:ln w="6350">
            <a:solidFill>
              <a:srgbClr val="C2BAB8"/>
            </a:solidFill>
            <a:prstDash val="solid"/>
          </a:ln>
        </p:spPr>
      </p:sp>
      <p:sp>
        <p:nvSpPr>
          <p:cNvPr id="13" name="Text 9"/>
          <p:cNvSpPr txBox="1"/>
          <p:nvPr/>
        </p:nvSpPr>
        <p:spPr>
          <a:xfrm>
            <a:off x="6188659" y="1115568"/>
            <a:ext cx="3216859"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3.2</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Revenue and Adj. EBITDA</a:t>
            </a:r>
            <a:pPr algn="l"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4" name="Text 10"/>
          <p:cNvSpPr txBox="1"/>
          <p:nvPr/>
        </p:nvSpPr>
        <p:spPr>
          <a:xfrm>
            <a:off x="9405518" y="1115568"/>
            <a:ext cx="2377440" cy="228600"/>
          </a:xfrm>
          <a:prstGeom prst="rect">
            <a:avLst/>
          </a:prstGeom>
          <a:noFill/>
          <a:ln/>
        </p:spPr>
        <p:txBody>
          <a:bodyPr wrap="square" lIns="0" tIns="0" rIns="0" bIns="0" rtlCol="0" anchor="b"/>
          <a:lstStyle/>
          <a:p>
            <a:pPr algn="r" indent="0" marL="0">
              <a:buNone/>
            </a:pPr>
            <a:r>
              <a:rPr lang="en-US" sz="800" dirty="0">
                <a:solidFill>
                  <a:srgbClr val="2C2523"/>
                </a:solidFill>
                <a:latin typeface="Arial" pitchFamily="34" charset="0"/>
                <a:ea typeface="Arial" pitchFamily="34" charset="-122"/>
                <a:cs typeface="Arial" pitchFamily="34" charset="-120"/>
              </a:rPr>
              <a:t>FY2023–FY2025 revenue CAGR: 12.4%</a:t>
            </a:r>
            <a:endParaRPr lang="en-US" sz="800" dirty="0"/>
          </a:p>
        </p:txBody>
      </p:sp>
      <p:sp>
        <p:nvSpPr>
          <p:cNvPr id="15" name="Shape 11"/>
          <p:cNvSpPr/>
          <p:nvPr/>
        </p:nvSpPr>
        <p:spPr>
          <a:xfrm>
            <a:off x="6188659" y="1362456"/>
            <a:ext cx="5594299" cy="0"/>
          </a:xfrm>
          <a:prstGeom prst="line">
            <a:avLst/>
          </a:prstGeom>
          <a:noFill/>
          <a:ln w="6350">
            <a:solidFill>
              <a:srgbClr val="2C2523"/>
            </a:solidFill>
            <a:prstDash val="solid"/>
          </a:ln>
        </p:spPr>
      </p:sp>
      <p:graphicFrame>
        <p:nvGraphicFramePr>
          <p:cNvPr id="16" name="Chart 0" descr=""/>
          <p:cNvGraphicFramePr/>
          <p:nvPr/>
        </p:nvGraphicFramePr>
        <p:xfrm>
          <a:off x="6188659" y="1417320"/>
          <a:ext cx="5594299" cy="2350008"/>
        </p:xfrm>
        <a:graphic xmlns:a="http://schemas.openxmlformats.org/drawingml/2006/main">
          <a:graphicData uri="http://schemas.openxmlformats.org/drawingml/2006/chart">
            <c:chart xmlns:c="http://schemas.openxmlformats.org/drawingml/2006/chart" r:id="rId2"/>
          </a:graphicData>
        </a:graphic>
      </p:graphicFrame>
      <p:sp>
        <p:nvSpPr>
          <p:cNvPr id="17" name="Shape 12"/>
          <p:cNvSpPr/>
          <p:nvPr/>
        </p:nvSpPr>
        <p:spPr>
          <a:xfrm>
            <a:off x="6188659" y="3877056"/>
            <a:ext cx="5594299" cy="0"/>
          </a:xfrm>
          <a:prstGeom prst="line">
            <a:avLst/>
          </a:prstGeom>
          <a:noFill/>
          <a:ln w="6350">
            <a:solidFill>
              <a:srgbClr val="C2BAB8"/>
            </a:solidFill>
            <a:prstDash val="solid"/>
          </a:ln>
        </p:spPr>
      </p:sp>
      <p:sp>
        <p:nvSpPr>
          <p:cNvPr id="18" name="Text 13"/>
          <p:cNvSpPr txBox="1"/>
          <p:nvPr/>
        </p:nvSpPr>
        <p:spPr>
          <a:xfrm>
            <a:off x="6188659" y="3968496"/>
            <a:ext cx="5594299" cy="1938528"/>
          </a:xfrm>
          <a:prstGeom prst="rect">
            <a:avLst/>
          </a:prstGeom>
          <a:noFill/>
          <a:ln/>
        </p:spPr>
        <p:txBody>
          <a:bodyPr wrap="square" lIns="0" tIns="0" rIns="0" bIns="0" rtlCol="0" anchor="t"/>
          <a:lstStyle/>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Revenue rose $634K over two years,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from $2.41M to $3.04M, with growth of 13.0% in FY2024 and 11.9% in FY2025 on the same three-county service area and, per management, without paid digital marketing (3).</a:t>
            </a:r>
            <a:endParaRPr lang="en-US" sz="950" dirty="0"/>
          </a:p>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Gross margin moved within a 90 bps band,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from 61.0% to 61.9%, because cost of revenue grew more slowly than revenue in both years (11.5% and 10.7% against 13.0% and 11.9%).</a:t>
            </a:r>
            <a:endParaRPr lang="en-US" sz="950" dirty="0"/>
          </a:p>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Reported EBITDA margin rose from 6.5% to 10.4%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because other operating expenses grew 7.6% in FY2025 against 11.9% revenue growth. The owner's salary rose $10K a year to $200K and is reset to a $95K market salary on page 4.</a:t>
            </a:r>
            <a:endParaRPr lang="en-US" sz="950" dirty="0"/>
          </a:p>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Adjustments are 30% of FY2025 Adj. EBITDA,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down from 40% in FY2023: Reported EBITDA doubled while total adjustments rose $31K, from $106K to $136.5K.</a:t>
            </a:r>
            <a:endParaRPr lang="en-US" sz="950" dirty="0"/>
          </a:p>
        </p:txBody>
      </p:sp>
      <p:sp>
        <p:nvSpPr>
          <p:cNvPr id="19" name="Text 14"/>
          <p:cNvSpPr txBox="1"/>
          <p:nvPr/>
        </p:nvSpPr>
        <p:spPr>
          <a:xfrm>
            <a:off x="411480" y="5907024"/>
            <a:ext cx="11368735" cy="420624"/>
          </a:xfrm>
          <a:prstGeom prst="rect">
            <a:avLst/>
          </a:prstGeom>
          <a:noFill/>
          <a:ln/>
        </p:spPr>
        <p:txBody>
          <a:bodyPr wrap="square" lIns="0" tIns="0" rIns="0" bIns="0" rtlCol="0" anchor="b"/>
          <a:lstStyle/>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AMB Advisory analysis.</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totals may not sum due to rounding. Financials are as provided by the Seller and have not been independently audited. Adj. EBITDA and SDE are non-GAAP measures.</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(1) Derived from reported gross margin of 61.0%, 61.5% and 61.9%.   (2) Excludes owner compensation, shown separately; includes the $31.5K of FY2025 personal and one-time items adjusted on page 4.   (3) Per management; not independently verified.</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algn="l" indent="0" marL="0">
              <a:lnSpc>
                <a:spcPct val="100000"/>
              </a:lnSpc>
              <a:buNone/>
            </a:pPr>
            <a:r>
              <a:rPr lang="en-US" sz="2000" b="1" dirty="0">
                <a:solidFill>
                  <a:srgbClr val="2C2523"/>
                </a:solidFill>
                <a:latin typeface="Georgia" pitchFamily="34" charset="0"/>
                <a:ea typeface="Georgia" pitchFamily="34" charset="-122"/>
                <a:cs typeface="Georgia" pitchFamily="34" charset="-120"/>
              </a:rPr>
              <a:t>FY2025 Adj. EBITDA of $453K adds back $136.5K, of which $105K resets $200K of owner pay to a $95K market salary</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Shape 2"/>
          <p:cNvSpPr/>
          <p:nvPr/>
        </p:nvSpPr>
        <p:spPr>
          <a:xfrm>
            <a:off x="411480" y="6400800"/>
            <a:ext cx="11368735" cy="0"/>
          </a:xfrm>
          <a:prstGeom prst="line">
            <a:avLst/>
          </a:prstGeom>
          <a:noFill/>
          <a:ln w="6350">
            <a:solidFill>
              <a:srgbClr val="C2BAB8"/>
            </a:solidFill>
            <a:prstDash val="solid"/>
          </a:ln>
        </p:spPr>
      </p:sp>
      <p:sp>
        <p:nvSpPr>
          <p:cNvPr id="5" name="Text 3"/>
          <p:cNvSpPr txBox="1"/>
          <p:nvPr/>
        </p:nvSpPr>
        <p:spPr>
          <a:xfrm>
            <a:off x="411480" y="6455664"/>
            <a:ext cx="4572000" cy="219456"/>
          </a:xfrm>
          <a:prstGeom prst="rect">
            <a:avLst/>
          </a:prstGeom>
          <a:noFill/>
          <a:ln/>
        </p:spPr>
        <p:txBody>
          <a:bodyPr wrap="square" lIns="0" tIns="0" rIns="0" bIns="0" rtlCol="0" anchor="ctr"/>
          <a:lstStyle/>
          <a:p>
            <a:pPr algn="l" indent="0" marL="0">
              <a:buNone/>
            </a:pPr>
            <a:r>
              <a:rPr lang="en-US" sz="750" dirty="0">
                <a:solidFill>
                  <a:srgbClr val="7A706D"/>
                </a:solidFill>
                <a:latin typeface="Arial" pitchFamily="34" charset="0"/>
                <a:ea typeface="Arial" pitchFamily="34" charset="-122"/>
                <a:cs typeface="Arial" pitchFamily="34" charset="-120"/>
              </a:rPr>
              <a:t>Project Ridgeline</a:t>
            </a:r>
            <a:pPr algn="l" indent="0" marL="0">
              <a:buNone/>
            </a:pPr>
            <a:r>
              <a:rPr lang="en-US" sz="750" dirty="0">
                <a:solidFill>
                  <a:srgbClr val="C2BAB8"/>
                </a:solidFill>
                <a:latin typeface="Arial" pitchFamily="34" charset="0"/>
                <a:ea typeface="Arial" pitchFamily="34" charset="-122"/>
                <a:cs typeface="Arial" pitchFamily="34" charset="-120"/>
              </a:rPr>
              <a:t>  |  </a:t>
            </a:r>
            <a:pPr algn="l" indent="0" marL="0">
              <a:buNone/>
            </a:pPr>
            <a:r>
              <a:rPr lang="en-US" sz="750" dirty="0">
                <a:solidFill>
                  <a:srgbClr val="7B0000"/>
                </a:solidFill>
                <a:latin typeface="Arial" pitchFamily="34" charset="0"/>
                <a:ea typeface="Arial" pitchFamily="34" charset="-122"/>
                <a:cs typeface="Arial" pitchFamily="34" charset="-120"/>
              </a:rPr>
              <a:t>Adjusted EBITDA</a:t>
            </a:r>
            <a:endParaRPr lang="en-US" sz="750" dirty="0"/>
          </a:p>
        </p:txBody>
      </p:sp>
      <p:sp>
        <p:nvSpPr>
          <p:cNvPr id="6" name="Text 4"/>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7" name="Image 0" descr="/home/user/project-avengers/amb-material-bot/design/directions/a-bulge-bracket/assets/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8" name="Text 5"/>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4</a:t>
            </a:r>
            <a:endParaRPr lang="en-US" sz="800" dirty="0"/>
          </a:p>
        </p:txBody>
      </p:sp>
      <p:sp>
        <p:nvSpPr>
          <p:cNvPr id="9" name="Text 6"/>
          <p:cNvSpPr txBox="1"/>
          <p:nvPr/>
        </p:nvSpPr>
        <p:spPr>
          <a:xfrm>
            <a:off x="411480" y="1115568"/>
            <a:ext cx="5594299"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4.1</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Adjusted EBITDA reconciliation</a:t>
            </a:r>
            <a:pPr algn="l"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0" name="Shape 7"/>
          <p:cNvSpPr/>
          <p:nvPr/>
        </p:nvSpPr>
        <p:spPr>
          <a:xfrm>
            <a:off x="411480" y="1362456"/>
            <a:ext cx="5594299" cy="0"/>
          </a:xfrm>
          <a:prstGeom prst="line">
            <a:avLst/>
          </a:prstGeom>
          <a:noFill/>
          <a:ln w="6350">
            <a:solidFill>
              <a:srgbClr val="2C252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5594299" cy="914400"/>
        </p:xfrm>
        <a:graphic>
          <a:graphicData uri="http://schemas.openxmlformats.org/drawingml/2006/table">
            <a:tbl>
              <a:tblPr/>
              <a:tblGrid>
                <a:gridCol w="3043123"/>
                <a:gridCol w="411480"/>
                <a:gridCol w="713232"/>
                <a:gridCol w="713232"/>
                <a:gridCol w="713232"/>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Reconciliation</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Ref</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7.8%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Normalization adjustments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Owner personal vehicle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dirty="0">
                          <a:solidFill>
                            <a:srgbClr val="2C2523"/>
                          </a:solidFill>
                          <a:latin typeface="Arial" pitchFamily="34" charset="0"/>
                          <a:ea typeface="Arial" pitchFamily="34" charset="-122"/>
                          <a:cs typeface="Arial" pitchFamily="34" charset="-120"/>
                        </a:rPr>
                        <a:t>[N1]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Charitable contributions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dirty="0">
                          <a:solidFill>
                            <a:srgbClr val="2C2523"/>
                          </a:solidFill>
                          <a:latin typeface="Arial" pitchFamily="34" charset="0"/>
                          <a:ea typeface="Arial" pitchFamily="34" charset="-122"/>
                          <a:cs typeface="Arial" pitchFamily="34" charset="-120"/>
                        </a:rPr>
                        <a:t>[N2]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One-time legal settlement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dirty="0">
                          <a:solidFill>
                            <a:srgbClr val="2C2523"/>
                          </a:solidFill>
                          <a:latin typeface="Arial" pitchFamily="34" charset="0"/>
                          <a:ea typeface="Arial" pitchFamily="34" charset="-122"/>
                          <a:cs typeface="Arial" pitchFamily="34" charset="-120"/>
                        </a:rPr>
                        <a:t>[N3]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Family phones and personal meals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dirty="0">
                          <a:solidFill>
                            <a:srgbClr val="2C2523"/>
                          </a:solidFill>
                          <a:latin typeface="Arial" pitchFamily="34" charset="0"/>
                          <a:ea typeface="Arial" pitchFamily="34" charset="-122"/>
                          <a:cs typeface="Arial" pitchFamily="34" charset="-120"/>
                        </a:rPr>
                        <a:t>[N4]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normalization adjustments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Owner compensation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compensation, as paid (1)</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Market replacement compensation (2)</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 Owner compensation above market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r>
                        <a:rPr lang="en-US" sz="850" b="1" dirty="0">
                          <a:solidFill>
                            <a:srgbClr val="2C2523"/>
                          </a:solidFill>
                          <a:latin typeface="Arial" pitchFamily="34" charset="0"/>
                          <a:ea typeface="Arial" pitchFamily="34" charset="-122"/>
                          <a:cs typeface="Arial" pitchFamily="34" charset="-120"/>
                        </a:rPr>
                        <a:t>[S1]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85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$263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$453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Market replacement compensation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dirty="0">
                          <a:solidFill>
                            <a:srgbClr val="2C2523"/>
                          </a:solidFill>
                          <a:latin typeface="Arial" pitchFamily="34" charset="0"/>
                          <a:ea typeface="Arial" pitchFamily="34" charset="-122"/>
                          <a:cs typeface="Arial" pitchFamily="34" charset="-120"/>
                        </a:rPr>
                        <a:t>[S2]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Seller's discretionary earnings (SDE)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Memo</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Total adjustments to Reported EBITDA</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of Adj. EBITDA</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Normalization adjustments, % of 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2" name="Shape 8"/>
          <p:cNvSpPr/>
          <p:nvPr/>
        </p:nvSpPr>
        <p:spPr>
          <a:xfrm>
            <a:off x="6097219" y="1115568"/>
            <a:ext cx="0" cy="4754880"/>
          </a:xfrm>
          <a:prstGeom prst="line">
            <a:avLst/>
          </a:prstGeom>
          <a:noFill/>
          <a:ln w="6350">
            <a:solidFill>
              <a:srgbClr val="C2BAB8"/>
            </a:solidFill>
            <a:prstDash val="solid"/>
          </a:ln>
        </p:spPr>
      </p:sp>
      <p:sp>
        <p:nvSpPr>
          <p:cNvPr id="13" name="Text 9"/>
          <p:cNvSpPr txBox="1"/>
          <p:nvPr/>
        </p:nvSpPr>
        <p:spPr>
          <a:xfrm>
            <a:off x="6188659" y="1115568"/>
            <a:ext cx="5594299"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4.2</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Adjustment support</a:t>
            </a:r>
            <a:endParaRPr lang="en-US" sz="950" dirty="0"/>
          </a:p>
        </p:txBody>
      </p:sp>
      <p:sp>
        <p:nvSpPr>
          <p:cNvPr id="14" name="Shape 10"/>
          <p:cNvSpPr/>
          <p:nvPr/>
        </p:nvSpPr>
        <p:spPr>
          <a:xfrm>
            <a:off x="6188659" y="1362456"/>
            <a:ext cx="5594299" cy="0"/>
          </a:xfrm>
          <a:prstGeom prst="line">
            <a:avLst/>
          </a:prstGeom>
          <a:noFill/>
          <a:ln w="6350">
            <a:solidFill>
              <a:srgbClr val="2C2523"/>
            </a:solidFill>
            <a:prstDash val="solid"/>
          </a:ln>
        </p:spPr>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188659" y="1417320"/>
          <a:ext cx="5594299" cy="914400"/>
        </p:xfrm>
        <a:graphic>
          <a:graphicData uri="http://schemas.openxmlformats.org/drawingml/2006/table">
            <a:tbl>
              <a:tblPr/>
              <a:tblGrid>
                <a:gridCol w="384048"/>
                <a:gridCol w="1234440"/>
                <a:gridCol w="2148840"/>
                <a:gridCol w="1826971"/>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Ref</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Adjustment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Evidence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4023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personal vehicle</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Removes the cost of a vehicle used personally by the owner and booked to auto expense; $18K in FY2025.</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Auto expense GL detail; management representation (1)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023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[N2]</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Charitable contributions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Removes donations made at the owner’s discretion with no customer or marketing link; $7.5K in FY2025.</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Contributions GL account; donation receipts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023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[N3]</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One-time legal settlement</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Removes a $24K settlement of a single FY2024 matter; no related cost in FY2023 or FY2025.</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Settlement agreement; legal invoices (1)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023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Family phones and personal meals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Removes family mobile lines and personal meals booked to telephone and meals expense in FY2025; $6K.</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Carrier statements; expense review (1)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023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compensation above market</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Restates owner pay of $200K in FY2025 to a $95K market salary for a general manager; $105K.</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Payroll register (owner W-2); market salary per management (2)</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r>
            </a:tbl>
          </a:graphicData>
        </a:graphic>
      </p:graphicFrame>
      <p:sp>
        <p:nvSpPr>
          <p:cNvPr id="16" name="Shape 11"/>
          <p:cNvSpPr/>
          <p:nvPr/>
        </p:nvSpPr>
        <p:spPr>
          <a:xfrm>
            <a:off x="6188659" y="3730752"/>
            <a:ext cx="5594299" cy="0"/>
          </a:xfrm>
          <a:prstGeom prst="line">
            <a:avLst/>
          </a:prstGeom>
          <a:noFill/>
          <a:ln w="6350">
            <a:solidFill>
              <a:srgbClr val="C2BAB8"/>
            </a:solidFill>
            <a:prstDash val="solid"/>
          </a:ln>
        </p:spPr>
      </p:sp>
      <p:sp>
        <p:nvSpPr>
          <p:cNvPr id="17" name="Text 12"/>
          <p:cNvSpPr txBox="1"/>
          <p:nvPr/>
        </p:nvSpPr>
        <p:spPr>
          <a:xfrm>
            <a:off x="6188659" y="3822192"/>
            <a:ext cx="5594299" cy="2139696"/>
          </a:xfrm>
          <a:prstGeom prst="rect">
            <a:avLst/>
          </a:prstGeom>
          <a:noFill/>
          <a:ln/>
        </p:spPr>
        <p:txBody>
          <a:bodyPr wrap="square" lIns="0" tIns="0" rIns="0" bIns="0" rtlCol="0" anchor="t"/>
          <a:lstStyle/>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Owner compensation is the largest adjustment, at $105K in FY2025.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Mr. Delaney was paid $200K against a $95K market salary for a general manager (2); the $95K remains a cost in Adj. EBITDA and is added back only in SDE.</a:t>
            </a:r>
            <a:endParaRPr lang="en-US" sz="950" dirty="0"/>
          </a:p>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Personal and one-time items total $31.5K in FY2025, 1.0% of revenue.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The FY2024 figure of $47.0K includes a $24K legal settlement with no counterpart in FY2023 or FY2025.</a:t>
            </a:r>
            <a:endParaRPr lang="en-US" sz="950" dirty="0"/>
          </a:p>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Adjustments fell from 40% of Adj. EBITDA in FY2023 to 30% in FY2025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because Reported EBITDA doubled, from $157K to $316K, while the add-backs rose about $30K.</a:t>
            </a:r>
            <a:endParaRPr lang="en-US" sz="950" dirty="0"/>
          </a:p>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No pro forma adjustments are included.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The figures do not assume any change in pricing, headcount or the maintenance-agreement program after closing.</a:t>
            </a:r>
            <a:endParaRPr lang="en-US" sz="950" dirty="0"/>
          </a:p>
        </p:txBody>
      </p:sp>
      <p:sp>
        <p:nvSpPr>
          <p:cNvPr id="18" name="Text 13"/>
          <p:cNvSpPr txBox="1"/>
          <p:nvPr/>
        </p:nvSpPr>
        <p:spPr>
          <a:xfrm>
            <a:off x="411480" y="5907024"/>
            <a:ext cx="11368735" cy="420624"/>
          </a:xfrm>
          <a:prstGeom prst="rect">
            <a:avLst/>
          </a:prstGeom>
          <a:noFill/>
          <a:ln/>
        </p:spPr>
        <p:txBody>
          <a:bodyPr wrap="square" lIns="0" tIns="0" rIns="0" bIns="0" rtlCol="0" anchor="b"/>
          <a:lstStyle/>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and payroll register, FY2023–FY2025; AMB Advisory analysis.</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totals may not sum due to rounding. Adj. EBITDA and SDE are non-GAAP measures. Financials are as provided by the Seller and have not been independently audited.</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   (2) Market salary of $95,000 for a general manager, per management; not independently verified.</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algn="l" indent="0" marL="0">
              <a:lnSpc>
                <a:spcPct val="100000"/>
              </a:lnSpc>
              <a:buNone/>
            </a:pPr>
            <a:r>
              <a:rPr lang="en-US" sz="2000" b="1" dirty="0">
                <a:solidFill>
                  <a:srgbClr val="2C2523"/>
                </a:solidFill>
                <a:latin typeface="Georgia" pitchFamily="34" charset="0"/>
                <a:ea typeface="Georgia" pitchFamily="34" charset="-122"/>
                <a:cs typeface="Georgia" pitchFamily="34" charset="-120"/>
              </a:rPr>
              <a:t>No customer exceeds 4% of revenue: residential work is 64% of FY2025 sales and 1,450 maintenance members renew at about 82%</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Shape 2"/>
          <p:cNvSpPr/>
          <p:nvPr/>
        </p:nvSpPr>
        <p:spPr>
          <a:xfrm>
            <a:off x="411480" y="6400800"/>
            <a:ext cx="11368735" cy="0"/>
          </a:xfrm>
          <a:prstGeom prst="line">
            <a:avLst/>
          </a:prstGeom>
          <a:noFill/>
          <a:ln w="6350">
            <a:solidFill>
              <a:srgbClr val="C2BAB8"/>
            </a:solidFill>
            <a:prstDash val="solid"/>
          </a:ln>
        </p:spPr>
      </p:sp>
      <p:sp>
        <p:nvSpPr>
          <p:cNvPr id="5" name="Text 3"/>
          <p:cNvSpPr txBox="1"/>
          <p:nvPr/>
        </p:nvSpPr>
        <p:spPr>
          <a:xfrm>
            <a:off x="411480" y="6455664"/>
            <a:ext cx="4572000" cy="219456"/>
          </a:xfrm>
          <a:prstGeom prst="rect">
            <a:avLst/>
          </a:prstGeom>
          <a:noFill/>
          <a:ln/>
        </p:spPr>
        <p:txBody>
          <a:bodyPr wrap="square" lIns="0" tIns="0" rIns="0" bIns="0" rtlCol="0" anchor="ctr"/>
          <a:lstStyle/>
          <a:p>
            <a:pPr algn="l" indent="0" marL="0">
              <a:buNone/>
            </a:pPr>
            <a:r>
              <a:rPr lang="en-US" sz="750" dirty="0">
                <a:solidFill>
                  <a:srgbClr val="7A706D"/>
                </a:solidFill>
                <a:latin typeface="Arial" pitchFamily="34" charset="0"/>
                <a:ea typeface="Arial" pitchFamily="34" charset="-122"/>
                <a:cs typeface="Arial" pitchFamily="34" charset="-120"/>
              </a:rPr>
              <a:t>Project Ridgeline</a:t>
            </a:r>
            <a:pPr algn="l" indent="0" marL="0">
              <a:buNone/>
            </a:pPr>
            <a:r>
              <a:rPr lang="en-US" sz="750" dirty="0">
                <a:solidFill>
                  <a:srgbClr val="C2BAB8"/>
                </a:solidFill>
                <a:latin typeface="Arial" pitchFamily="34" charset="0"/>
                <a:ea typeface="Arial" pitchFamily="34" charset="-122"/>
                <a:cs typeface="Arial" pitchFamily="34" charset="-120"/>
              </a:rPr>
              <a:t>  |  </a:t>
            </a:r>
            <a:pPr algn="l" indent="0" marL="0">
              <a:buNone/>
            </a:pPr>
            <a:r>
              <a:rPr lang="en-US" sz="750" dirty="0">
                <a:solidFill>
                  <a:srgbClr val="7B0000"/>
                </a:solidFill>
                <a:latin typeface="Arial" pitchFamily="34" charset="0"/>
                <a:ea typeface="Arial" pitchFamily="34" charset="-122"/>
                <a:cs typeface="Arial" pitchFamily="34" charset="-120"/>
              </a:rPr>
              <a:t>Customers</a:t>
            </a:r>
            <a:endParaRPr lang="en-US" sz="750" dirty="0"/>
          </a:p>
        </p:txBody>
      </p:sp>
      <p:sp>
        <p:nvSpPr>
          <p:cNvPr id="6" name="Text 4"/>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7" name="Image 0" descr="/home/user/project-avengers/amb-material-bot/design/directions/a-bulge-bracket/assets/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8" name="Text 5"/>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5</a:t>
            </a:r>
            <a:endParaRPr lang="en-US" sz="800" dirty="0"/>
          </a:p>
        </p:txBody>
      </p:sp>
      <p:sp>
        <p:nvSpPr>
          <p:cNvPr id="9" name="Text 6"/>
          <p:cNvSpPr txBox="1"/>
          <p:nvPr/>
        </p:nvSpPr>
        <p:spPr>
          <a:xfrm>
            <a:off x="411480" y="1115568"/>
            <a:ext cx="3216859"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5.1</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Revenue by service line, FY2025</a:t>
            </a:r>
            <a:pPr algn="l"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0" name="Text 7"/>
          <p:cNvSpPr txBox="1"/>
          <p:nvPr/>
        </p:nvSpPr>
        <p:spPr>
          <a:xfrm>
            <a:off x="3628339" y="1115568"/>
            <a:ext cx="2377440" cy="228600"/>
          </a:xfrm>
          <a:prstGeom prst="rect">
            <a:avLst/>
          </a:prstGeom>
          <a:noFill/>
          <a:ln/>
        </p:spPr>
        <p:txBody>
          <a:bodyPr wrap="square" lIns="0" tIns="0" rIns="0" bIns="0" rtlCol="0" anchor="b"/>
          <a:lstStyle/>
          <a:p>
            <a:pPr algn="r" indent="0" marL="0">
              <a:buNone/>
            </a:pPr>
            <a:r>
              <a:rPr lang="en-US" sz="800" dirty="0">
                <a:solidFill>
                  <a:srgbClr val="2C2523"/>
                </a:solidFill>
                <a:latin typeface="Arial" pitchFamily="34" charset="0"/>
                <a:ea typeface="Arial" pitchFamily="34" charset="-122"/>
                <a:cs typeface="Arial" pitchFamily="34" charset="-120"/>
              </a:rPr>
              <a:t>Total: $3,041</a:t>
            </a:r>
            <a:endParaRPr lang="en-US" sz="800" dirty="0"/>
          </a:p>
        </p:txBody>
      </p:sp>
      <p:sp>
        <p:nvSpPr>
          <p:cNvPr id="11" name="Shape 8"/>
          <p:cNvSpPr/>
          <p:nvPr/>
        </p:nvSpPr>
        <p:spPr>
          <a:xfrm>
            <a:off x="411480" y="1362456"/>
            <a:ext cx="5594299" cy="0"/>
          </a:xfrm>
          <a:prstGeom prst="line">
            <a:avLst/>
          </a:prstGeom>
          <a:noFill/>
          <a:ln w="6350">
            <a:solidFill>
              <a:srgbClr val="2C2523"/>
            </a:solidFill>
            <a:prstDash val="solid"/>
          </a:ln>
        </p:spPr>
      </p:sp>
      <p:graphicFrame>
        <p:nvGraphicFramePr>
          <p:cNvPr id="12" name="Chart 0" descr=""/>
          <p:cNvGraphicFramePr/>
          <p:nvPr/>
        </p:nvGraphicFramePr>
        <p:xfrm>
          <a:off x="411480" y="1417320"/>
          <a:ext cx="5594299" cy="1984248"/>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6097219" y="1115568"/>
            <a:ext cx="0" cy="2377440"/>
          </a:xfrm>
          <a:prstGeom prst="line">
            <a:avLst/>
          </a:prstGeom>
          <a:noFill/>
          <a:ln w="6350">
            <a:solidFill>
              <a:srgbClr val="C2BAB8"/>
            </a:solidFill>
            <a:prstDash val="solid"/>
          </a:ln>
        </p:spPr>
      </p:sp>
      <p:sp>
        <p:nvSpPr>
          <p:cNvPr id="14" name="Text 10"/>
          <p:cNvSpPr txBox="1"/>
          <p:nvPr/>
        </p:nvSpPr>
        <p:spPr>
          <a:xfrm>
            <a:off x="6188659" y="1133856"/>
            <a:ext cx="5594299" cy="2377440"/>
          </a:xfrm>
          <a:prstGeom prst="rect">
            <a:avLst/>
          </a:prstGeom>
          <a:noFill/>
          <a:ln/>
        </p:spPr>
        <p:txBody>
          <a:bodyPr wrap="square" lIns="0" tIns="0" rIns="0" bIns="0" rtlCol="0" anchor="t"/>
          <a:lstStyle/>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Residential service and replacement generated $1.95M, 64% of FY2025 revenue,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from homeowners across Franklin, Delaware and Licking counties. Leads come mainly from referrals and Google reviews (4.8 rating, 900+ reviews) rather than paid marketing (1).</a:t>
            </a:r>
            <a:endParaRPr lang="en-US" sz="950" dirty="0"/>
          </a:p>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Commercial revenue of $821K (27%) comes from property managers, small office buildings and four restaurant groups.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The largest customer, C-001, is about 4% of revenue (1). Two property managers have asked for quotes on additional buildings.</a:t>
            </a:r>
            <a:endParaRPr lang="en-US" sz="950" dirty="0"/>
          </a:p>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Maintenance agreements produced $274K (9%) from 1,450 members,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about $189 per member a year, for two tune-ups, priority scheduling and a 15% repair discount. Renewal is about 82% (1), so roughly 260 members are replaced each year.</a:t>
            </a:r>
            <a:endParaRPr lang="en-US" sz="950" dirty="0"/>
          </a:p>
          <a:p>
            <a:pPr algn="l" marL="139700" indent="-139700">
              <a:lnSpc>
                <a:spcPct val="108000"/>
              </a:lnSpc>
              <a:spcAft>
                <a:spcPts val="600"/>
              </a:spcAft>
              <a:buSzPct val="100000"/>
              <a:buChar char="▪"/>
            </a:pPr>
            <a:r>
              <a:rPr lang="en-US" sz="950" b="1" dirty="0">
                <a:solidFill>
                  <a:srgbClr val="2C2523"/>
                </a:solidFill>
                <a:latin typeface="Arial" pitchFamily="34" charset="0"/>
                <a:ea typeface="Arial" pitchFamily="34" charset="-122"/>
                <a:cs typeface="Arial" pitchFamily="34" charset="-120"/>
              </a:rPr>
              <a:t>Agreements are offered on about 35% of service calls (1),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so the program’s lever is the offer rate rather than price; technicians already earn a spiff on each agreement sold.</a:t>
            </a:r>
            <a:endParaRPr lang="en-US" sz="950" dirty="0"/>
          </a:p>
        </p:txBody>
      </p:sp>
      <p:sp>
        <p:nvSpPr>
          <p:cNvPr id="15" name="Shape 11"/>
          <p:cNvSpPr/>
          <p:nvPr/>
        </p:nvSpPr>
        <p:spPr>
          <a:xfrm>
            <a:off x="411480" y="3584448"/>
            <a:ext cx="11368735" cy="0"/>
          </a:xfrm>
          <a:prstGeom prst="line">
            <a:avLst/>
          </a:prstGeom>
          <a:noFill/>
          <a:ln w="6350">
            <a:solidFill>
              <a:srgbClr val="C2BAB8"/>
            </a:solidFill>
            <a:prstDash val="solid"/>
          </a:ln>
        </p:spPr>
      </p:sp>
      <p:sp>
        <p:nvSpPr>
          <p:cNvPr id="16" name="Text 12"/>
          <p:cNvSpPr txBox="1"/>
          <p:nvPr/>
        </p:nvSpPr>
        <p:spPr>
          <a:xfrm>
            <a:off x="411480" y="3675888"/>
            <a:ext cx="11368735"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5.2</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Customer base and concentration by segment, FY2025</a:t>
            </a:r>
            <a:pPr algn="l"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7" name="Shape 13"/>
          <p:cNvSpPr/>
          <p:nvPr/>
        </p:nvSpPr>
        <p:spPr>
          <a:xfrm>
            <a:off x="411480" y="3922776"/>
            <a:ext cx="11368735" cy="0"/>
          </a:xfrm>
          <a:prstGeom prst="line">
            <a:avLst/>
          </a:prstGeom>
          <a:noFill/>
          <a:ln w="6350">
            <a:solidFill>
              <a:srgbClr val="2C2523"/>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3977640"/>
          <a:ext cx="11368735" cy="914400"/>
        </p:xfrm>
        <a:graphic>
          <a:graphicData uri="http://schemas.openxmlformats.org/drawingml/2006/table">
            <a:tbl>
              <a:tblPr/>
              <a:tblGrid>
                <a:gridCol w="1600200"/>
                <a:gridCol w="2514600"/>
                <a:gridCol w="777240"/>
                <a:gridCol w="640080"/>
                <a:gridCol w="1417320"/>
                <a:gridCol w="2148840"/>
                <a:gridCol w="2270455"/>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Segment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Who buys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 total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Largest customer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Recurring element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Lever identified by management (1)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45720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Residential service and replacement</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Homeowners in Franklin, Delaware and Licking counties (about a 35-mile radius from Columbus); plumbing service since 2019</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$1,946</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Not material (1)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Repeat service calls; agreement offered on about 35% of calls; Carrier Factory Authorized Dealer since 2015</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Offer agreements on more calls; add after-hours plumbing (calls turned away after 7 pm); paid digital marketing not used today</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Commercial</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Property managers, small office buildings and four restaurant groups; relationships held by the owner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$821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About 4% (C-001, property manager) (1)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 and replacement work; preventive-maintenance contracts on managed buildings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Quotes requested by two property managers for additional buildings; owner introduces accounts during a 12-month transition</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Maintenance agreements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1,450 members: two tune-ups a year, priority scheduling and a 15% repair discount, about $189 per member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Annual agreements; about 82% renewal (1), so roughly 260 members are replaced each year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Raise the 35% offer rate; technicians already earn a spiff on each sale</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288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$3,041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100%</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9" name="Text 14"/>
          <p:cNvSpPr txBox="1"/>
          <p:nvPr/>
        </p:nvSpPr>
        <p:spPr>
          <a:xfrm>
            <a:off x="411480" y="5907024"/>
            <a:ext cx="11368735" cy="420624"/>
          </a:xfrm>
          <a:prstGeom prst="rect">
            <a:avLst/>
          </a:prstGeom>
          <a:noFill/>
          <a:ln/>
        </p:spPr>
        <p:txBody>
          <a:bodyPr wrap="square" lIns="0" tIns="0" rIns="0" bIns="0" rtlCol="0" anchor="b"/>
          <a:lstStyle/>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FY2025; ServiceTitan membership data; management; AMB Advisory analysis.</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Note: Revenue by service line applies management’s FY2025 mix (64% / 27% / 9%) to reported revenue of $3,040.8K. Customers are coded (C-001) and not named.</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algn="l" indent="0" marL="0">
              <a:lnSpc>
                <a:spcPct val="100000"/>
              </a:lnSpc>
              <a:buNone/>
            </a:pPr>
            <a:r>
              <a:rPr lang="en-US" sz="2000" b="1" dirty="0">
                <a:solidFill>
                  <a:srgbClr val="2C2523"/>
                </a:solidFill>
                <a:latin typeface="Georgia" pitchFamily="34" charset="0"/>
                <a:ea typeface="Georgia" pitchFamily="34" charset="-122"/>
                <a:cs typeface="Georgia" pitchFamily="34" charset="-120"/>
              </a:rPr>
              <a:t>An operations manager of 11 years runs dispatch for 18 field staff and 20 vehicles; the owner’s 45-hour week is estimating, commercial accounts and hiring</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Shape 2"/>
          <p:cNvSpPr/>
          <p:nvPr/>
        </p:nvSpPr>
        <p:spPr>
          <a:xfrm>
            <a:off x="411480" y="6400800"/>
            <a:ext cx="11368735" cy="0"/>
          </a:xfrm>
          <a:prstGeom prst="line">
            <a:avLst/>
          </a:prstGeom>
          <a:noFill/>
          <a:ln w="6350">
            <a:solidFill>
              <a:srgbClr val="C2BAB8"/>
            </a:solidFill>
            <a:prstDash val="solid"/>
          </a:ln>
        </p:spPr>
      </p:sp>
      <p:sp>
        <p:nvSpPr>
          <p:cNvPr id="5" name="Text 3"/>
          <p:cNvSpPr txBox="1"/>
          <p:nvPr/>
        </p:nvSpPr>
        <p:spPr>
          <a:xfrm>
            <a:off x="411480" y="6455664"/>
            <a:ext cx="4572000" cy="219456"/>
          </a:xfrm>
          <a:prstGeom prst="rect">
            <a:avLst/>
          </a:prstGeom>
          <a:noFill/>
          <a:ln/>
        </p:spPr>
        <p:txBody>
          <a:bodyPr wrap="square" lIns="0" tIns="0" rIns="0" bIns="0" rtlCol="0" anchor="ctr"/>
          <a:lstStyle/>
          <a:p>
            <a:pPr algn="l" indent="0" marL="0">
              <a:buNone/>
            </a:pPr>
            <a:r>
              <a:rPr lang="en-US" sz="750" dirty="0">
                <a:solidFill>
                  <a:srgbClr val="7A706D"/>
                </a:solidFill>
                <a:latin typeface="Arial" pitchFamily="34" charset="0"/>
                <a:ea typeface="Arial" pitchFamily="34" charset="-122"/>
                <a:cs typeface="Arial" pitchFamily="34" charset="-120"/>
              </a:rPr>
              <a:t>Project Ridgeline</a:t>
            </a:r>
            <a:pPr algn="l" indent="0" marL="0">
              <a:buNone/>
            </a:pPr>
            <a:r>
              <a:rPr lang="en-US" sz="750" dirty="0">
                <a:solidFill>
                  <a:srgbClr val="C2BAB8"/>
                </a:solidFill>
                <a:latin typeface="Arial" pitchFamily="34" charset="0"/>
                <a:ea typeface="Arial" pitchFamily="34" charset="-122"/>
                <a:cs typeface="Arial" pitchFamily="34" charset="-120"/>
              </a:rPr>
              <a:t>  |  </a:t>
            </a:r>
            <a:pPr algn="l" indent="0" marL="0">
              <a:buNone/>
            </a:pPr>
            <a:r>
              <a:rPr lang="en-US" sz="750" dirty="0">
                <a:solidFill>
                  <a:srgbClr val="7B0000"/>
                </a:solidFill>
                <a:latin typeface="Arial" pitchFamily="34" charset="0"/>
                <a:ea typeface="Arial" pitchFamily="34" charset="-122"/>
                <a:cs typeface="Arial" pitchFamily="34" charset="-120"/>
              </a:rPr>
              <a:t>Operations and people</a:t>
            </a:r>
            <a:endParaRPr lang="en-US" sz="750" dirty="0"/>
          </a:p>
        </p:txBody>
      </p:sp>
      <p:sp>
        <p:nvSpPr>
          <p:cNvPr id="6" name="Text 4"/>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7" name="Image 0" descr="/home/user/project-avengers/amb-material-bot/design/directions/a-bulge-bracket/assets/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8" name="Text 5"/>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p>
        </p:txBody>
      </p:sp>
      <p:sp>
        <p:nvSpPr>
          <p:cNvPr id="9" name="Text 6"/>
          <p:cNvSpPr txBox="1"/>
          <p:nvPr/>
        </p:nvSpPr>
        <p:spPr>
          <a:xfrm>
            <a:off x="411480" y="1115568"/>
            <a:ext cx="6557162" cy="3246120"/>
          </a:xfrm>
          <a:prstGeom prst="rect">
            <a:avLst/>
          </a:prstGeom>
          <a:noFill/>
          <a:ln/>
        </p:spPr>
        <p:txBody>
          <a:bodyPr wrap="square" lIns="0" tIns="0" rIns="0" bIns="0" rtlCol="0" anchor="t"/>
          <a:lstStyle/>
          <a:p>
            <a:pPr algn="l"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Team.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Ridgeline employs 24 people: 14 service technicians, 4 install crew, 1 operations manager, 3 customer service and dispatch staff, 1 bookkeeper and the owner. Technicians are paid hourly plus spiff commissions on maintenance agreements sold, and no employees are unionized. Revenue per employee was $127K in FY2025 and revenue per field technician (18) was $169K.</a:t>
            </a:r>
            <a:endParaRPr lang="en-US" sz="950" dirty="0"/>
          </a:p>
          <a:p>
            <a:pPr algn="l"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Management.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Lisa Tran, operations manager, has been with the Company 11 years and runs dispatch, scheduling and day-to-day operations; she is expected to stay after closing (1). Mark Delaney, the owner, works about 45 hours a week on estimating large replacements, commercial relationships, vendor terms and hiring (1). He will stay up to 12 months after closing and introduce commercial accounts; the $95K cost of a general manager to assume his role is already deducted in Adj. EBITDA (page 4).</a:t>
            </a:r>
            <a:endParaRPr lang="en-US" sz="950" dirty="0"/>
          </a:p>
          <a:p>
            <a:pPr algn="l"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Facility and fleet.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The Company operates from an 8,000 sq ft shop and office on Maple Avenue in Columbus, leased from an unrelated landlord through 2029 with a five-year renewal option. The fleet of 18 service vans and 2 install trucks is owned and financed with vehicle loans; each vehicle supported about $152K of FY2025 revenue.</a:t>
            </a:r>
            <a:endParaRPr lang="en-US" sz="950" dirty="0"/>
          </a:p>
          <a:p>
            <a:pPr algn="l"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Systems and suppliers.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Dispatch, invoicing and memberships run on ServiceTitan; accounting runs on QuickBooks Online. Parts come from Ferguson and Johnstone Supply, and Carrier equipment through the local distributor. The Company has been a Carrier Factory Authorized Dealer since 2015.</a:t>
            </a:r>
            <a:endParaRPr lang="en-US" sz="950" dirty="0"/>
          </a:p>
          <a:p>
            <a:pPr algn="l"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Reputation and lead flow.  </a:t>
            </a:r>
            <a:pPr algn="l" indent="0" marL="0">
              <a:lnSpc>
                <a:spcPct val="108000"/>
              </a:lnSpc>
              <a:buNone/>
            </a:pPr>
            <a:r>
              <a:rPr lang="en-US" sz="950" dirty="0">
                <a:solidFill>
                  <a:srgbClr val="2C2523"/>
                </a:solidFill>
                <a:latin typeface="Arial" pitchFamily="34" charset="0"/>
                <a:ea typeface="Arial" pitchFamily="34" charset="-122"/>
                <a:cs typeface="Arial" pitchFamily="34" charset="-120"/>
              </a:rPr>
              <a:t>Ridgeline holds a 4.8 Google rating from more than 900 reviews (1). Most leads come from referrals and reviews; the Company does little paid digital marketing today.</a:t>
            </a:r>
            <a:endParaRPr lang="en-US" sz="950" dirty="0"/>
          </a:p>
        </p:txBody>
      </p:sp>
      <p:sp>
        <p:nvSpPr>
          <p:cNvPr id="10" name="Text 7"/>
          <p:cNvSpPr txBox="1"/>
          <p:nvPr/>
        </p:nvSpPr>
        <p:spPr>
          <a:xfrm>
            <a:off x="411480" y="4169664"/>
            <a:ext cx="6557162"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6.3</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Owner responsibilities and transition</a:t>
            </a:r>
            <a:endParaRPr lang="en-US" sz="950" dirty="0"/>
          </a:p>
        </p:txBody>
      </p:sp>
      <p:sp>
        <p:nvSpPr>
          <p:cNvPr id="11" name="Shape 8"/>
          <p:cNvSpPr/>
          <p:nvPr/>
        </p:nvSpPr>
        <p:spPr>
          <a:xfrm>
            <a:off x="411480" y="4416552"/>
            <a:ext cx="6557162" cy="0"/>
          </a:xfrm>
          <a:prstGeom prst="line">
            <a:avLst/>
          </a:prstGeom>
          <a:noFill/>
          <a:ln w="6350">
            <a:solidFill>
              <a:srgbClr val="2C252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4471416"/>
          <a:ext cx="6557162" cy="914400"/>
        </p:xfrm>
        <a:graphic>
          <a:graphicData uri="http://schemas.openxmlformats.org/drawingml/2006/table">
            <a:tbl>
              <a:tblPr/>
              <a:tblGrid>
                <a:gridCol w="1600200"/>
                <a:gridCol w="2468880"/>
                <a:gridCol w="2488082"/>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Owner responsibility today (1)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Who assumes it after closing</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Transition support offered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301752">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Estimating large replacements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General manager ($95K salary deducted in Adj. EBITDA; page 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available up to 12 months after closing</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01752">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Commercial relationships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General manager; operations manager already schedules these accounts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introduces commercial accounts, including the four restaurant groups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01752">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Vendor terms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General manager; Ferguson, Johnstone Supply and Carrier distributor accounts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introduces supplier contacts during the transition</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01752">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Hiring</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General manager with the operations manager (11 years)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available for hiring decisions; all 24 employees offered continuity</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r>
            </a:tbl>
          </a:graphicData>
        </a:graphic>
      </p:graphicFrame>
      <p:sp>
        <p:nvSpPr>
          <p:cNvPr id="13" name="Shape 9"/>
          <p:cNvSpPr/>
          <p:nvPr/>
        </p:nvSpPr>
        <p:spPr>
          <a:xfrm>
            <a:off x="7060082" y="1115568"/>
            <a:ext cx="0" cy="4754880"/>
          </a:xfrm>
          <a:prstGeom prst="line">
            <a:avLst/>
          </a:prstGeom>
          <a:noFill/>
          <a:ln w="6350">
            <a:solidFill>
              <a:srgbClr val="C2BAB8"/>
            </a:solidFill>
            <a:prstDash val="solid"/>
          </a:ln>
        </p:spPr>
      </p:sp>
      <p:sp>
        <p:nvSpPr>
          <p:cNvPr id="14" name="Text 10"/>
          <p:cNvSpPr txBox="1"/>
          <p:nvPr/>
        </p:nvSpPr>
        <p:spPr>
          <a:xfrm>
            <a:off x="7151522" y="1115568"/>
            <a:ext cx="4631436"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6.1</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Organization and tenure</a:t>
            </a:r>
            <a:pPr algn="l" indent="0" marL="0">
              <a:buNone/>
            </a:pPr>
            <a:r>
              <a:rPr lang="en-US" sz="950" dirty="0">
                <a:solidFill>
                  <a:srgbClr val="7A706D"/>
                </a:solidFill>
                <a:latin typeface="Arial" pitchFamily="34" charset="0"/>
                <a:ea typeface="Arial" pitchFamily="34" charset="-122"/>
                <a:cs typeface="Arial" pitchFamily="34" charset="-120"/>
              </a:rPr>
              <a:t>  (#)</a:t>
            </a:r>
            <a:endParaRPr lang="en-US" sz="950" dirty="0"/>
          </a:p>
        </p:txBody>
      </p:sp>
      <p:sp>
        <p:nvSpPr>
          <p:cNvPr id="15" name="Shape 11"/>
          <p:cNvSpPr/>
          <p:nvPr/>
        </p:nvSpPr>
        <p:spPr>
          <a:xfrm>
            <a:off x="7151522" y="1362456"/>
            <a:ext cx="4631436" cy="0"/>
          </a:xfrm>
          <a:prstGeom prst="line">
            <a:avLst/>
          </a:prstGeom>
          <a:noFill/>
          <a:ln w="6350">
            <a:solidFill>
              <a:srgbClr val="2C2523"/>
            </a:solidFill>
            <a:prstDash val="solid"/>
          </a:ln>
        </p:spPr>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7151522" y="1417320"/>
          <a:ext cx="4631436" cy="914400"/>
        </p:xfrm>
        <a:graphic>
          <a:graphicData uri="http://schemas.openxmlformats.org/drawingml/2006/table">
            <a:tbl>
              <a:tblPr/>
              <a:tblGrid>
                <a:gridCol w="1691640"/>
                <a:gridCol w="640080"/>
                <a:gridCol w="2299716"/>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Role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Headcount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Notes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Owner (Mark Delaney)</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Founder, 2009; retiring; up to 12 months’ transition</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Operations manager (Lisa Tran)</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11 years; dispatch and scheduling; expected to stay (1)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Service technicians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Hourly plus agreement spiffs; not unionized</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Install crew</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Replacements and new installations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CSRs and dispatch</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ServiceTitan call board and scheduling</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Bookkeeper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QuickBooks Online</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employees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18 in the field (75%)</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7" name="Text 12"/>
          <p:cNvSpPr txBox="1"/>
          <p:nvPr/>
        </p:nvSpPr>
        <p:spPr>
          <a:xfrm>
            <a:off x="7151522" y="3310128"/>
            <a:ext cx="4631436"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6.2</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Operating assets and systems</a:t>
            </a:r>
            <a:endParaRPr lang="en-US" sz="950" dirty="0"/>
          </a:p>
        </p:txBody>
      </p:sp>
      <p:sp>
        <p:nvSpPr>
          <p:cNvPr id="18" name="Shape 13"/>
          <p:cNvSpPr/>
          <p:nvPr/>
        </p:nvSpPr>
        <p:spPr>
          <a:xfrm>
            <a:off x="7151522" y="3557016"/>
            <a:ext cx="4631436" cy="0"/>
          </a:xfrm>
          <a:prstGeom prst="line">
            <a:avLst/>
          </a:prstGeom>
          <a:noFill/>
          <a:ln w="6350">
            <a:solidFill>
              <a:srgbClr val="2C2523"/>
            </a:solidFill>
            <a:prstDash val="solid"/>
          </a:ln>
        </p:spPr>
      </p:sp>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7151522" y="3611880"/>
          <a:ext cx="4631436" cy="914400"/>
        </p:xfrm>
        <a:graphic>
          <a:graphicData uri="http://schemas.openxmlformats.org/drawingml/2006/table">
            <a:tbl>
              <a:tblPr/>
              <a:tblGrid>
                <a:gridCol w="1097280"/>
                <a:gridCol w="3534156"/>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Item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Detail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36576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Facility</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8,000 sq ft shop and office, Maple Avenue, Columbus; leased through 2029 with a five-year renewal option; landlord unrelated to the owner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37744">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Fleet</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18 service vans and 2 install trucks; owned, financed with vehicle loans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37744">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Systems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ServiceTitan (dispatch, invoicing, memberships); QuickBooks Online (accounting)</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37744">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Suppliers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Ferguson; Johnstone Supply; Carrier equipment through the local distributor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Certifications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Carrier Factory Authorized Dealer since 2015</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Service area</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Franklin, Delaware and Licking counties, Ohio; about a 35-mile radius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r>
            </a:tbl>
          </a:graphicData>
        </a:graphic>
      </p:graphicFrame>
      <p:sp>
        <p:nvSpPr>
          <p:cNvPr id="20" name="Text 14"/>
          <p:cNvSpPr txBox="1"/>
          <p:nvPr/>
        </p:nvSpPr>
        <p:spPr>
          <a:xfrm>
            <a:off x="411480" y="5907024"/>
            <a:ext cx="11368735" cy="420624"/>
          </a:xfrm>
          <a:prstGeom prst="rect">
            <a:avLst/>
          </a:prstGeom>
          <a:noFill/>
          <a:ln/>
        </p:spPr>
        <p:txBody>
          <a:bodyPr wrap="square" lIns="0" tIns="0" rIns="0" bIns="0" rtlCol="0" anchor="b"/>
          <a:lstStyle/>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Source: Management; Company payroll register as of Sep-26; AMB Advisory analysis.</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Note: Employees are named only for management; other staff are shown by role. Revenue per employee and per vehicle use FY2025 revenue and current counts.</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algn="l" indent="0" marL="0">
              <a:lnSpc>
                <a:spcPct val="100000"/>
              </a:lnSpc>
              <a:buNone/>
            </a:pPr>
            <a:r>
              <a:rPr lang="en-US" sz="2000" b="1" dirty="0">
                <a:solidFill>
                  <a:srgbClr val="2C2523"/>
                </a:solidFill>
                <a:latin typeface="Georgia" pitchFamily="34" charset="0"/>
                <a:ea typeface="Georgia" pitchFamily="34" charset="-122"/>
                <a:cs typeface="Georgia" pitchFamily="34" charset="-120"/>
              </a:rPr>
              <a:t>Buyers will test owner dependence, $136.5K of FY2025 add-backs and a 9% recurring share; the record on each is set out below</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Shape 2"/>
          <p:cNvSpPr/>
          <p:nvPr/>
        </p:nvSpPr>
        <p:spPr>
          <a:xfrm>
            <a:off x="411480" y="6400800"/>
            <a:ext cx="11368735" cy="0"/>
          </a:xfrm>
          <a:prstGeom prst="line">
            <a:avLst/>
          </a:prstGeom>
          <a:noFill/>
          <a:ln w="6350">
            <a:solidFill>
              <a:srgbClr val="C2BAB8"/>
            </a:solidFill>
            <a:prstDash val="solid"/>
          </a:ln>
        </p:spPr>
      </p:sp>
      <p:sp>
        <p:nvSpPr>
          <p:cNvPr id="5" name="Text 3"/>
          <p:cNvSpPr txBox="1"/>
          <p:nvPr/>
        </p:nvSpPr>
        <p:spPr>
          <a:xfrm>
            <a:off x="411480" y="6455664"/>
            <a:ext cx="4572000" cy="219456"/>
          </a:xfrm>
          <a:prstGeom prst="rect">
            <a:avLst/>
          </a:prstGeom>
          <a:noFill/>
          <a:ln/>
        </p:spPr>
        <p:txBody>
          <a:bodyPr wrap="square" lIns="0" tIns="0" rIns="0" bIns="0" rtlCol="0" anchor="ctr"/>
          <a:lstStyle/>
          <a:p>
            <a:pPr algn="l" indent="0" marL="0">
              <a:buNone/>
            </a:pPr>
            <a:r>
              <a:rPr lang="en-US" sz="750" dirty="0">
                <a:solidFill>
                  <a:srgbClr val="7A706D"/>
                </a:solidFill>
                <a:latin typeface="Arial" pitchFamily="34" charset="0"/>
                <a:ea typeface="Arial" pitchFamily="34" charset="-122"/>
                <a:cs typeface="Arial" pitchFamily="34" charset="-120"/>
              </a:rPr>
              <a:t>Project Ridgeline</a:t>
            </a:r>
            <a:pPr algn="l" indent="0" marL="0">
              <a:buNone/>
            </a:pPr>
            <a:r>
              <a:rPr lang="en-US" sz="750" dirty="0">
                <a:solidFill>
                  <a:srgbClr val="C2BAB8"/>
                </a:solidFill>
                <a:latin typeface="Arial" pitchFamily="34" charset="0"/>
                <a:ea typeface="Arial" pitchFamily="34" charset="-122"/>
                <a:cs typeface="Arial" pitchFamily="34" charset="-120"/>
              </a:rPr>
              <a:t>  |  </a:t>
            </a:r>
            <a:pPr algn="l" indent="0" marL="0">
              <a:buNone/>
            </a:pPr>
            <a:r>
              <a:rPr lang="en-US" sz="750" dirty="0">
                <a:solidFill>
                  <a:srgbClr val="7B0000"/>
                </a:solidFill>
                <a:latin typeface="Arial" pitchFamily="34" charset="0"/>
                <a:ea typeface="Arial" pitchFamily="34" charset="-122"/>
                <a:cs typeface="Arial" pitchFamily="34" charset="-120"/>
              </a:rPr>
              <a:t>Considerations for buyers</a:t>
            </a:r>
            <a:endParaRPr lang="en-US" sz="750" dirty="0"/>
          </a:p>
        </p:txBody>
      </p:sp>
      <p:sp>
        <p:nvSpPr>
          <p:cNvPr id="6" name="Text 4"/>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7" name="Image 0" descr="/home/user/project-avengers/amb-material-bot/design/directions/a-bulge-bracket/assets/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8" name="Text 5"/>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7</a:t>
            </a:r>
            <a:endParaRPr lang="en-US" sz="800" dirty="0"/>
          </a:p>
        </p:txBody>
      </p:sp>
      <p:sp>
        <p:nvSpPr>
          <p:cNvPr id="9" name="Text 6"/>
          <p:cNvSpPr txBox="1"/>
          <p:nvPr/>
        </p:nvSpPr>
        <p:spPr>
          <a:xfrm>
            <a:off x="411480" y="1115568"/>
            <a:ext cx="11368735" cy="228600"/>
          </a:xfrm>
          <a:prstGeom prst="rect">
            <a:avLst/>
          </a:prstGeom>
          <a:noFill/>
          <a:ln/>
        </p:spPr>
        <p:txBody>
          <a:bodyPr wrap="square" lIns="0" tIns="0" rIns="0" bIns="0" rtlCol="0" anchor="b"/>
          <a:lstStyle/>
          <a:p>
            <a:pPr algn="l" indent="0" marL="0">
              <a:buNone/>
            </a:pPr>
            <a:r>
              <a:rPr lang="en-US" sz="950" b="1" dirty="0">
                <a:solidFill>
                  <a:srgbClr val="2C2523"/>
                </a:solidFill>
                <a:latin typeface="Arial" pitchFamily="34" charset="0"/>
                <a:ea typeface="Arial" pitchFamily="34" charset="-122"/>
                <a:cs typeface="Arial" pitchFamily="34" charset="-120"/>
              </a:rPr>
              <a:t>Exhibit 7.1</a:t>
            </a:r>
            <a:pPr algn="l" indent="0" marL="0">
              <a:buNone/>
            </a:pPr>
            <a:r>
              <a:rPr lang="en-US" sz="950" dirty="0">
                <a:solidFill>
                  <a:srgbClr val="000000"/>
                </a:solidFill>
                <a:latin typeface="Arial" pitchFamily="34" charset="0"/>
                <a:ea typeface="Arial" pitchFamily="34" charset="-122"/>
                <a:cs typeface="Arial" pitchFamily="34" charset="-120"/>
              </a:rPr>
              <a:t>   </a:t>
            </a:r>
            <a:pPr algn="l" indent="0" marL="0">
              <a:buNone/>
            </a:pPr>
            <a:r>
              <a:rPr lang="en-US" sz="950" b="1" dirty="0">
                <a:solidFill>
                  <a:srgbClr val="2C2523"/>
                </a:solidFill>
                <a:latin typeface="Arial" pitchFamily="34" charset="0"/>
                <a:ea typeface="Arial" pitchFamily="34" charset="-122"/>
                <a:cs typeface="Arial" pitchFamily="34" charset="-120"/>
              </a:rPr>
              <a:t>Considerations for buyers</a:t>
            </a:r>
            <a:endParaRPr lang="en-US" sz="950" dirty="0"/>
          </a:p>
        </p:txBody>
      </p:sp>
      <p:sp>
        <p:nvSpPr>
          <p:cNvPr id="10" name="Shape 7"/>
          <p:cNvSpPr/>
          <p:nvPr/>
        </p:nvSpPr>
        <p:spPr>
          <a:xfrm>
            <a:off x="411480" y="1362456"/>
            <a:ext cx="11368735" cy="0"/>
          </a:xfrm>
          <a:prstGeom prst="line">
            <a:avLst/>
          </a:prstGeom>
          <a:noFill/>
          <a:ln w="6350">
            <a:solidFill>
              <a:srgbClr val="2C2523"/>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11368735" cy="914400"/>
        </p:xfrm>
        <a:graphic>
          <a:graphicData uri="http://schemas.openxmlformats.org/drawingml/2006/table">
            <a:tbl>
              <a:tblPr/>
              <a:tblGrid>
                <a:gridCol w="1737360"/>
                <a:gridCol w="4754880"/>
                <a:gridCol w="4876495"/>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Consideration</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What the data shows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How it is addressed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566928">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Owner involvement</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owner works about 45 hours a week on estimating large replacements, commercial relationships, vendor terms and hiring (1). Commercial customers, 27% of revenue, deal with him directly.</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operations manager (11 years) runs dispatch and scheduling and is expected to stay. The owner offers up to 12 months of transition and will introduce commercial accounts. A $95K general-manager salary is already deducted in Adj. EBITDA (page 4).</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566928">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Size of adjustments</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FY2025 Adj. EBITDA of $453K includes $136.5K of adjustments (30% of the total): $105K of owner pay above market and $31.5K of personal and one-time items.</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Every adjustment carries a tier code and a GL reference (page 4). Owner pay is on the payroll register; personal items are identified line by line and total 1.0% of revenue. No pro forma items are included.</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566928">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Recurring revenue share</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Maintenance agreements are 9% of revenue ($274K) from 1,450 members; agreements are offered on about 35% of service calls (1).</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Renewal is about 82% (1). Members receive two tune-ups a year, priority scheduling and a 15% repair discount, and technicians earn a spiff on each sale; raising the offer rate is the lever management identifies.</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566928">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Customer concentration</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largest customer is about 4% of revenue (1). Commercial revenue of $821K comes from property managers, small office buildings and four restaurant groups.</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No customer exceeds 4%. Residential work, 64% of revenue, is spread across households in three counties, and 900+ Google reviews (4.8) support lead flow without paid marketing (1).</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Fleet and facility</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20 vehicles are owned and financed with vehicle loans; the 8,000 sq ft shop is leased through 2029 from a landlord unrelated to the owner.</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Seller prefers an asset sale in which vehicles transfer free and clear of liens, with vehicle loans settled at closing. The lease carries a five-year renewal option to 2034 (1).</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Financial reporting</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Financials are prepared in QuickBooks Online by an in-house bookkeeper and have not been audited. Cost of revenue on page 3 is derived from reported gross margin.</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ServiceTitan holds job, membership and invoicing detail that can be tied to QuickBooks revenue. Federal tax returns (Form 1120-S) and bank statements will be provided for reconciliation.</a:t>
                      </a:r>
                      <a:endParaRPr lang="en-US" sz="90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r>
            </a:tbl>
          </a:graphicData>
        </a:graphic>
      </p:graphicFrame>
      <p:sp>
        <p:nvSpPr>
          <p:cNvPr id="12" name="Text 8"/>
          <p:cNvSpPr txBox="1"/>
          <p:nvPr/>
        </p:nvSpPr>
        <p:spPr>
          <a:xfrm>
            <a:off x="411480" y="4919472"/>
            <a:ext cx="11368735" cy="1042416"/>
          </a:xfrm>
          <a:prstGeom prst="rect">
            <a:avLst/>
          </a:prstGeom>
          <a:noFill/>
          <a:ln/>
        </p:spPr>
        <p:txBody>
          <a:bodyPr wrap="square" lIns="0" tIns="0" rIns="0" bIns="0" rtlCol="0" anchor="t"/>
          <a:lstStyle/>
          <a:p>
            <a:pPr algn="l" indent="0" marL="0">
              <a:lnSpc>
                <a:spcPct val="108000"/>
              </a:lnSpc>
              <a:spcAft>
                <a:spcPts val="700"/>
              </a:spcAft>
              <a:buNone/>
            </a:pPr>
            <a:r>
              <a:rPr lang="en-US" sz="950" dirty="0">
                <a:solidFill>
                  <a:srgbClr val="2C2523"/>
                </a:solidFill>
                <a:latin typeface="Arial" pitchFamily="34" charset="0"/>
                <a:ea typeface="Arial" pitchFamily="34" charset="-122"/>
                <a:cs typeface="Arial" pitchFamily="34" charset="-120"/>
              </a:rPr>
              <a:t>The two largest items, owner dependence and the $105K owner-pay reset, are addressed by the same facts: an operations manager with 11 years’ tenure, a 12-month transition offer and a $95K replacement salary already deducted. AMB Advisory will provide the payroll register, general-ledger detail and ServiceTitan exports supporting each row in the data room.</a:t>
            </a:r>
            <a:endParaRPr lang="en-US" sz="950" dirty="0"/>
          </a:p>
        </p:txBody>
      </p:sp>
      <p:sp>
        <p:nvSpPr>
          <p:cNvPr id="13" name="Text 9"/>
          <p:cNvSpPr txBox="1"/>
          <p:nvPr/>
        </p:nvSpPr>
        <p:spPr>
          <a:xfrm>
            <a:off x="411480" y="5907024"/>
            <a:ext cx="11368735" cy="420624"/>
          </a:xfrm>
          <a:prstGeom prst="rect">
            <a:avLst/>
          </a:prstGeom>
          <a:noFill/>
          <a:ln/>
        </p:spPr>
        <p:txBody>
          <a:bodyPr wrap="square" lIns="0" tIns="0" rIns="0" bIns="0" rtlCol="0" anchor="b"/>
          <a:lstStyle/>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Source: Management; Company financial statements (QuickBooks Online), FY2023–FY2025; AMB Advisory analysis.</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a:t>
            </a:r>
            <a:endParaRPr lang="en-US" sz="700" dirty="0"/>
          </a:p>
          <a:p>
            <a:pPr algn="l"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AMB Advisory Services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Ridgeline: Confidential Information Memorandum</dc:title>
  <dc:subject>PptxGenJS Presentation</dc:subject>
  <dc:creator>AMB Advisory Services LLC</dc:creator>
  <cp:lastModifiedBy>AMB Advisory Services LLC</cp:lastModifiedBy>
  <cp:revision>1</cp:revision>
  <dcterms:created xsi:type="dcterms:W3CDTF">2026-09-28T03:00:44Z</dcterms:created>
  <dcterms:modified xsi:type="dcterms:W3CDTF">2026-09-28T03:00:44Z</dcterms:modified>
</cp:coreProperties>
</file>