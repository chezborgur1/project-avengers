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7B0000"/>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2406.8</c:v>
                </c:pt>
                <c:pt idx="1">
                  <c:v>2718.6</c:v>
                </c:pt>
                <c:pt idx="2">
                  <c:v>3040.7999999999997</c:v>
                </c:pt>
              </c:numCache>
            </c:numRef>
          </c:val>
        </c:ser>
        <c:ser>
          <c:idx val="1"/>
          <c:order val="1"/>
          <c:tx>
            <c:strRef>
              <c:f>Sheet1!$C$1</c:f>
              <c:strCache>
                <c:ptCount val="1"/>
                <c:pt idx="0">
                  <c:v>Adj. EBITDA</c:v>
                </c:pt>
              </c:strCache>
            </c:strRef>
          </c:tx>
          <c:spPr>
            <a:solidFill>
              <a:srgbClr val="DCC7C4"/>
            </a:solidFill>
            <a:effectLst/>
          </c:spPr>
          <c:invertIfNegative val="0"/>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263</c:v>
                </c:pt>
                <c:pt idx="1">
                  <c:v>354.2</c:v>
                </c:pt>
                <c:pt idx="2">
                  <c:v>452.9</c:v>
                </c:pt>
              </c:numCache>
            </c:numRef>
          </c:val>
        </c:ser>
        <c:dLbls>
          <c:numFmt formatCode="#,##0" sourceLinked="0"/>
          <c:txPr>
            <a:bodyPr/>
            <a:lstStyle/>
            <a:p>
              <a:pPr>
                <a:defRPr b="0" i="0" strike="noStrike" sz="800" u="none">
                  <a:solidFill>
                    <a:srgbClr val="2C252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6350" cap="flat">
            <a:solidFill>
              <a:srgbClr val="C2BAB8"/>
            </a:solidFill>
            <a:prstDash val="solid"/>
            <a:round/>
          </a:ln>
        </c:spPr>
        <c:txPr>
          <a:bodyPr/>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800">
              <a:solidFill>
                <a:srgbClr val="2C2523"/>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Residential</c:v>
                </c:pt>
              </c:strCache>
            </c:strRef>
          </c:tx>
          <c:spPr>
            <a:solidFill>
              <a:srgbClr val="7B0000"/>
            </a:solidFill>
            <a:ln w="9525">
              <a:solidFill>
                <a:srgbClr val="FFFFFF"/>
              </a:solidFill>
            </a:ln>
            <a:effectLst/>
          </c:spPr>
          <c:invertIfNegative val="0"/>
          <c:dLbls>
            <c:numFmt formatCode="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66</c:v>
                </c:pt>
                <c:pt idx="1">
                  <c:v>65</c:v>
                </c:pt>
                <c:pt idx="2">
                  <c:v>64</c:v>
                </c:pt>
              </c:numCache>
            </c:numRef>
          </c:val>
        </c:ser>
        <c:ser>
          <c:idx val="1"/>
          <c:order val="1"/>
          <c:tx>
            <c:strRef>
              <c:f>Sheet1!$C$1</c:f>
              <c:strCache>
                <c:ptCount val="1"/>
                <c:pt idx="0">
                  <c:v>Commercial</c:v>
                </c:pt>
              </c:strCache>
            </c:strRef>
          </c:tx>
          <c:spPr>
            <a:solidFill>
              <a:srgbClr val="C49A5B"/>
            </a:solidFill>
            <a:ln w="9525">
              <a:solidFill>
                <a:srgbClr val="FFFFFF"/>
              </a:solidFill>
            </a:ln>
            <a:effectLst/>
          </c:spPr>
          <c:invertIfNegative val="0"/>
          <c:dLbls>
            <c:numFmt formatCode="0&quot;%&quot;" sourceLinked="0"/>
            <c:txPr>
              <a:bodyPr/>
              <a:lstStyle/>
              <a:p>
                <a:pPr>
                  <a:defRPr b="0" i="0" strike="noStrike" sz="800" u="none">
                    <a:solidFill>
                      <a:srgbClr val="2C2523"/>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25</c:v>
                </c:pt>
                <c:pt idx="1">
                  <c:v>26</c:v>
                </c:pt>
                <c:pt idx="2">
                  <c:v>27</c:v>
                </c:pt>
              </c:numCache>
            </c:numRef>
          </c:val>
        </c:ser>
        <c:ser>
          <c:idx val="2"/>
          <c:order val="2"/>
          <c:tx>
            <c:strRef>
              <c:f>Sheet1!$D$1</c:f>
              <c:strCache>
                <c:ptCount val="1"/>
                <c:pt idx="0">
                  <c:v>Maintenance agreements</c:v>
                </c:pt>
              </c:strCache>
            </c:strRef>
          </c:tx>
          <c:spPr>
            <a:solidFill>
              <a:srgbClr val="5E5552"/>
            </a:solidFill>
            <a:ln w="9525">
              <a:solidFill>
                <a:srgbClr val="FFFFFF"/>
              </a:solidFill>
            </a:ln>
            <a:effectLst/>
          </c:spPr>
          <c:invertIfNegative val="0"/>
          <c:dLbls>
            <c:numFmt formatCode="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9</c:v>
                </c:pt>
                <c:pt idx="1">
                  <c:v>9</c:v>
                </c:pt>
                <c:pt idx="2">
                  <c:v>9</c:v>
                </c:pt>
              </c:numCache>
            </c:numRef>
          </c:val>
        </c:ser>
        <c:dLbls>
          <c:numFmt formatCode="0&quot;%&quot;"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6350" cap="flat">
            <a:solidFill>
              <a:srgbClr val="C2BAB8"/>
            </a:solidFill>
            <a:prstDash val="solid"/>
            <a:round/>
          </a:ln>
        </c:spPr>
        <c:txPr>
          <a:bodyPr/>
          <a:lstStyle/>
          <a:p>
            <a:pPr>
              <a:defRPr sz="800" b="0" i="0" u="none" strike="noStrike">
                <a:solidFill>
                  <a:srgbClr val="7A706D"/>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t"/>
      <c:overlay val="0"/>
      <c:txPr>
        <a:bodyPr/>
        <a:lstStyle/>
        <a:p>
          <a:pPr>
            <a:defRPr sz="800">
              <a:solidFill>
                <a:srgbClr val="2C2523"/>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project-avengers/amb-material-bot/design/directions/c-exhibit-databook/amb-logo-tight.png">    </p:cNvPr>
          <p:cNvPicPr>
            <a:picLocks noChangeAspect="1"/>
          </p:cNvPicPr>
          <p:nvPr/>
        </p:nvPicPr>
        <p:blipFill>
          <a:blip r:embed="rId1"/>
          <a:stretch>
            <a:fillRect/>
          </a:stretch>
        </p:blipFill>
        <p:spPr>
          <a:xfrm>
            <a:off x="640080" y="566928"/>
            <a:ext cx="2194560" cy="714146"/>
          </a:xfrm>
          <a:prstGeom prst="rect">
            <a:avLst/>
          </a:prstGeom>
        </p:spPr>
      </p:pic>
      <p:sp>
        <p:nvSpPr>
          <p:cNvPr id="3" name="Shape 0"/>
          <p:cNvSpPr/>
          <p:nvPr/>
        </p:nvSpPr>
        <p:spPr>
          <a:xfrm>
            <a:off x="0" y="4572000"/>
            <a:ext cx="12191695" cy="2286000"/>
          </a:xfrm>
          <a:prstGeom prst="rect">
            <a:avLst/>
          </a:prstGeom>
          <a:solidFill>
            <a:srgbClr val="7B0000"/>
          </a:solidFill>
          <a:ln w="3175">
            <a:solidFill>
              <a:srgbClr val="7B0000"/>
            </a:solidFill>
            <a:prstDash val="solid"/>
          </a:ln>
        </p:spPr>
      </p:sp>
      <p:sp>
        <p:nvSpPr>
          <p:cNvPr id="4" name="Shape 1"/>
          <p:cNvSpPr/>
          <p:nvPr/>
        </p:nvSpPr>
        <p:spPr>
          <a:xfrm>
            <a:off x="658368" y="4956048"/>
            <a:ext cx="1828800" cy="0"/>
          </a:xfrm>
          <a:prstGeom prst="line">
            <a:avLst/>
          </a:prstGeom>
          <a:noFill/>
          <a:ln w="12700">
            <a:solidFill>
              <a:srgbClr val="C9A227"/>
            </a:solidFill>
            <a:prstDash val="solid"/>
          </a:ln>
        </p:spPr>
      </p:sp>
      <p:sp>
        <p:nvSpPr>
          <p:cNvPr id="5" name="Text 2"/>
          <p:cNvSpPr txBox="1"/>
          <p:nvPr/>
        </p:nvSpPr>
        <p:spPr>
          <a:xfrm>
            <a:off x="640080" y="5029200"/>
            <a:ext cx="8229600" cy="713232"/>
          </a:xfrm>
          <a:prstGeom prst="rect">
            <a:avLst/>
          </a:prstGeom>
          <a:noFill/>
          <a:ln/>
        </p:spPr>
        <p:txBody>
          <a:bodyPr wrap="square" lIns="0" tIns="0" rIns="0" bIns="0" rtlCol="0" anchor="b"/>
          <a:lstStyle/>
          <a:p>
            <a:pPr indent="0" marL="0">
              <a:buNone/>
            </a:pPr>
            <a:r>
              <a:rPr lang="en-US" sz="4000" dirty="0">
                <a:solidFill>
                  <a:srgbClr val="FFFFFF"/>
                </a:solidFill>
                <a:latin typeface="Georgia" pitchFamily="34" charset="0"/>
                <a:ea typeface="Georgia" pitchFamily="34" charset="-122"/>
                <a:cs typeface="Georgia" pitchFamily="34" charset="-120"/>
              </a:rPr>
              <a:t>Project Ridgeline</a:t>
            </a:r>
            <a:endParaRPr lang="en-US" sz="4000" dirty="0"/>
          </a:p>
        </p:txBody>
      </p:sp>
      <p:sp>
        <p:nvSpPr>
          <p:cNvPr id="6" name="Text 3"/>
          <p:cNvSpPr txBox="1"/>
          <p:nvPr/>
        </p:nvSpPr>
        <p:spPr>
          <a:xfrm>
            <a:off x="640080" y="5815584"/>
            <a:ext cx="822960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Confidential Information Memorandum</a:t>
            </a:r>
            <a:endParaRPr lang="en-US" sz="1600" dirty="0"/>
          </a:p>
        </p:txBody>
      </p:sp>
      <p:sp>
        <p:nvSpPr>
          <p:cNvPr id="7" name="Text 4"/>
          <p:cNvSpPr txBox="1"/>
          <p:nvPr/>
        </p:nvSpPr>
        <p:spPr>
          <a:xfrm>
            <a:off x="640080" y="6144768"/>
            <a:ext cx="5486400" cy="219456"/>
          </a:xfrm>
          <a:prstGeom prst="rect">
            <a:avLst/>
          </a:prstGeom>
          <a:noFill/>
          <a:ln/>
        </p:spPr>
        <p:txBody>
          <a:bodyPr wrap="square" lIns="0" tIns="0" rIns="0" bIns="0" rtlCol="0" anchor="t"/>
          <a:lstStyle/>
          <a:p>
            <a:pPr indent="0" marL="0">
              <a:buNone/>
            </a:pPr>
            <a:r>
              <a:rPr lang="en-US" sz="1100" dirty="0">
                <a:solidFill>
                  <a:srgbClr val="E9D3D5"/>
                </a:solidFill>
                <a:latin typeface="Arial" pitchFamily="34" charset="0"/>
                <a:ea typeface="Arial" pitchFamily="34" charset="-122"/>
                <a:cs typeface="Arial" pitchFamily="34" charset="-120"/>
              </a:rPr>
              <a:t>October 2026</a:t>
            </a:r>
            <a:endParaRPr lang="en-US" sz="1100" dirty="0"/>
          </a:p>
        </p:txBody>
      </p:sp>
      <p:sp>
        <p:nvSpPr>
          <p:cNvPr id="8" name="Text 5"/>
          <p:cNvSpPr txBox="1"/>
          <p:nvPr/>
        </p:nvSpPr>
        <p:spPr>
          <a:xfrm>
            <a:off x="640080" y="6419088"/>
            <a:ext cx="10881360" cy="201168"/>
          </a:xfrm>
          <a:prstGeom prst="rect">
            <a:avLst/>
          </a:prstGeom>
          <a:noFill/>
          <a:ln/>
        </p:spPr>
        <p:txBody>
          <a:bodyPr wrap="square" lIns="0" tIns="0" rIns="0" bIns="0" rtlCol="0" anchor="ctr"/>
          <a:lstStyle/>
          <a:p>
            <a:pPr indent="0" marL="0">
              <a:buNone/>
            </a:pPr>
            <a:r>
              <a:rPr lang="en-US" sz="800" dirty="0">
                <a:solidFill>
                  <a:srgbClr val="E9D3D5"/>
                </a:solidFill>
                <a:latin typeface="Arial" pitchFamily="34" charset="0"/>
                <a:ea typeface="Arial" pitchFamily="34" charset="-122"/>
                <a:cs typeface="Arial" pitchFamily="34" charset="-120"/>
              </a:rPr>
              <a:t>Strictly private and confidential. Prepared by AMB Advisory Services LLC for recipients who have executed a confidentiality agreement with AMB Advisory.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71478"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Ridgeline earned $452.9K of Adj. EBITDA (14.9% margin) on $3.04M of FY2025 revenue with 24 employees and 1,450 agreement members</a:t>
            </a:r>
            <a:endParaRPr lang="en-US" sz="2000" dirty="0"/>
          </a:p>
        </p:txBody>
      </p:sp>
      <p:sp>
        <p:nvSpPr>
          <p:cNvPr id="3" name="Shape 1"/>
          <p:cNvSpPr/>
          <p:nvPr/>
        </p:nvSpPr>
        <p:spPr>
          <a:xfrm>
            <a:off x="411480" y="969264"/>
            <a:ext cx="11371478" cy="0"/>
          </a:xfrm>
          <a:prstGeom prst="line">
            <a:avLst/>
          </a:prstGeom>
          <a:noFill/>
          <a:ln w="9525">
            <a:solidFill>
              <a:srgbClr val="7B0000"/>
            </a:solidFill>
            <a:prstDash val="solid"/>
          </a:ln>
        </p:spPr>
      </p:sp>
      <p:sp>
        <p:nvSpPr>
          <p:cNvPr id="4" name="Text 2"/>
          <p:cNvSpPr txBox="1"/>
          <p:nvPr/>
        </p:nvSpPr>
        <p:spPr>
          <a:xfrm>
            <a:off x="411480" y="5943600"/>
            <a:ext cx="11371478" cy="420624"/>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Fiscal year ends December 31.</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 Operating metrics as of September 2026.</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(2) Adj. EBITDA and SDE are non-GAAP measures; see page 4 for the reconciliation to net income.</a:t>
            </a:r>
            <a:endParaRPr lang="en-US" sz="700" dirty="0"/>
          </a:p>
        </p:txBody>
      </p:sp>
      <p:sp>
        <p:nvSpPr>
          <p:cNvPr id="5" name="Shape 3"/>
          <p:cNvSpPr/>
          <p:nvPr/>
        </p:nvSpPr>
        <p:spPr>
          <a:xfrm>
            <a:off x="411480" y="6400800"/>
            <a:ext cx="11371478"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pPr indent="0" marL="0">
              <a:buNone/>
            </a:pPr>
            <a:r>
              <a:rPr lang="en-US" sz="750" dirty="0">
                <a:solidFill>
                  <a:srgbClr val="7A706D"/>
                </a:solidFill>
                <a:latin typeface="Arial" pitchFamily="34" charset="0"/>
                <a:ea typeface="Arial" pitchFamily="34" charset="-122"/>
                <a:cs typeface="Arial" pitchFamily="34" charset="-120"/>
              </a:rPr>
              <a:t>  |  </a:t>
            </a:r>
            <a:pPr indent="0" marL="0">
              <a:buNone/>
            </a:pPr>
            <a:r>
              <a:rPr lang="en-US" sz="750" dirty="0">
                <a:solidFill>
                  <a:srgbClr val="7B0000"/>
                </a:solidFill>
                <a:latin typeface="Arial" pitchFamily="34" charset="0"/>
                <a:ea typeface="Arial" pitchFamily="34" charset="-122"/>
                <a:cs typeface="Arial" pitchFamily="34" charset="-120"/>
              </a:rPr>
              <a:t>Executive summary</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home/user/project-avengers/amb-material-bot/design/directions/c-exhibit-databook/amb-logo-tight.png">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90118"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2</a:t>
            </a:r>
            <a:endParaRPr lang="en-US" sz="800" dirty="0"/>
          </a:p>
        </p:txBody>
      </p:sp>
      <p:sp>
        <p:nvSpPr>
          <p:cNvPr id="10" name="Text 7"/>
          <p:cNvSpPr txBox="1"/>
          <p:nvPr/>
        </p:nvSpPr>
        <p:spPr>
          <a:xfrm>
            <a:off x="411480" y="1115568"/>
            <a:ext cx="655716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Quick Stats</a:t>
            </a:r>
            <a:pPr indent="0" marL="0">
              <a:buNone/>
            </a:pPr>
            <a:r>
              <a:rPr lang="en-US" sz="950" dirty="0">
                <a:solidFill>
                  <a:srgbClr val="7A706D"/>
                </a:solidFill>
                <a:latin typeface="Arial" pitchFamily="34" charset="0"/>
                <a:ea typeface="Arial" pitchFamily="34" charset="-122"/>
                <a:cs typeface="Arial" pitchFamily="34" charset="-120"/>
              </a:rPr>
              <a:t>  ($000s unless noted)</a:t>
            </a:r>
            <a:endParaRPr lang="en-US" sz="950" dirty="0"/>
          </a:p>
        </p:txBody>
      </p:sp>
      <p:sp>
        <p:nvSpPr>
          <p:cNvPr id="11" name="Shape 8"/>
          <p:cNvSpPr/>
          <p:nvPr/>
        </p:nvSpPr>
        <p:spPr>
          <a:xfrm>
            <a:off x="411480" y="1344168"/>
            <a:ext cx="6557162" cy="0"/>
          </a:xfrm>
          <a:prstGeom prst="line">
            <a:avLst/>
          </a:prstGeom>
          <a:noFill/>
          <a:ln w="6350">
            <a:solidFill>
              <a:srgbClr val="2C2523"/>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6556248" cy="914400"/>
        </p:xfrm>
        <a:graphic>
          <a:graphicData uri="http://schemas.openxmlformats.org/drawingml/2006/table">
            <a:tbl>
              <a:tblPr/>
              <a:tblGrid>
                <a:gridCol w="2057400"/>
                <a:gridCol w="603504"/>
                <a:gridCol w="603504"/>
                <a:gridCol w="603504"/>
                <a:gridCol w="73152"/>
                <a:gridCol w="2249424"/>
                <a:gridCol w="365760"/>
              </a:tblGrid>
              <a:tr h="192024">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r>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Context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Financial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$2,718.6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12.4% CAGR; 11.9% in 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gross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Equipment and materials 24.6% of 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Margin 6.5% to 10.4%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pPr algn="l" indent="0" marL="0">
                        <a:buNone/>
                      </a:pPr>
                      <a:r>
                        <a:rPr lang="en-US" sz="700" b="1" dirty="0">
                          <a:solidFill>
                            <a:srgbClr val="7A706D"/>
                          </a:solidFill>
                          <a:latin typeface="Arial" pitchFamily="34" charset="0"/>
                          <a:ea typeface="Arial" pitchFamily="34" charset="-122"/>
                          <a:cs typeface="Arial" pitchFamily="34" charset="-120"/>
                        </a:rPr>
                        <a:t> (2)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$263.0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$452.9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After $136.5K of FY2025 adjustments (p. 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Up +4.0 pts in two years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Seller’s discretionary earnings</a:t>
                      </a:r>
                      <a:pPr algn="l" indent="0" marL="0">
                        <a:buNone/>
                      </a:pPr>
                      <a:r>
                        <a:rPr lang="en-US" sz="700" dirty="0">
                          <a:solidFill>
                            <a:srgbClr val="7A706D"/>
                          </a:solidFill>
                          <a:latin typeface="Arial" pitchFamily="34" charset="0"/>
                          <a:ea typeface="Arial" pitchFamily="34" charset="-122"/>
                          <a:cs typeface="Arial" pitchFamily="34" charset="-120"/>
                        </a:rPr>
                        <a:t> (2)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358.0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449.2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547.9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SDE: Adj. EBITDA + $95K replacement salary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Operating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Agreement members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82% renewal; two tune-ups a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Largest customer (% of revenue)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Top 10 are 19.3%, all commercial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Employees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18 in the field; ops manager 11 years’ tenure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Revenue per employee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$168.9K per field employee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Fleet (#)</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18 service vans, 2 install trucks, owned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Google rating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900+ reviews; Carrier dealer since 2015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3" name="Text 9"/>
          <p:cNvSpPr txBox="1"/>
          <p:nvPr/>
        </p:nvSpPr>
        <p:spPr>
          <a:xfrm>
            <a:off x="411480" y="4622292"/>
            <a:ext cx="6557162" cy="1275588"/>
          </a:xfrm>
          <a:prstGeom prst="rect">
            <a:avLst/>
          </a:prstGeom>
          <a:noFill/>
          <a:ln/>
        </p:spPr>
        <p:txBody>
          <a:bodyPr wrap="square" lIns="0" tIns="0" rIns="0" bIns="0" rtlCol="0" anchor="t"/>
          <a:lstStyle/>
          <a:p>
            <a:pPr indent="0" marL="0">
              <a:lnSpc>
                <a:spcPct val="108000"/>
              </a:lnSpc>
              <a:buNone/>
            </a:pPr>
            <a:r>
              <a:rPr lang="en-US" sz="950" b="1" dirty="0">
                <a:solidFill>
                  <a:srgbClr val="2C2523"/>
                </a:solidFill>
                <a:latin typeface="Arial" pitchFamily="34" charset="0"/>
                <a:ea typeface="Arial" pitchFamily="34" charset="-122"/>
                <a:cs typeface="Arial" pitchFamily="34" charset="-120"/>
              </a:rPr>
              <a:t>Ridgeline Comfort Services LLC (“Ridgeline” or the “Company”) </a:t>
            </a:r>
            <a:pPr indent="0" marL="0">
              <a:lnSpc>
                <a:spcPct val="108000"/>
              </a:lnSpc>
              <a:buNone/>
            </a:pPr>
            <a:r>
              <a:rPr lang="en-US" sz="950" dirty="0">
                <a:solidFill>
                  <a:srgbClr val="2C2523"/>
                </a:solidFill>
                <a:latin typeface="Arial" pitchFamily="34" charset="0"/>
                <a:ea typeface="Arial" pitchFamily="34" charset="-122"/>
                <a:cs typeface="Arial" pitchFamily="34" charset="-120"/>
              </a:rPr>
              <a:t>is a residential and light-commercial HVAC and plumbing contractor based in Columbus, Ohio, serving Franklin, Delaware and Licking counties within about a 35-mile radius. Founded in 2009 by its owner after 12 years as a lead technician at a regional contractor, the Company employs 24 people: 14 service technicians, 4 installers, an operations manager, 3 customer service and dispatch staff and a bookkeeper. Revenue of $3.04M in FY2025 (a 12.4% CAGR since FY2023) is 64% residential service and replacement, 27% commercial and 9% maintenance agreements, with 1,450 agreement members renewing at 82%. The largest customer is 4.0% of revenue. Ridgeline is an S corporation owned by its founder, who is retiring at 61 and is offering an asset sale with up to 12 months of full-time transition.</a:t>
            </a:r>
            <a:endParaRPr lang="en-US" sz="950" dirty="0"/>
          </a:p>
        </p:txBody>
      </p:sp>
      <p:sp>
        <p:nvSpPr>
          <p:cNvPr id="14" name="Text 10"/>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Transaction summary</a:t>
            </a:r>
            <a:endParaRPr lang="en-US" sz="950" dirty="0"/>
          </a:p>
        </p:txBody>
      </p:sp>
      <p:sp>
        <p:nvSpPr>
          <p:cNvPr id="15" name="Shape 11"/>
          <p:cNvSpPr/>
          <p:nvPr/>
        </p:nvSpPr>
        <p:spPr>
          <a:xfrm>
            <a:off x="7151522" y="1344168"/>
            <a:ext cx="4631436" cy="0"/>
          </a:xfrm>
          <a:prstGeom prst="line">
            <a:avLst/>
          </a:prstGeom>
          <a:noFill/>
          <a:ln w="6350">
            <a:solidFill>
              <a:srgbClr val="2C2523"/>
            </a:solidFill>
            <a:prstDash val="solid"/>
          </a:ln>
        </p:spPr>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1051560"/>
                <a:gridCol w="357987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Detail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What is offered</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Substantially all of the operating assets of Ridgeline Comfort Services LLC, free and clear of liens.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Basis of offers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business is offered as a purchase of assets; the Seller retains cash, receivables and payables.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Reason for sale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retirement (age 61).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transition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owner will remain full time for up to 12 months after closing and will introduce each commercial account.</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Key employees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operations manager (11 years) is expected to stay. The Seller prefers a buyer who keeps the Ridgeline name and all employees.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Real estate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8,000 sq ft leased shop and office through 2029 with a 5-year renewal option; landlord unrelated to the owner.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Target timing</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Seller is targeting a closing within 12 months.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Tax</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Each party will rely on its own tax advisors.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7" name="Text 12"/>
          <p:cNvSpPr txBox="1"/>
          <p:nvPr/>
        </p:nvSpPr>
        <p:spPr>
          <a:xfrm>
            <a:off x="7151522" y="36301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Key observations</a:t>
            </a:r>
            <a:endParaRPr lang="en-US" sz="950" dirty="0"/>
          </a:p>
        </p:txBody>
      </p:sp>
      <p:sp>
        <p:nvSpPr>
          <p:cNvPr id="18" name="Shape 13"/>
          <p:cNvSpPr/>
          <p:nvPr/>
        </p:nvSpPr>
        <p:spPr>
          <a:xfrm>
            <a:off x="7151522" y="3858768"/>
            <a:ext cx="4631436" cy="0"/>
          </a:xfrm>
          <a:prstGeom prst="line">
            <a:avLst/>
          </a:prstGeom>
          <a:noFill/>
          <a:ln w="6350">
            <a:solidFill>
              <a:srgbClr val="2C2523"/>
            </a:solidFill>
            <a:prstDash val="solid"/>
          </a:ln>
        </p:spPr>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7151522" y="3931920"/>
          <a:ext cx="4631436" cy="914400"/>
        </p:xfrm>
        <a:graphic>
          <a:graphicData uri="http://schemas.openxmlformats.org/drawingml/2006/table">
            <a:tbl>
              <a:tblPr/>
              <a:tblGrid>
                <a:gridCol w="274320"/>
                <a:gridCol w="4357116"/>
              </a:tblGrid>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Revenue grew 26% in two years, </a:t>
                      </a:r>
                      <a:pPr indent="0" marL="0">
                        <a:buNone/>
                      </a:pPr>
                      <a:r>
                        <a:rPr lang="en-US" sz="900" dirty="0">
                          <a:solidFill>
                            <a:srgbClr val="2C2523"/>
                          </a:solidFill>
                          <a:latin typeface="Arial" pitchFamily="34" charset="0"/>
                          <a:ea typeface="Arial" pitchFamily="34" charset="-122"/>
                          <a:cs typeface="Arial" pitchFamily="34" charset="-120"/>
                        </a:rPr>
                        <a:t>from $2.41M in FY2023 to $3.04M in FY2025, with commercial the fastest line at a 15.8% CAGR and residential at 10.7%.</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Gross margin rose +90 bps to 61.9% </a:t>
                      </a:r>
                      <a:pPr indent="0" marL="0">
                        <a:buNone/>
                      </a:pPr>
                      <a:r>
                        <a:rPr lang="en-US" sz="900" dirty="0">
                          <a:solidFill>
                            <a:srgbClr val="2C2523"/>
                          </a:solidFill>
                          <a:latin typeface="Arial" pitchFamily="34" charset="0"/>
                          <a:ea typeface="Arial" pitchFamily="34" charset="-122"/>
                          <a:cs typeface="Arial" pitchFamily="34" charset="-120"/>
                        </a:rPr>
                        <a:t>because equipment and materials held at 24.6–24.8% of revenue while flat-rate pricing (ServiceTitan pricebook) passed cost increases through.</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Adj. EBITDA margin rose from 10.9% to 14.9% </a:t>
                      </a:r>
                      <a:pPr indent="0" marL="0">
                        <a:buNone/>
                      </a:pPr>
                      <a:r>
                        <a:rPr lang="en-US" sz="900" dirty="0">
                          <a:solidFill>
                            <a:srgbClr val="2C2523"/>
                          </a:solidFill>
                          <a:latin typeface="Arial" pitchFamily="34" charset="0"/>
                          <a:ea typeface="Arial" pitchFamily="34" charset="-122"/>
                          <a:cs typeface="Arial" pitchFamily="34" charset="-120"/>
                        </a:rPr>
                        <a:t>as operating expenses grew at a 9.3% CAGR against revenue at 12.4%; the largest adjustment is the owner’s $200K salary restated to $95K (page 4).</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Maintenance agreements are 9% of revenue </a:t>
                      </a:r>
                      <a:pPr indent="0" marL="0">
                        <a:buNone/>
                      </a:pPr>
                      <a:r>
                        <a:rPr lang="en-US" sz="900" dirty="0">
                          <a:solidFill>
                            <a:srgbClr val="2C2523"/>
                          </a:solidFill>
                          <a:latin typeface="Arial" pitchFamily="34" charset="0"/>
                          <a:ea typeface="Arial" pitchFamily="34" charset="-122"/>
                          <a:cs typeface="Arial" pitchFamily="34" charset="-120"/>
                        </a:rPr>
                        <a:t>but schedule about 2,900 tune-up visits a year for 1,450 members renewing at 82%, and are offered on only about 35% of service calls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71478"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Revenue grew at a 12.4% CAGR to $3.04M in FY2025 while gross margin held at 61–62% and Reported EBITDA doubled to $316.4K</a:t>
            </a:r>
            <a:endParaRPr lang="en-US" sz="2000" dirty="0"/>
          </a:p>
        </p:txBody>
      </p:sp>
      <p:sp>
        <p:nvSpPr>
          <p:cNvPr id="3" name="Shape 1"/>
          <p:cNvSpPr/>
          <p:nvPr/>
        </p:nvSpPr>
        <p:spPr>
          <a:xfrm>
            <a:off x="411480" y="969264"/>
            <a:ext cx="11371478" cy="0"/>
          </a:xfrm>
          <a:prstGeom prst="line">
            <a:avLst/>
          </a:prstGeom>
          <a:noFill/>
          <a:ln w="9525">
            <a:solidFill>
              <a:srgbClr val="7B0000"/>
            </a:solidFill>
            <a:prstDash val="solid"/>
          </a:ln>
        </p:spPr>
      </p:sp>
      <p:sp>
        <p:nvSpPr>
          <p:cNvPr id="4" name="Text 2"/>
          <p:cNvSpPr txBox="1"/>
          <p:nvPr/>
        </p:nvSpPr>
        <p:spPr>
          <a:xfrm>
            <a:off x="411480" y="5943600"/>
            <a:ext cx="11371478" cy="420624"/>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Financials are as provided by the Seller and have not been independently audited. Fiscal year ends December 31. Cost of revenue is equipment, parts, materials and installation labor; technician wages are in operating expenses.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Net income before interest, income taxes, depreciation and amortization. The Company is an S corporation and pays no entity-level income tax.</a:t>
            </a:r>
            <a:endParaRPr lang="en-US" sz="700" dirty="0"/>
          </a:p>
        </p:txBody>
      </p:sp>
      <p:sp>
        <p:nvSpPr>
          <p:cNvPr id="5" name="Shape 3"/>
          <p:cNvSpPr/>
          <p:nvPr/>
        </p:nvSpPr>
        <p:spPr>
          <a:xfrm>
            <a:off x="411480" y="6400800"/>
            <a:ext cx="11371478"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pPr indent="0" marL="0">
              <a:buNone/>
            </a:pPr>
            <a:r>
              <a:rPr lang="en-US" sz="750" dirty="0">
                <a:solidFill>
                  <a:srgbClr val="7A706D"/>
                </a:solidFill>
                <a:latin typeface="Arial" pitchFamily="34" charset="0"/>
                <a:ea typeface="Arial" pitchFamily="34" charset="-122"/>
                <a:cs typeface="Arial" pitchFamily="34" charset="-120"/>
              </a:rPr>
              <a:t>  |  </a:t>
            </a:r>
            <a:pPr indent="0" marL="0">
              <a:buNone/>
            </a:pPr>
            <a:r>
              <a:rPr lang="en-US" sz="750" dirty="0">
                <a:solidFill>
                  <a:srgbClr val="7B0000"/>
                </a:solidFill>
                <a:latin typeface="Arial" pitchFamily="34" charset="0"/>
                <a:ea typeface="Arial" pitchFamily="34" charset="-122"/>
                <a:cs typeface="Arial" pitchFamily="34" charset="-120"/>
              </a:rPr>
              <a:t>Financial performance</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home/user/project-avengers/amb-material-bot/design/directions/c-exhibit-databook/amb-logo-tight.png">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90118"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p>
        </p:txBody>
      </p:sp>
      <p:sp>
        <p:nvSpPr>
          <p:cNvPr id="10" name="Text 7"/>
          <p:cNvSpPr txBox="1"/>
          <p:nvPr/>
        </p:nvSpPr>
        <p:spPr>
          <a:xfrm>
            <a:off x="411480" y="11155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Summary income statement</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1" name="Shape 8"/>
          <p:cNvSpPr/>
          <p:nvPr/>
        </p:nvSpPr>
        <p:spPr>
          <a:xfrm>
            <a:off x="411480" y="1344168"/>
            <a:ext cx="5594299" cy="0"/>
          </a:xfrm>
          <a:prstGeom prst="line">
            <a:avLst/>
          </a:prstGeom>
          <a:noFill/>
          <a:ln w="6350">
            <a:solidFill>
              <a:srgbClr val="2C2523"/>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541264" cy="914400"/>
        </p:xfrm>
        <a:graphic>
          <a:graphicData uri="http://schemas.openxmlformats.org/drawingml/2006/table">
            <a:tbl>
              <a:tblPr/>
              <a:tblGrid>
                <a:gridCol w="2084832"/>
                <a:gridCol w="603504"/>
                <a:gridCol w="603504"/>
                <a:gridCol w="603504"/>
                <a:gridCol w="73152"/>
                <a:gridCol w="566928"/>
                <a:gridCol w="566928"/>
                <a:gridCol w="73152"/>
                <a:gridCol w="365760"/>
              </a:tblGrid>
              <a:tr h="192024">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gridSpan="2">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Income statement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CAGR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Residential service and replacement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$1,589.0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$1,774.8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$1,946.1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Commercial</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612.5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707.8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821.0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Maintenance agreements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236.0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273.7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$2,406.8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$2,718.6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Cost of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Equipment, parts and materials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596.9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748.4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Direct labor and subcontractors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341.8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373.6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410.1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Gross profit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$1,468.1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$1,671.9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$1,882.3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12.6%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+40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Operating expenses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Owner compensation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Technician wages and benefits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522.4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574.9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631.7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Office wages and benefits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194.6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Vehicle, fuel and maintenance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130.2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Rent and occupancy</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Insurance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54.6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Marketing and advertising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Other G&amp;A</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195.2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operating expenses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$1,311.1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$1,459.7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$1,565.9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7.3%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pPr algn="l" indent="0" marL="0">
                        <a:buNone/>
                      </a:pPr>
                      <a:r>
                        <a:rPr lang="en-US" sz="700" b="1" dirty="0">
                          <a:solidFill>
                            <a:srgbClr val="7A706D"/>
                          </a:solidFill>
                          <a:latin typeface="Arial" pitchFamily="34" charset="0"/>
                          <a:ea typeface="Arial" pitchFamily="34" charset="-122"/>
                          <a:cs typeface="Arial" pitchFamily="34" charset="-120"/>
                        </a:rPr>
                        <a:t>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+2.6 pts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3" name="Text 9"/>
          <p:cNvSpPr txBox="1"/>
          <p:nvPr/>
        </p:nvSpPr>
        <p:spPr>
          <a:xfrm>
            <a:off x="6188659" y="1115568"/>
            <a:ext cx="2517343"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and Adj. EBITDA</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4" name="Text 10"/>
          <p:cNvSpPr txBox="1"/>
          <p:nvPr/>
        </p:nvSpPr>
        <p:spPr>
          <a:xfrm>
            <a:off x="8706002" y="1115568"/>
            <a:ext cx="3076956" cy="228600"/>
          </a:xfrm>
          <a:prstGeom prst="rect">
            <a:avLst/>
          </a:prstGeom>
          <a:noFill/>
          <a:ln/>
        </p:spPr>
        <p:txBody>
          <a:bodyPr wrap="square" lIns="0" tIns="0" rIns="0" bIns="0" rtlCol="0" anchor="b"/>
          <a:lstStyle/>
          <a:p>
            <a:pPr algn="r" indent="0" marL="0">
              <a:buNone/>
            </a:pPr>
            <a:r>
              <a:rPr lang="en-US" sz="800" dirty="0">
                <a:solidFill>
                  <a:srgbClr val="7A706D"/>
                </a:solidFill>
                <a:latin typeface="Arial" pitchFamily="34" charset="0"/>
                <a:ea typeface="Arial" pitchFamily="34" charset="-122"/>
                <a:cs typeface="Arial" pitchFamily="34" charset="-120"/>
              </a:rPr>
              <a:t>FY2023–FY2025 CAGR: revenue 12.4%, Adj. EBITDA 31.2%</a:t>
            </a:r>
            <a:endParaRPr lang="en-US" sz="800" dirty="0"/>
          </a:p>
        </p:txBody>
      </p:sp>
      <p:sp>
        <p:nvSpPr>
          <p:cNvPr id="15" name="Shape 11"/>
          <p:cNvSpPr/>
          <p:nvPr/>
        </p:nvSpPr>
        <p:spPr>
          <a:xfrm>
            <a:off x="6188659" y="1344168"/>
            <a:ext cx="5594299" cy="0"/>
          </a:xfrm>
          <a:prstGeom prst="line">
            <a:avLst/>
          </a:prstGeom>
          <a:noFill/>
          <a:ln w="6350">
            <a:solidFill>
              <a:srgbClr val="2C2523"/>
            </a:solidFill>
            <a:prstDash val="solid"/>
          </a:ln>
        </p:spPr>
      </p:sp>
      <p:graphicFrame>
        <p:nvGraphicFramePr>
          <p:cNvPr id="16" name="Chart 0" descr=""/>
          <p:cNvGraphicFramePr/>
          <p:nvPr/>
        </p:nvGraphicFramePr>
        <p:xfrm>
          <a:off x="6188659" y="1417320"/>
          <a:ext cx="5594299" cy="2395728"/>
        </p:xfrm>
        <a:graphic xmlns:a="http://schemas.openxmlformats.org/drawingml/2006/main">
          <a:graphicData uri="http://schemas.openxmlformats.org/drawingml/2006/chart">
            <c:chart xmlns:c="http://schemas.openxmlformats.org/drawingml/2006/chart" r:id="rId2"/>
          </a:graphicData>
        </a:graphic>
      </p:graphicFrame>
      <p:sp>
        <p:nvSpPr>
          <p:cNvPr id="17" name="Text 12"/>
          <p:cNvSpPr txBox="1"/>
          <p:nvPr/>
        </p:nvSpPr>
        <p:spPr>
          <a:xfrm>
            <a:off x="6188659" y="3922776"/>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Key observations</a:t>
            </a:r>
            <a:endParaRPr lang="en-US" sz="950" dirty="0"/>
          </a:p>
        </p:txBody>
      </p:sp>
      <p:sp>
        <p:nvSpPr>
          <p:cNvPr id="18" name="Shape 13"/>
          <p:cNvSpPr/>
          <p:nvPr/>
        </p:nvSpPr>
        <p:spPr>
          <a:xfrm>
            <a:off x="6188659" y="4151376"/>
            <a:ext cx="5594299" cy="0"/>
          </a:xfrm>
          <a:prstGeom prst="line">
            <a:avLst/>
          </a:prstGeom>
          <a:noFill/>
          <a:ln w="6350">
            <a:solidFill>
              <a:srgbClr val="2C2523"/>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88659" y="4224528"/>
          <a:ext cx="5594299" cy="914400"/>
        </p:xfrm>
        <a:graphic>
          <a:graphicData uri="http://schemas.openxmlformats.org/drawingml/2006/table">
            <a:tbl>
              <a:tblPr/>
              <a:tblGrid>
                <a:gridCol w="274320"/>
                <a:gridCol w="5319979"/>
              </a:tblGrid>
              <a:tr h="36118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Commercial and maintenance-agreement revenue each grew 16.0% in FY2025, </a:t>
                      </a:r>
                      <a:pPr indent="0" marL="0">
                        <a:buNone/>
                      </a:pPr>
                      <a:r>
                        <a:rPr lang="en-US" sz="900" dirty="0">
                          <a:solidFill>
                            <a:srgbClr val="2C2523"/>
                          </a:solidFill>
                          <a:latin typeface="Arial" pitchFamily="34" charset="0"/>
                          <a:ea typeface="Arial" pitchFamily="34" charset="-122"/>
                          <a:cs typeface="Arial" pitchFamily="34" charset="-120"/>
                        </a:rPr>
                        <a:t>to $821.0K and $273.7K, against 9.7% for residential; the two lines rose from 34% to 36% of revenue in two years.</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6118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Gross profit grew 12.6% to $1.88M </a:t>
                      </a:r>
                      <a:pPr indent="0" marL="0">
                        <a:buNone/>
                      </a:pPr>
                      <a:r>
                        <a:rPr lang="en-US" sz="900" dirty="0">
                          <a:solidFill>
                            <a:srgbClr val="2C2523"/>
                          </a:solidFill>
                          <a:latin typeface="Arial" pitchFamily="34" charset="0"/>
                          <a:ea typeface="Arial" pitchFamily="34" charset="-122"/>
                          <a:cs typeface="Arial" pitchFamily="34" charset="-120"/>
                        </a:rPr>
                        <a:t>and margin reached 61.9% (up +40 bps) because direct labor and subcontractors grew 9.8%, slower than revenue at 11.9%.</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6118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Technician wages and benefits, the largest expense line at $631.7K, </a:t>
                      </a:r>
                      <a:pPr indent="0" marL="0">
                        <a:buNone/>
                      </a:pPr>
                      <a:r>
                        <a:rPr lang="en-US" sz="900" dirty="0">
                          <a:solidFill>
                            <a:srgbClr val="2C2523"/>
                          </a:solidFill>
                          <a:latin typeface="Arial" pitchFamily="34" charset="0"/>
                          <a:ea typeface="Arial" pitchFamily="34" charset="-122"/>
                          <a:cs typeface="Arial" pitchFamily="34" charset="-120"/>
                        </a:rPr>
                        <a:t>grew 9.9% in FY2025 against revenue growth of 11.9% and fell from 21.1% to 20.8% of revenue.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6118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Other G&amp;A was flat at $195.2K (down 0.8%) </a:t>
                      </a:r>
                      <a:pPr indent="0" marL="0">
                        <a:buNone/>
                      </a:pPr>
                      <a:r>
                        <a:rPr lang="en-US" sz="900" dirty="0">
                          <a:solidFill>
                            <a:srgbClr val="2C2523"/>
                          </a:solidFill>
                          <a:latin typeface="Arial" pitchFamily="34" charset="0"/>
                          <a:ea typeface="Arial" pitchFamily="34" charset="-122"/>
                          <a:cs typeface="Arial" pitchFamily="34" charset="-120"/>
                        </a:rPr>
                        <a:t>because FY2024 carried a $24.0K legal settlement [N3] that did not recur; excluding it, the line grew 13.0%.</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6118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E</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Reported EBITDA rose 49.1% to $316.4K </a:t>
                      </a:r>
                      <a:pPr indent="0" marL="0">
                        <a:buNone/>
                      </a:pPr>
                      <a:r>
                        <a:rPr lang="en-US" sz="900" dirty="0">
                          <a:solidFill>
                            <a:srgbClr val="2C2523"/>
                          </a:solidFill>
                          <a:latin typeface="Arial" pitchFamily="34" charset="0"/>
                          <a:ea typeface="Arial" pitchFamily="34" charset="-122"/>
                          <a:cs typeface="Arial" pitchFamily="34" charset="-120"/>
                        </a:rPr>
                        <a:t>and the margin from 7.8% to 10.4%; total operating expenses grew 7.3% in FY2025 against revenue growth of 11.9%.</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71478"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Adj. EBITDA of $452.9K in FY2025 reflects $200K of owner pay reset to a $95K market salary plus $31.5K of itemized add-backs</a:t>
            </a:r>
            <a:endParaRPr lang="en-US" sz="2000" dirty="0"/>
          </a:p>
        </p:txBody>
      </p:sp>
      <p:sp>
        <p:nvSpPr>
          <p:cNvPr id="3" name="Shape 1"/>
          <p:cNvSpPr/>
          <p:nvPr/>
        </p:nvSpPr>
        <p:spPr>
          <a:xfrm>
            <a:off x="411480" y="969264"/>
            <a:ext cx="11371478" cy="0"/>
          </a:xfrm>
          <a:prstGeom prst="line">
            <a:avLst/>
          </a:prstGeom>
          <a:noFill/>
          <a:ln w="9525">
            <a:solidFill>
              <a:srgbClr val="7B0000"/>
            </a:solidFill>
            <a:prstDash val="solid"/>
          </a:ln>
        </p:spPr>
      </p:sp>
      <p:sp>
        <p:nvSpPr>
          <p:cNvPr id="4" name="Text 2"/>
          <p:cNvSpPr txBox="1"/>
          <p:nvPr/>
        </p:nvSpPr>
        <p:spPr>
          <a:xfrm>
            <a:off x="411480" y="5943600"/>
            <a:ext cx="11371478" cy="420624"/>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general ledger detail; payroll register; Seller add-back list;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Adj. EBITDA and SDE are non-GAAP measures. Positive adjustments increase EBITDA. Financials are as provided by the Seller and have not been independently audited.</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SDE adds back the $95.0K market replacement compensation deducted within [S1]; shown for buyers financing with an SBA 7(a) loan.</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(2) Market salary for a general manager per management and AMB Advisory’s review of comparable roles in the Columbus market; not independently verified.</a:t>
            </a:r>
            <a:endParaRPr lang="en-US" sz="700" dirty="0"/>
          </a:p>
        </p:txBody>
      </p:sp>
      <p:sp>
        <p:nvSpPr>
          <p:cNvPr id="5" name="Shape 3"/>
          <p:cNvSpPr/>
          <p:nvPr/>
        </p:nvSpPr>
        <p:spPr>
          <a:xfrm>
            <a:off x="411480" y="6400800"/>
            <a:ext cx="11371478"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pPr indent="0" marL="0">
              <a:buNone/>
            </a:pPr>
            <a:r>
              <a:rPr lang="en-US" sz="750" dirty="0">
                <a:solidFill>
                  <a:srgbClr val="7A706D"/>
                </a:solidFill>
                <a:latin typeface="Arial" pitchFamily="34" charset="0"/>
                <a:ea typeface="Arial" pitchFamily="34" charset="-122"/>
                <a:cs typeface="Arial" pitchFamily="34" charset="-120"/>
              </a:rPr>
              <a:t>  |  </a:t>
            </a:r>
            <a:pPr indent="0" marL="0">
              <a:buNone/>
            </a:pPr>
            <a:r>
              <a:rPr lang="en-US" sz="750" dirty="0">
                <a:solidFill>
                  <a:srgbClr val="7B0000"/>
                </a:solidFill>
                <a:latin typeface="Arial" pitchFamily="34" charset="0"/>
                <a:ea typeface="Arial" pitchFamily="34" charset="-122"/>
                <a:cs typeface="Arial" pitchFamily="34" charset="-120"/>
              </a:rPr>
              <a:t>Adjusted EBITDA</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home/user/project-avengers/amb-material-bot/design/directions/c-exhibit-databook/amb-logo-tight.png">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90118"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4</a:t>
            </a:r>
            <a:endParaRPr lang="en-US" sz="800" dirty="0"/>
          </a:p>
        </p:txBody>
      </p:sp>
      <p:sp>
        <p:nvSpPr>
          <p:cNvPr id="10" name="Text 7"/>
          <p:cNvSpPr txBox="1"/>
          <p:nvPr/>
        </p:nvSpPr>
        <p:spPr>
          <a:xfrm>
            <a:off x="411480" y="11155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Adjusted EBITDA reconciliation</a:t>
            </a:r>
            <a:pPr indent="0" marL="0">
              <a:buNone/>
            </a:pPr>
            <a:r>
              <a:rPr lang="en-US" sz="950" dirty="0">
                <a:solidFill>
                  <a:srgbClr val="7A706D"/>
                </a:solidFill>
                <a:latin typeface="Arial" pitchFamily="34" charset="0"/>
                <a:ea typeface="Arial" pitchFamily="34" charset="-122"/>
                <a:cs typeface="Arial" pitchFamily="34" charset="-120"/>
              </a:rPr>
              <a:t>  ($000s)</a:t>
            </a:r>
            <a:endParaRPr lang="en-US" sz="950" dirty="0"/>
          </a:p>
        </p:txBody>
      </p:sp>
      <p:sp>
        <p:nvSpPr>
          <p:cNvPr id="11" name="Shape 8"/>
          <p:cNvSpPr/>
          <p:nvPr/>
        </p:nvSpPr>
        <p:spPr>
          <a:xfrm>
            <a:off x="411480" y="1344168"/>
            <a:ext cx="5594299" cy="0"/>
          </a:xfrm>
          <a:prstGeom prst="line">
            <a:avLst/>
          </a:prstGeom>
          <a:noFill/>
          <a:ln w="6350">
            <a:solidFill>
              <a:srgbClr val="2C252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5486400" cy="914400"/>
        </p:xfrm>
        <a:graphic>
          <a:graphicData uri="http://schemas.openxmlformats.org/drawingml/2006/table">
            <a:tbl>
              <a:tblPr/>
              <a:tblGrid>
                <a:gridCol w="2148840"/>
                <a:gridCol w="411480"/>
                <a:gridCol w="603504"/>
                <a:gridCol w="603504"/>
                <a:gridCol w="603504"/>
                <a:gridCol w="73152"/>
                <a:gridCol w="603504"/>
                <a:gridCol w="73152"/>
                <a:gridCol w="365760"/>
              </a:tblGrid>
              <a:tr h="192024">
                <a:tc gridSpan="2">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gridSpan="3">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Fiscal year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hMerge="1">
                  <a:tcPr/>
                </a:tc>
                <a:tc hMerge="1">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Growth</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EBITDA ladder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FY25 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Net income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$79.8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$126.1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$222.8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76.7%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Definitional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Interest expense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Income taxes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Depreciation and amortization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[D3]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68.9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74.6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Reported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$157.0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$316.4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49.1%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7.8%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+2.6 pts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Normalization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Owner personal vehicle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Charitable contributions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[N2]</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One-time legal settlement</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Family phones and personal meals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n.m.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 normalization adjustments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$47.0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compensation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 Excess owner compensation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[S1]</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C</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Adj. EBITDA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$263.0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$452.9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10.9%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+1.9 pts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Memo</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E1E1"/>
                    </a:solidFill>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Seller’s discretionary earnings (SDE)</a:t>
                      </a:r>
                      <a:pPr algn="l" indent="0" marL="0">
                        <a:buNone/>
                      </a:pPr>
                      <a:r>
                        <a:rPr lang="en-US" sz="700" b="1" dirty="0">
                          <a:solidFill>
                            <a:srgbClr val="7A706D"/>
                          </a:solidFill>
                          <a:latin typeface="Arial" pitchFamily="34" charset="0"/>
                          <a:ea typeface="Arial" pitchFamily="34" charset="-122"/>
                          <a:cs typeface="Arial" pitchFamily="34" charset="-120"/>
                        </a:rPr>
                        <a:t>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$449.2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$547.9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22.0%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D</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r h="178308">
                <a:tc>
                  <a:txBody>
                    <a:bodyPr/>
                    <a:lstStyle/>
                    <a:p>
                      <a:pPr algn="l" indent="0" marL="0">
                        <a:buNone/>
                      </a:pPr>
                      <a:r>
                        <a:rPr lang="en-US" sz="850" i="1" dirty="0">
                          <a:solidFill>
                            <a:srgbClr val="2C2523"/>
                          </a:solidFill>
                          <a:latin typeface="Arial" pitchFamily="34" charset="0"/>
                          <a:ea typeface="Arial" pitchFamily="34" charset="-122"/>
                          <a:cs typeface="Arial" pitchFamily="34" charset="-120"/>
                        </a:rPr>
                        <a:t>% margin</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i="1" dirty="0">
                          <a:solidFill>
                            <a:srgbClr val="2C2523"/>
                          </a:solidFill>
                          <a:latin typeface="Arial" pitchFamily="34" charset="0"/>
                          <a:ea typeface="Arial" pitchFamily="34" charset="-122"/>
                          <a:cs typeface="Arial" pitchFamily="34" charset="-120"/>
                        </a:rPr>
                        <a:t>+1.5 pts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3" name="Shape 9"/>
          <p:cNvSpPr/>
          <p:nvPr/>
        </p:nvSpPr>
        <p:spPr>
          <a:xfrm>
            <a:off x="411480" y="5495544"/>
            <a:ext cx="5594299" cy="356616"/>
          </a:xfrm>
          <a:prstGeom prst="rect">
            <a:avLst/>
          </a:prstGeom>
          <a:solidFill>
            <a:srgbClr val="F5EDEC"/>
          </a:solidFill>
          <a:ln w="3175">
            <a:solidFill>
              <a:srgbClr val="F5EDEC"/>
            </a:solidFill>
            <a:prstDash val="solid"/>
          </a:ln>
        </p:spPr>
      </p:sp>
      <p:sp>
        <p:nvSpPr>
          <p:cNvPr id="14" name="Shape 10"/>
          <p:cNvSpPr/>
          <p:nvPr/>
        </p:nvSpPr>
        <p:spPr>
          <a:xfrm>
            <a:off x="411480" y="5495544"/>
            <a:ext cx="0" cy="356616"/>
          </a:xfrm>
          <a:prstGeom prst="line">
            <a:avLst/>
          </a:prstGeom>
          <a:noFill/>
          <a:ln w="28575">
            <a:solidFill>
              <a:srgbClr val="7B0000"/>
            </a:solidFill>
            <a:prstDash val="solid"/>
          </a:ln>
        </p:spPr>
      </p:sp>
      <p:sp>
        <p:nvSpPr>
          <p:cNvPr id="15" name="Text 11"/>
          <p:cNvSpPr txBox="1"/>
          <p:nvPr/>
        </p:nvSpPr>
        <p:spPr>
          <a:xfrm>
            <a:off x="539496" y="5513832"/>
            <a:ext cx="5374843" cy="320040"/>
          </a:xfrm>
          <a:prstGeom prst="rect">
            <a:avLst/>
          </a:prstGeom>
          <a:noFill/>
          <a:ln/>
        </p:spPr>
        <p:txBody>
          <a:bodyPr wrap="square" lIns="0" tIns="0" rIns="0" bIns="0" rtlCol="0" anchor="ctr"/>
          <a:lstStyle/>
          <a:p>
            <a:pPr indent="0" marL="0">
              <a:lnSpc>
                <a:spcPct val="108000"/>
              </a:lnSpc>
              <a:buNone/>
            </a:pPr>
            <a:r>
              <a:rPr lang="en-US" sz="900" b="1" dirty="0">
                <a:solidFill>
                  <a:srgbClr val="7B0000"/>
                </a:solidFill>
                <a:latin typeface="Arial" pitchFamily="34" charset="0"/>
                <a:ea typeface="Arial" pitchFamily="34" charset="-122"/>
                <a:cs typeface="Arial" pitchFamily="34" charset="-120"/>
              </a:rPr>
              <a:t>Takeaway: </a:t>
            </a:r>
            <a:pPr indent="0" marL="0">
              <a:lnSpc>
                <a:spcPct val="108000"/>
              </a:lnSpc>
              <a:buNone/>
            </a:pPr>
            <a:r>
              <a:rPr lang="en-US" sz="900" dirty="0">
                <a:solidFill>
                  <a:srgbClr val="2C2523"/>
                </a:solidFill>
                <a:latin typeface="Arial" pitchFamily="34" charset="0"/>
                <a:ea typeface="Arial" pitchFamily="34" charset="-122"/>
                <a:cs typeface="Arial" pitchFamily="34" charset="-120"/>
              </a:rPr>
              <a:t>Of the $136.5K of FY2025 adjustments, $105.0K is owner pay above a $95K general-manager salary. A buyer who hires a manager underwrites Adj. EBITDA of $452.9K; an owner-operator underwrites SDE of $547.9K.</a:t>
            </a:r>
            <a:endParaRPr lang="en-US" sz="900" dirty="0"/>
          </a:p>
        </p:txBody>
      </p:sp>
      <p:sp>
        <p:nvSpPr>
          <p:cNvPr id="16" name="Text 12"/>
          <p:cNvSpPr txBox="1"/>
          <p:nvPr/>
        </p:nvSpPr>
        <p:spPr>
          <a:xfrm>
            <a:off x="6188659" y="11155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Adjustment support</a:t>
            </a:r>
            <a:pPr indent="0" marL="0">
              <a:buNone/>
            </a:pP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17" name="Shape 13"/>
          <p:cNvSpPr/>
          <p:nvPr/>
        </p:nvSpPr>
        <p:spPr>
          <a:xfrm>
            <a:off x="6188659" y="1344168"/>
            <a:ext cx="5594299" cy="0"/>
          </a:xfrm>
          <a:prstGeom prst="line">
            <a:avLst/>
          </a:prstGeom>
          <a:noFill/>
          <a:ln w="6350">
            <a:solidFill>
              <a:srgbClr val="2C2523"/>
            </a:solidFill>
            <a:prstDash val="solid"/>
          </a:ln>
        </p:spPr>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188659" y="1417320"/>
          <a:ext cx="5594299" cy="914400"/>
        </p:xfrm>
        <a:graphic>
          <a:graphicData uri="http://schemas.openxmlformats.org/drawingml/2006/table">
            <a:tbl>
              <a:tblPr/>
              <a:tblGrid>
                <a:gridCol w="411480"/>
                <a:gridCol w="1143000"/>
                <a:gridCol w="2834640"/>
                <a:gridCol w="1205179"/>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Ref</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Adjustment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Evidence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84048">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personal vehicle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Lease, fuel and insurance on the owner’s personal truck, not used in the fleet, coded to vehicle expense: $18.0K per GL account 6420 and the lease agreement.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84048">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Charitable contributions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Donations to youth sports leagues and a church capital campaign, $7.5K per GL account 6810; no customer relationship attached.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84048">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[N3]</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One-time legal settlement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Settlement of a 2024 employment claim paid in June 2024, including legal fees, $24.0K in FY2024; settlement agreement and invoices on file. No similar claim in FY2023 or FY2025.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84048">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[N4]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Family phones and personal meals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Four family cell phone lines and personal meals coded to office expense, $6.0K per management’s review of FY2025 card statements.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Management representation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00" dirty="0">
                          <a:solidFill>
                            <a:srgbClr val="7A706D"/>
                          </a:solidFill>
                          <a:latin typeface="Arial" pitchFamily="34" charset="0"/>
                          <a:ea typeface="Arial" pitchFamily="34" charset="-122"/>
                          <a:cs typeface="Arial" pitchFamily="34" charset="-120"/>
                        </a:rPr>
                        <a:t>[S1]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compensation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W-2 wages of $180.0K, $190.0K and $200.0K restated to $95.0K, the market salary for a general manager (2); payroll register.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Documented (wages); market salary per management (2)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9" name="Text 14"/>
          <p:cNvSpPr txBox="1"/>
          <p:nvPr/>
        </p:nvSpPr>
        <p:spPr>
          <a:xfrm>
            <a:off x="6188659" y="3730752"/>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Key observations</a:t>
            </a:r>
            <a:endParaRPr lang="en-US" sz="950" dirty="0"/>
          </a:p>
        </p:txBody>
      </p:sp>
      <p:sp>
        <p:nvSpPr>
          <p:cNvPr id="20" name="Shape 15"/>
          <p:cNvSpPr/>
          <p:nvPr/>
        </p:nvSpPr>
        <p:spPr>
          <a:xfrm>
            <a:off x="6188659" y="3959352"/>
            <a:ext cx="5594299" cy="0"/>
          </a:xfrm>
          <a:prstGeom prst="line">
            <a:avLst/>
          </a:prstGeom>
          <a:noFill/>
          <a:ln w="6350">
            <a:solidFill>
              <a:srgbClr val="2C2523"/>
            </a:solidFill>
            <a:prstDash val="solid"/>
          </a:ln>
        </p:spPr>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6188659" y="4032504"/>
          <a:ext cx="5594299" cy="914400"/>
        </p:xfrm>
        <a:graphic>
          <a:graphicData uri="http://schemas.openxmlformats.org/drawingml/2006/table">
            <a:tbl>
              <a:tblPr/>
              <a:tblGrid>
                <a:gridCol w="274320"/>
                <a:gridCol w="5319979"/>
              </a:tblGrid>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Reported EBITDA of $316.4K is net income of $222.8K </a:t>
                      </a:r>
                      <a:pPr indent="0" marL="0">
                        <a:buNone/>
                      </a:pPr>
                      <a:r>
                        <a:rPr lang="en-US" sz="900" dirty="0">
                          <a:solidFill>
                            <a:srgbClr val="2C2523"/>
                          </a:solidFill>
                          <a:latin typeface="Arial" pitchFamily="34" charset="0"/>
                          <a:ea typeface="Arial" pitchFamily="34" charset="-122"/>
                          <a:cs typeface="Arial" pitchFamily="34" charset="-120"/>
                        </a:rPr>
                        <a:t>plus $19.0K of interest on vehicle loans and $74.6K of depreciation, mainly on the 20-vehicle fleet; as an S corporation the Company pays no entity-level income tax.</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Normalization add-backs total $31.5K in FY2025, 1.0% of revenue: </a:t>
                      </a:r>
                      <a:pPr indent="0" marL="0">
                        <a:buNone/>
                      </a:pPr>
                      <a:r>
                        <a:rPr lang="en-US" sz="900" dirty="0">
                          <a:solidFill>
                            <a:srgbClr val="2C2523"/>
                          </a:solidFill>
                          <a:latin typeface="Arial" pitchFamily="34" charset="0"/>
                          <a:ea typeface="Arial" pitchFamily="34" charset="-122"/>
                          <a:cs typeface="Arial" pitchFamily="34" charset="-120"/>
                        </a:rPr>
                        <a:t>$25.5K [N1, N2] is documented in the general ledger and $6.0K [N4] is a management representation. The $24.0K settlement [N3] was a one-time FY2024 item.</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[S1] adds back $105.0K in FY2025: </a:t>
                      </a:r>
                      <a:pPr indent="0" marL="0">
                        <a:buNone/>
                      </a:pPr>
                      <a:r>
                        <a:rPr lang="en-US" sz="900" dirty="0">
                          <a:solidFill>
                            <a:srgbClr val="2C2523"/>
                          </a:solidFill>
                          <a:latin typeface="Arial" pitchFamily="34" charset="0"/>
                          <a:ea typeface="Arial" pitchFamily="34" charset="-122"/>
                          <a:cs typeface="Arial" pitchFamily="34" charset="-120"/>
                        </a:rPr>
                        <a:t>W-2 wages of $200.0K less a $95.0K market salary for a general manager. It is 77% of total adjustments, so the replacement-hire assumption drives the result.</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SDE of $547.9K (18.0% of revenue) </a:t>
                      </a:r>
                      <a:pPr indent="0" marL="0">
                        <a:buNone/>
                      </a:pPr>
                      <a:r>
                        <a:rPr lang="en-US" sz="900" dirty="0">
                          <a:solidFill>
                            <a:srgbClr val="2C2523"/>
                          </a:solidFill>
                          <a:latin typeface="Arial" pitchFamily="34" charset="0"/>
                          <a:ea typeface="Arial" pitchFamily="34" charset="-122"/>
                          <a:cs typeface="Arial" pitchFamily="34" charset="-120"/>
                        </a:rPr>
                        <a:t>is Adj. EBITDA plus the $95.0K replacement salary, the measure SBA 7(a) lenders underwrite for a Main Street asset purchase.</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71478"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Commercial revenue grew 16.0% to $821.0K in FY2025 while the largest customer stayed at 4.0% of revenue and the top 10 at 19.3%</a:t>
            </a:r>
            <a:endParaRPr lang="en-US" sz="2000" dirty="0"/>
          </a:p>
        </p:txBody>
      </p:sp>
      <p:sp>
        <p:nvSpPr>
          <p:cNvPr id="3" name="Shape 1"/>
          <p:cNvSpPr/>
          <p:nvPr/>
        </p:nvSpPr>
        <p:spPr>
          <a:xfrm>
            <a:off x="411480" y="969264"/>
            <a:ext cx="11371478" cy="0"/>
          </a:xfrm>
          <a:prstGeom prst="line">
            <a:avLst/>
          </a:prstGeom>
          <a:noFill/>
          <a:ln w="9525">
            <a:solidFill>
              <a:srgbClr val="7B0000"/>
            </a:solidFill>
            <a:prstDash val="solid"/>
          </a:ln>
        </p:spPr>
      </p:sp>
      <p:sp>
        <p:nvSpPr>
          <p:cNvPr id="4" name="Text 2"/>
          <p:cNvSpPr txBox="1"/>
          <p:nvPr/>
        </p:nvSpPr>
        <p:spPr>
          <a:xfrm>
            <a:off x="411480" y="5943600"/>
            <a:ext cx="11371478" cy="420624"/>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Company customer list by invoice, FY2025 (ServiceTitan);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Customers are coded; names are available in the data room after a management meeting. Mix percentages are of total revenue. PM = preventive maintenance; T&amp;M = time and materials.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p:txBody>
      </p:sp>
      <p:sp>
        <p:nvSpPr>
          <p:cNvPr id="5" name="Shape 3"/>
          <p:cNvSpPr/>
          <p:nvPr/>
        </p:nvSpPr>
        <p:spPr>
          <a:xfrm>
            <a:off x="411480" y="6400800"/>
            <a:ext cx="11371478"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pPr indent="0" marL="0">
              <a:buNone/>
            </a:pPr>
            <a:r>
              <a:rPr lang="en-US" sz="750" dirty="0">
                <a:solidFill>
                  <a:srgbClr val="7A706D"/>
                </a:solidFill>
                <a:latin typeface="Arial" pitchFamily="34" charset="0"/>
                <a:ea typeface="Arial" pitchFamily="34" charset="-122"/>
                <a:cs typeface="Arial" pitchFamily="34" charset="-120"/>
              </a:rPr>
              <a:t>  |  </a:t>
            </a:r>
            <a:pPr indent="0" marL="0">
              <a:buNone/>
            </a:pPr>
            <a:r>
              <a:rPr lang="en-US" sz="750" dirty="0">
                <a:solidFill>
                  <a:srgbClr val="7B0000"/>
                </a:solidFill>
                <a:latin typeface="Arial" pitchFamily="34" charset="0"/>
                <a:ea typeface="Arial" pitchFamily="34" charset="-122"/>
                <a:cs typeface="Arial" pitchFamily="34" charset="-120"/>
              </a:rPr>
              <a:t>Customers</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home/user/project-avengers/amb-material-bot/design/directions/c-exhibit-databook/amb-logo-tight.png">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90118"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p>
        </p:txBody>
      </p:sp>
      <p:sp>
        <p:nvSpPr>
          <p:cNvPr id="10" name="Text 7"/>
          <p:cNvSpPr txBox="1"/>
          <p:nvPr/>
        </p:nvSpPr>
        <p:spPr>
          <a:xfrm>
            <a:off x="411480" y="1115568"/>
            <a:ext cx="2517343"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Revenue mix by service line</a:t>
            </a:r>
            <a:pPr indent="0" marL="0">
              <a:buNone/>
            </a:pPr>
            <a:r>
              <a:rPr lang="en-US" sz="950" dirty="0">
                <a:solidFill>
                  <a:srgbClr val="7A706D"/>
                </a:solidFill>
                <a:latin typeface="Arial" pitchFamily="34" charset="0"/>
                <a:ea typeface="Arial" pitchFamily="34" charset="-122"/>
                <a:cs typeface="Arial" pitchFamily="34" charset="-120"/>
              </a:rPr>
              <a:t>  (% of revenue)</a:t>
            </a:r>
            <a:endParaRPr lang="en-US" sz="950" dirty="0"/>
          </a:p>
        </p:txBody>
      </p:sp>
      <p:sp>
        <p:nvSpPr>
          <p:cNvPr id="11" name="Text 8"/>
          <p:cNvSpPr txBox="1"/>
          <p:nvPr/>
        </p:nvSpPr>
        <p:spPr>
          <a:xfrm>
            <a:off x="2928823" y="1115568"/>
            <a:ext cx="3076956" cy="228600"/>
          </a:xfrm>
          <a:prstGeom prst="rect">
            <a:avLst/>
          </a:prstGeom>
          <a:noFill/>
          <a:ln/>
        </p:spPr>
        <p:txBody>
          <a:bodyPr wrap="square" lIns="0" tIns="0" rIns="0" bIns="0" rtlCol="0" anchor="b"/>
          <a:lstStyle/>
          <a:p>
            <a:pPr algn="r" indent="0" marL="0">
              <a:buNone/>
            </a:pPr>
            <a:r>
              <a:rPr lang="en-US" sz="800" dirty="0">
                <a:solidFill>
                  <a:srgbClr val="7A706D"/>
                </a:solidFill>
                <a:latin typeface="Arial" pitchFamily="34" charset="0"/>
                <a:ea typeface="Arial" pitchFamily="34" charset="-122"/>
                <a:cs typeface="Arial" pitchFamily="34" charset="-120"/>
              </a:rPr>
              <a:t>Commercial plus agreements: 34% to 36% of revenue</a:t>
            </a:r>
            <a:endParaRPr lang="en-US" sz="800" dirty="0"/>
          </a:p>
        </p:txBody>
      </p:sp>
      <p:sp>
        <p:nvSpPr>
          <p:cNvPr id="12" name="Shape 9"/>
          <p:cNvSpPr/>
          <p:nvPr/>
        </p:nvSpPr>
        <p:spPr>
          <a:xfrm>
            <a:off x="411480" y="1344168"/>
            <a:ext cx="5594299" cy="0"/>
          </a:xfrm>
          <a:prstGeom prst="line">
            <a:avLst/>
          </a:prstGeom>
          <a:noFill/>
          <a:ln w="6350">
            <a:solidFill>
              <a:srgbClr val="2C2523"/>
            </a:solidFill>
            <a:prstDash val="solid"/>
          </a:ln>
        </p:spPr>
      </p:sp>
      <p:graphicFrame>
        <p:nvGraphicFramePr>
          <p:cNvPr id="13" name="Chart 0" descr=""/>
          <p:cNvGraphicFramePr/>
          <p:nvPr/>
        </p:nvGraphicFramePr>
        <p:xfrm>
          <a:off x="411480" y="1417320"/>
          <a:ext cx="5594299" cy="237744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11480" y="3922776"/>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Service lines</a:t>
            </a:r>
            <a:pPr indent="0" marL="0">
              <a:buNone/>
            </a:pP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15" name="Shape 11"/>
          <p:cNvSpPr/>
          <p:nvPr/>
        </p:nvSpPr>
        <p:spPr>
          <a:xfrm>
            <a:off x="411480" y="4151376"/>
            <a:ext cx="5594299" cy="0"/>
          </a:xfrm>
          <a:prstGeom prst="line">
            <a:avLst/>
          </a:prstGeom>
          <a:noFill/>
          <a:ln w="6350">
            <a:solidFill>
              <a:srgbClr val="2C252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4224528"/>
          <a:ext cx="5504688" cy="914400"/>
        </p:xfrm>
        <a:graphic>
          <a:graphicData uri="http://schemas.openxmlformats.org/drawingml/2006/table">
            <a:tbl>
              <a:tblPr/>
              <a:tblGrid>
                <a:gridCol w="1115568"/>
                <a:gridCol w="1481328"/>
                <a:gridCol w="1170432"/>
                <a:gridCol w="548640"/>
                <a:gridCol w="384048"/>
                <a:gridCol w="457200"/>
                <a:gridCol w="34747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Service line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customer buys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Pricing 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y/y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38404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Residential service and replacement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Repairs, system replacements and plumbing service for homeowners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Flat-rate pricebook (ServiceTitan); replacement quotes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$1,946.1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9.7%</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8404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Commercial</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HVAC and plumbing service and PM for property managers, offices and restaurants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Annual PM contracts and T&amp;M</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$821.0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27%</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C</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8404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Maintenance agreements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Two tune-ups a year, priority scheduling, 15% repair discount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About $189 per member per year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$273.7</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16.0%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7" name="Text 12"/>
          <p:cNvSpPr txBox="1"/>
          <p:nvPr/>
        </p:nvSpPr>
        <p:spPr>
          <a:xfrm>
            <a:off x="6188659" y="111556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Customer concentration, top 10</a:t>
            </a:r>
            <a:pPr indent="0" marL="0">
              <a:buNone/>
            </a:pPr>
            <a:r>
              <a:rPr lang="en-US" sz="950" dirty="0">
                <a:solidFill>
                  <a:srgbClr val="7A706D"/>
                </a:solidFill>
                <a:latin typeface="Arial" pitchFamily="34" charset="0"/>
                <a:ea typeface="Arial" pitchFamily="34" charset="-122"/>
                <a:cs typeface="Arial" pitchFamily="34" charset="-120"/>
              </a:rPr>
              <a:t>  (FY2025, $000s)</a:t>
            </a:r>
            <a:endParaRPr lang="en-US" sz="950" dirty="0"/>
          </a:p>
        </p:txBody>
      </p:sp>
      <p:sp>
        <p:nvSpPr>
          <p:cNvPr id="18" name="Shape 13"/>
          <p:cNvSpPr/>
          <p:nvPr/>
        </p:nvSpPr>
        <p:spPr>
          <a:xfrm>
            <a:off x="6188659" y="1344168"/>
            <a:ext cx="5594299" cy="0"/>
          </a:xfrm>
          <a:prstGeom prst="line">
            <a:avLst/>
          </a:prstGeom>
          <a:noFill/>
          <a:ln w="6350">
            <a:solidFill>
              <a:srgbClr val="2C2523"/>
            </a:solidFill>
            <a:prstDash val="solid"/>
          </a:ln>
        </p:spPr>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188659" y="1417320"/>
          <a:ext cx="5596128" cy="914400"/>
        </p:xfrm>
        <a:graphic>
          <a:graphicData uri="http://schemas.openxmlformats.org/drawingml/2006/table">
            <a:tbl>
              <a:tblPr/>
              <a:tblGrid>
                <a:gridCol w="822960"/>
                <a:gridCol w="1353312"/>
                <a:gridCol w="402336"/>
                <a:gridCol w="585216"/>
                <a:gridCol w="493776"/>
                <a:gridCol w="493776"/>
                <a:gridCol w="1097280"/>
                <a:gridCol w="34747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Customer</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Type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Since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 total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Cum. %</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C-001</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 (4 sites)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$121.6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 + 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C-002</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94.3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 + 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C-003</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73.0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 + 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C-004</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Office building</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60.8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C-005</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 (3 sites)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2020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C-006</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Property manager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45.6</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 + 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C-007</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Medical office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2021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39.5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16.0%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C-008</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Restaurant group (2 sites)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36.5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17.2%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C-009</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Church campus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2015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33.4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18.3%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PM contract</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C-010</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Retail plaza</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2022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30.4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T&amp;M</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Top 10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71% of commercial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$586.8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19.3%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ctr" indent="0" marL="0">
                        <a:buNone/>
                      </a:pPr>
                      <a:r>
                        <a:rPr lang="en-US" sz="850" b="1" dirty="0">
                          <a:solidFill>
                            <a:srgbClr val="7B0000"/>
                          </a:solidFill>
                          <a:latin typeface="Arial" pitchFamily="34" charset="0"/>
                          <a:ea typeface="Arial" pitchFamily="34" charset="-122"/>
                          <a:cs typeface="Arial" pitchFamily="34" charset="-120"/>
                        </a:rPr>
                        <a:t>B</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3736">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Remaining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Residential and other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2,454.0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80.7%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3736">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Total</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$3,040.8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100.0%</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20" name="Text 14"/>
          <p:cNvSpPr txBox="1"/>
          <p:nvPr/>
        </p:nvSpPr>
        <p:spPr>
          <a:xfrm>
            <a:off x="6188659" y="3995928"/>
            <a:ext cx="5594299"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Key observations</a:t>
            </a:r>
            <a:endParaRPr lang="en-US" sz="950" dirty="0"/>
          </a:p>
        </p:txBody>
      </p:sp>
      <p:sp>
        <p:nvSpPr>
          <p:cNvPr id="21" name="Shape 15"/>
          <p:cNvSpPr/>
          <p:nvPr/>
        </p:nvSpPr>
        <p:spPr>
          <a:xfrm>
            <a:off x="6188659" y="4224528"/>
            <a:ext cx="5594299" cy="0"/>
          </a:xfrm>
          <a:prstGeom prst="line">
            <a:avLst/>
          </a:prstGeom>
          <a:noFill/>
          <a:ln w="6350">
            <a:solidFill>
              <a:srgbClr val="2C2523"/>
            </a:solidFill>
            <a:prstDash val="solid"/>
          </a:ln>
        </p:spPr>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6188659" y="4297680"/>
          <a:ext cx="5594299" cy="914400"/>
        </p:xfrm>
        <a:graphic>
          <a:graphicData uri="http://schemas.openxmlformats.org/drawingml/2006/table">
            <a:tbl>
              <a:tblPr/>
              <a:tblGrid>
                <a:gridCol w="274320"/>
                <a:gridCol w="5319979"/>
              </a:tblGrid>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largest customer, C-001, is 4.0% of FY2025 revenue ($121.6K): </a:t>
                      </a:r>
                      <a:pPr indent="0" marL="0">
                        <a:buNone/>
                      </a:pPr>
                      <a:r>
                        <a:rPr lang="en-US" sz="900" dirty="0">
                          <a:solidFill>
                            <a:srgbClr val="2C2523"/>
                          </a:solidFill>
                          <a:latin typeface="Arial" pitchFamily="34" charset="0"/>
                          <a:ea typeface="Arial" pitchFamily="34" charset="-122"/>
                          <a:cs typeface="Arial" pitchFamily="34" charset="-120"/>
                        </a:rPr>
                        <a:t>a four-location restaurant group served since 2016 on a preventive-maintenance contract plus time-and-materials repairs.</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top 10 customers are 19.3% of revenue and all commercial; </a:t>
                      </a:r>
                      <a:pPr indent="0" marL="0">
                        <a:buNone/>
                      </a:pPr>
                      <a:r>
                        <a:rPr lang="en-US" sz="900" dirty="0">
                          <a:solidFill>
                            <a:srgbClr val="2C2523"/>
                          </a:solidFill>
                          <a:latin typeface="Arial" pitchFamily="34" charset="0"/>
                          <a:ea typeface="Arial" pitchFamily="34" charset="-122"/>
                          <a:cs typeface="Arial" pitchFamily="34" charset="-120"/>
                        </a:rPr>
                        <a:t>they are 71% of commercial revenue, so the commercial line rests on relationships the owner personally holds (page 7).</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Commercial revenue grew from $612.5K to $821.0K in two years (15.8% CAGR), </a:t>
                      </a:r>
                      <a:pPr indent="0" marL="0">
                        <a:buNone/>
                      </a:pPr>
                      <a:r>
                        <a:rPr lang="en-US" sz="900" dirty="0">
                          <a:solidFill>
                            <a:srgbClr val="2C2523"/>
                          </a:solidFill>
                          <a:latin typeface="Arial" pitchFamily="34" charset="0"/>
                          <a:ea typeface="Arial" pitchFamily="34" charset="-122"/>
                          <a:cs typeface="Arial" pitchFamily="34" charset="-120"/>
                        </a:rPr>
                        <a:t>driven by annual preventive-maintenance contracts with property managers and four restaurant groups; two property managers have requested quotes on additional buildings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393192">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D</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Maintenance agreements produced $273.7K (9% of revenue) from 1,450 members </a:t>
                      </a:r>
                      <a:pPr indent="0" marL="0">
                        <a:buNone/>
                      </a:pPr>
                      <a:r>
                        <a:rPr lang="en-US" sz="900" dirty="0">
                          <a:solidFill>
                            <a:srgbClr val="2C2523"/>
                          </a:solidFill>
                          <a:latin typeface="Arial" pitchFamily="34" charset="0"/>
                          <a:ea typeface="Arial" pitchFamily="34" charset="-122"/>
                          <a:cs typeface="Arial" pitchFamily="34" charset="-120"/>
                        </a:rPr>
                        <a:t>at about $189 each; the 82% renewal rate feeds residential repair and replacement leads (1).</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71478"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An 11-year operations manager runs dispatch for 18 field staff and 20 vehicles from an 8,000 sq ft shop leased through 2029</a:t>
            </a:r>
            <a:endParaRPr lang="en-US" sz="2000" dirty="0"/>
          </a:p>
        </p:txBody>
      </p:sp>
      <p:sp>
        <p:nvSpPr>
          <p:cNvPr id="3" name="Shape 1"/>
          <p:cNvSpPr/>
          <p:nvPr/>
        </p:nvSpPr>
        <p:spPr>
          <a:xfrm>
            <a:off x="411480" y="969264"/>
            <a:ext cx="11371478" cy="0"/>
          </a:xfrm>
          <a:prstGeom prst="line">
            <a:avLst/>
          </a:prstGeom>
          <a:noFill/>
          <a:ln w="9525">
            <a:solidFill>
              <a:srgbClr val="7B0000"/>
            </a:solidFill>
            <a:prstDash val="solid"/>
          </a:ln>
        </p:spPr>
      </p:sp>
      <p:sp>
        <p:nvSpPr>
          <p:cNvPr id="4" name="Text 2"/>
          <p:cNvSpPr txBox="1"/>
          <p:nvPr/>
        </p:nvSpPr>
        <p:spPr>
          <a:xfrm>
            <a:off x="411480" y="5943600"/>
            <a:ext cx="11371478" cy="420624"/>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Management; payroll register; lease agreement; Company financial statements (QuickBooks Online), FY2025;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Headcount as of September 2026. Employees other than management are described by role only. Figures in USD thousands unless noted.</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(2) The Seller prefers a buyer who retains the Ridgeline name and all employees.</a:t>
            </a:r>
            <a:endParaRPr lang="en-US" sz="700" dirty="0"/>
          </a:p>
        </p:txBody>
      </p:sp>
      <p:sp>
        <p:nvSpPr>
          <p:cNvPr id="5" name="Shape 3"/>
          <p:cNvSpPr/>
          <p:nvPr/>
        </p:nvSpPr>
        <p:spPr>
          <a:xfrm>
            <a:off x="411480" y="6400800"/>
            <a:ext cx="11371478"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pPr indent="0" marL="0">
              <a:buNone/>
            </a:pPr>
            <a:r>
              <a:rPr lang="en-US" sz="750" dirty="0">
                <a:solidFill>
                  <a:srgbClr val="7A706D"/>
                </a:solidFill>
                <a:latin typeface="Arial" pitchFamily="34" charset="0"/>
                <a:ea typeface="Arial" pitchFamily="34" charset="-122"/>
                <a:cs typeface="Arial" pitchFamily="34" charset="-120"/>
              </a:rPr>
              <a:t>  |  </a:t>
            </a:r>
            <a:pPr indent="0" marL="0">
              <a:buNone/>
            </a:pPr>
            <a:r>
              <a:rPr lang="en-US" sz="750" dirty="0">
                <a:solidFill>
                  <a:srgbClr val="7B0000"/>
                </a:solidFill>
                <a:latin typeface="Arial" pitchFamily="34" charset="0"/>
                <a:ea typeface="Arial" pitchFamily="34" charset="-122"/>
                <a:cs typeface="Arial" pitchFamily="34" charset="-120"/>
              </a:rPr>
              <a:t>Operations and people</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home/user/project-avengers/amb-material-bot/design/directions/c-exhibit-databook/amb-logo-tight.png">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90118"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p>
        </p:txBody>
      </p:sp>
      <p:sp>
        <p:nvSpPr>
          <p:cNvPr id="10" name="Text 7"/>
          <p:cNvSpPr txBox="1"/>
          <p:nvPr/>
        </p:nvSpPr>
        <p:spPr>
          <a:xfrm>
            <a:off x="411480" y="1115568"/>
            <a:ext cx="6557162" cy="2999232"/>
          </a:xfrm>
          <a:prstGeom prst="rect">
            <a:avLst/>
          </a:prstGeom>
          <a:noFill/>
          <a:ln/>
        </p:spPr>
        <p:txBody>
          <a:bodyPr wrap="square" lIns="0" tIns="0" rIns="0" bIns="0" rtlCol="0" anchor="t"/>
          <a:lstStyle/>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Management and staffing. </a:t>
            </a:r>
            <a:pPr indent="0" marL="0">
              <a:lnSpc>
                <a:spcPct val="108000"/>
              </a:lnSpc>
              <a:spcAft>
                <a:spcPts val="700"/>
              </a:spcAft>
              <a:buNone/>
            </a:pPr>
            <a:r>
              <a:rPr lang="en-US" sz="950" dirty="0">
                <a:solidFill>
                  <a:srgbClr val="2C2523"/>
                </a:solidFill>
                <a:latin typeface="Arial" pitchFamily="34" charset="0"/>
                <a:ea typeface="Arial" pitchFamily="34" charset="-122"/>
                <a:cs typeface="Arial" pitchFamily="34" charset="-120"/>
              </a:rPr>
              <a:t>Ridgeline employs 24 people: 14 service technicians, a 4-person install crew, an operations manager, 3 customer service and dispatch staff, a bookkeeper and the owner. Lisa Tran, the operations manager, has been with the Company 11 years, runs dispatch and daily scheduling in ServiceTitan, and is expected to stay after closing. Technicians are paid hourly plus a spiff on each maintenance agreement sold, which is how 1,450 memberships were built without a dedicated sales role; there is no union. Revenue per field employee was $168.9K in FY2025.</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Owner role and transition. </a:t>
            </a:r>
            <a:pPr indent="0" marL="0">
              <a:lnSpc>
                <a:spcPct val="108000"/>
              </a:lnSpc>
              <a:spcAft>
                <a:spcPts val="700"/>
              </a:spcAft>
              <a:buNone/>
            </a:pPr>
            <a:r>
              <a:rPr lang="en-US" sz="950" dirty="0">
                <a:solidFill>
                  <a:srgbClr val="2C2523"/>
                </a:solidFill>
                <a:latin typeface="Arial" pitchFamily="34" charset="0"/>
                <a:ea typeface="Arial" pitchFamily="34" charset="-122"/>
                <a:cs typeface="Arial" pitchFamily="34" charset="-120"/>
              </a:rPr>
              <a:t>Mark Delaney founded the Company in 2009. He works about 45 hours a week on estimating large replacements, commercial relationships, vendor terms and hiring (1). He is retiring at 61, will remain full time for up to 12 months after closing, and will introduce each commercial account to the buyer; page 7 sets out who assumes each responsibility.</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Fleet, facility and systems. </a:t>
            </a:r>
            <a:pPr indent="0" marL="0">
              <a:lnSpc>
                <a:spcPct val="108000"/>
              </a:lnSpc>
              <a:spcAft>
                <a:spcPts val="700"/>
              </a:spcAft>
              <a:buNone/>
            </a:pPr>
            <a:r>
              <a:rPr lang="en-US" sz="950" dirty="0">
                <a:solidFill>
                  <a:srgbClr val="2C2523"/>
                </a:solidFill>
                <a:latin typeface="Arial" pitchFamily="34" charset="0"/>
                <a:ea typeface="Arial" pitchFamily="34" charset="-122"/>
                <a:cs typeface="Arial" pitchFamily="34" charset="-120"/>
              </a:rPr>
              <a:t>The Company runs 18 service vans and 2 install trucks, all owned and financed with vehicle loans. It operates from an 8,000 sq ft leased shop and office on Maple Ave in Columbus; the lease runs through 2029 with a 5-year renewal option, the landlord is unrelated to the owner and rent was $96.0K in FY2025. ServiceTitan handles dispatch, invoicing and memberships and QuickBooks Online the accounting.</a:t>
            </a:r>
            <a:endParaRPr lang="en-US" sz="950" dirty="0"/>
          </a:p>
          <a:p>
            <a:pPr indent="0" marL="0">
              <a:lnSpc>
                <a:spcPct val="108000"/>
              </a:lnSpc>
              <a:spcAft>
                <a:spcPts val="700"/>
              </a:spcAft>
              <a:buNone/>
            </a:pPr>
            <a:r>
              <a:rPr lang="en-US" sz="950" b="1" dirty="0">
                <a:solidFill>
                  <a:srgbClr val="2C2523"/>
                </a:solidFill>
                <a:latin typeface="Arial" pitchFamily="34" charset="0"/>
                <a:ea typeface="Arial" pitchFamily="34" charset="-122"/>
                <a:cs typeface="Arial" pitchFamily="34" charset="-120"/>
              </a:rPr>
              <a:t>Suppliers and reputation. </a:t>
            </a:r>
            <a:pPr indent="0" marL="0">
              <a:lnSpc>
                <a:spcPct val="108000"/>
              </a:lnSpc>
              <a:spcAft>
                <a:spcPts val="700"/>
              </a:spcAft>
              <a:buNone/>
            </a:pPr>
            <a:r>
              <a:rPr lang="en-US" sz="950" dirty="0">
                <a:solidFill>
                  <a:srgbClr val="2C2523"/>
                </a:solidFill>
                <a:latin typeface="Arial" pitchFamily="34" charset="0"/>
                <a:ea typeface="Arial" pitchFamily="34" charset="-122"/>
                <a:cs typeface="Arial" pitchFamily="34" charset="-120"/>
              </a:rPr>
              <a:t>Ridgeline has been a Carrier Factory Authorized Dealer since 2015 and buys Carrier equipment through the local distributor, with parts from Ferguson and Johnstone Supply. It holds a 4.8 Google rating from more than 900 reviews. Most leads arrive by referral and search rather than paid advertising, which was $21.5K in FY2025 (0.7% of revenue) (1).</a:t>
            </a:r>
            <a:endParaRPr lang="en-US" sz="950" dirty="0"/>
          </a:p>
        </p:txBody>
      </p:sp>
      <p:sp>
        <p:nvSpPr>
          <p:cNvPr id="11" name="Text 8"/>
          <p:cNvSpPr txBox="1"/>
          <p:nvPr/>
        </p:nvSpPr>
        <p:spPr>
          <a:xfrm>
            <a:off x="411480" y="4224528"/>
            <a:ext cx="655716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Operating cost ratios</a:t>
            </a:r>
            <a:pPr indent="0" marL="0">
              <a:buNone/>
            </a:pPr>
            <a:r>
              <a:rPr lang="en-US" sz="950" dirty="0">
                <a:solidFill>
                  <a:srgbClr val="7A706D"/>
                </a:solidFill>
                <a:latin typeface="Arial" pitchFamily="34" charset="0"/>
                <a:ea typeface="Arial" pitchFamily="34" charset="-122"/>
                <a:cs typeface="Arial" pitchFamily="34" charset="-120"/>
              </a:rPr>
              <a:t>  (% of revenue)</a:t>
            </a:r>
            <a:endParaRPr lang="en-US" sz="950" dirty="0"/>
          </a:p>
        </p:txBody>
      </p:sp>
      <p:sp>
        <p:nvSpPr>
          <p:cNvPr id="12" name="Shape 9"/>
          <p:cNvSpPr/>
          <p:nvPr/>
        </p:nvSpPr>
        <p:spPr>
          <a:xfrm>
            <a:off x="411480" y="4453128"/>
            <a:ext cx="6557162" cy="0"/>
          </a:xfrm>
          <a:prstGeom prst="line">
            <a:avLst/>
          </a:prstGeom>
          <a:noFill/>
          <a:ln w="6350">
            <a:solidFill>
              <a:srgbClr val="2C252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4526280"/>
          <a:ext cx="6556248" cy="914400"/>
        </p:xfrm>
        <a:graphic>
          <a:graphicData uri="http://schemas.openxmlformats.org/drawingml/2006/table">
            <a:tbl>
              <a:tblPr/>
              <a:tblGrid>
                <a:gridCol w="2103120"/>
                <a:gridCol w="603504"/>
                <a:gridCol w="603504"/>
                <a:gridCol w="603504"/>
                <a:gridCol w="73152"/>
                <a:gridCol w="685800"/>
                <a:gridCol w="73152"/>
                <a:gridCol w="1810512"/>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Cost line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FY23–25</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Technician wages and benefits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21.1%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20.8%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–93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Hourly plus agreement spiffs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Direct labor and subcontractors</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14.2%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13.5%</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–71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Install crew; cost of revenue</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Field labor</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35.9%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34.3%</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b="1" dirty="0">
                          <a:solidFill>
                            <a:srgbClr val="2C2523"/>
                          </a:solidFill>
                          <a:latin typeface="Arial" pitchFamily="34" charset="0"/>
                          <a:ea typeface="Arial" pitchFamily="34" charset="-122"/>
                          <a:cs typeface="Arial" pitchFamily="34" charset="-120"/>
                        </a:rPr>
                        <a:t>–1.6 pts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18 field staff, no union</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6350" cap="flat" cmpd="sng" algn="ctr">
                      <a:solidFill>
                        <a:srgbClr val="2C2523"/>
                      </a:solidFill>
                      <a:prstDash val="solid"/>
                      <a:round/>
                      <a:headEnd type="none" w="med" len="med"/>
                      <a:tailEnd type="none" w="med" len="med"/>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Vehicle, fuel and maintenance</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4.8%</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4.7%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–29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20 owned vehicles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Rent and occupancy</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3.4%</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–50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Fixed lease through 2029</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r h="178308">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Marketing and advertising</a:t>
                      </a:r>
                      <a:endParaRPr lang="en-US" sz="850" dirty="0">
                        <a:latin typeface="Arial" charset="0"/>
                        <a:ea typeface="Arial" charset="0"/>
                        <a:cs typeface="Arial" charset="0"/>
                      </a:endParaRPr>
                    </a:p>
                  </a:txBody>
                  <a:tcPr marL="155448"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0.7%</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50" dirty="0">
                          <a:solidFill>
                            <a:srgbClr val="2C2523"/>
                          </a:solidFill>
                          <a:latin typeface="Arial" pitchFamily="34" charset="0"/>
                          <a:ea typeface="Arial" pitchFamily="34" charset="-122"/>
                          <a:cs typeface="Arial" pitchFamily="34" charset="-120"/>
                        </a:rPr>
                        <a:t>–1 bps</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indent="0" marL="0">
                        <a:buNone/>
                      </a:pP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Referrals and reviews (1)</a:t>
                      </a:r>
                      <a:endParaRPr lang="en-US" sz="85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14" name="Text 10"/>
          <p:cNvSpPr txBox="1"/>
          <p:nvPr/>
        </p:nvSpPr>
        <p:spPr>
          <a:xfrm>
            <a:off x="7151522" y="1115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Organization and tenure</a:t>
            </a:r>
            <a:pPr indent="0" marL="0">
              <a:buNone/>
            </a:pPr>
            <a:r>
              <a:rPr lang="en-US" sz="950" dirty="0">
                <a:solidFill>
                  <a:srgbClr val="7A706D"/>
                </a:solidFill>
                <a:latin typeface="Arial" pitchFamily="34" charset="0"/>
                <a:ea typeface="Arial" pitchFamily="34" charset="-122"/>
                <a:cs typeface="Arial" pitchFamily="34" charset="-120"/>
              </a:rPr>
              <a:t>  (#)</a:t>
            </a:r>
            <a:endParaRPr lang="en-US" sz="950" dirty="0"/>
          </a:p>
        </p:txBody>
      </p:sp>
      <p:sp>
        <p:nvSpPr>
          <p:cNvPr id="15" name="Shape 11"/>
          <p:cNvSpPr/>
          <p:nvPr/>
        </p:nvSpPr>
        <p:spPr>
          <a:xfrm>
            <a:off x="7151522" y="1344168"/>
            <a:ext cx="4631436" cy="0"/>
          </a:xfrm>
          <a:prstGeom prst="line">
            <a:avLst/>
          </a:prstGeom>
          <a:noFill/>
          <a:ln w="6350">
            <a:solidFill>
              <a:srgbClr val="2C2523"/>
            </a:solidFill>
            <a:prstDash val="solid"/>
          </a:ln>
        </p:spPr>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7151522" y="1417320"/>
          <a:ext cx="4631436" cy="914400"/>
        </p:xfrm>
        <a:graphic>
          <a:graphicData uri="http://schemas.openxmlformats.org/drawingml/2006/table">
            <a:tbl>
              <a:tblPr/>
              <a:tblGrid>
                <a:gridCol w="1481328"/>
                <a:gridCol w="438912"/>
                <a:gridCol w="1463040"/>
                <a:gridCol w="124815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Role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Count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Tenure and pay basis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Post-close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7432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Owner and founder (Mark Delaney)</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Since 2009; about 45 hrs/week</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Retiring; full time for up to 12 months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Operations manager (Lisa Tran)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11 years; dispatch and scheduling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Expected to stay</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288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Service technicians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Hourly plus agreement spiffs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Continue (2)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Install crew</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Hourly; replacements and commercial installs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Continue (2)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7432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Customer service and dispatch</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Hourly; ServiceTitan call board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Continue (2)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288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Bookkeeper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QuickBooks Online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Continue (2)</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82880">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24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7" name="Text 12"/>
          <p:cNvSpPr txBox="1"/>
          <p:nvPr/>
        </p:nvSpPr>
        <p:spPr>
          <a:xfrm>
            <a:off x="7151522" y="340156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Facilities, fleet and systems</a:t>
            </a:r>
            <a:endParaRPr lang="en-US" sz="950" dirty="0"/>
          </a:p>
        </p:txBody>
      </p:sp>
      <p:sp>
        <p:nvSpPr>
          <p:cNvPr id="18" name="Shape 13"/>
          <p:cNvSpPr/>
          <p:nvPr/>
        </p:nvSpPr>
        <p:spPr>
          <a:xfrm>
            <a:off x="7151522" y="3630168"/>
            <a:ext cx="4631436" cy="0"/>
          </a:xfrm>
          <a:prstGeom prst="line">
            <a:avLst/>
          </a:prstGeom>
          <a:noFill/>
          <a:ln w="6350">
            <a:solidFill>
              <a:srgbClr val="2C2523"/>
            </a:solidFill>
            <a:prstDash val="solid"/>
          </a:ln>
        </p:spPr>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7151522" y="3703320"/>
          <a:ext cx="4631436" cy="914400"/>
        </p:xfrm>
        <a:graphic>
          <a:graphicData uri="http://schemas.openxmlformats.org/drawingml/2006/table">
            <a:tbl>
              <a:tblPr/>
              <a:tblGrid>
                <a:gridCol w="914400"/>
                <a:gridCol w="2240280"/>
                <a:gridCol w="1476756"/>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Item</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Detail</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Term or status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2926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Shop and office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8,000 sq ft on Maple Ave, Columbus; landlord unrelated to the owner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Lease through 2029; 5-year renewal option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26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Fleet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18 service vans and 2 install trucks, owned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Vehicle loans; interest $19.0K in FY2025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26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Software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ServiceTitan (dispatch, invoicing, memberships); QuickBooks Online</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Job-level records tie to invoices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26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Equipment and parts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Carrier equipment via the local distributor; parts from Ferguson and Johnstone Supply</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Carrier Factory Authorized Dealer since 2015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26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Service area</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Franklin, Delaware and Licking counties, about a 35-mile radius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Residential and light commercial</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292608">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Reputation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4.8 Google rating from 900+ reviews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Referrals and search are the main lead sources (1)</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11371478" cy="640080"/>
          </a:xfrm>
          <a:prstGeom prst="rect">
            <a:avLst/>
          </a:prstGeom>
          <a:noFill/>
          <a:ln/>
        </p:spPr>
        <p:txBody>
          <a:bodyPr wrap="square" lIns="0" tIns="0" rIns="0" bIns="0" rtlCol="0" anchor="b"/>
          <a:lstStyle/>
          <a:p>
            <a:pPr indent="0" marL="0">
              <a:lnSpc>
                <a:spcPct val="100000"/>
              </a:lnSpc>
              <a:buNone/>
            </a:pPr>
            <a:r>
              <a:rPr lang="en-US" sz="2000" b="1" dirty="0">
                <a:solidFill>
                  <a:srgbClr val="7B0000"/>
                </a:solidFill>
                <a:latin typeface="Georgia" pitchFamily="34" charset="0"/>
                <a:ea typeface="Georgia" pitchFamily="34" charset="-122"/>
                <a:cs typeface="Georgia" pitchFamily="34" charset="-120"/>
              </a:rPr>
              <a:t>Buyers will test five items, led by the owner’s 45-hour week and a 19.3% top-10 customer share; each has a quantified answer</a:t>
            </a:r>
            <a:endParaRPr lang="en-US" sz="2000" dirty="0"/>
          </a:p>
        </p:txBody>
      </p:sp>
      <p:sp>
        <p:nvSpPr>
          <p:cNvPr id="3" name="Shape 1"/>
          <p:cNvSpPr/>
          <p:nvPr/>
        </p:nvSpPr>
        <p:spPr>
          <a:xfrm>
            <a:off x="411480" y="969264"/>
            <a:ext cx="11371478" cy="0"/>
          </a:xfrm>
          <a:prstGeom prst="line">
            <a:avLst/>
          </a:prstGeom>
          <a:noFill/>
          <a:ln w="9525">
            <a:solidFill>
              <a:srgbClr val="7B0000"/>
            </a:solidFill>
            <a:prstDash val="solid"/>
          </a:ln>
        </p:spPr>
      </p:sp>
      <p:sp>
        <p:nvSpPr>
          <p:cNvPr id="4" name="Text 2"/>
          <p:cNvSpPr txBox="1"/>
          <p:nvPr/>
        </p:nvSpPr>
        <p:spPr>
          <a:xfrm>
            <a:off x="411480" y="5943600"/>
            <a:ext cx="11371478" cy="420624"/>
          </a:xfrm>
          <a:prstGeom prst="rect">
            <a:avLst/>
          </a:prstGeom>
          <a:noFill/>
          <a:ln/>
        </p:spPr>
        <p:txBody>
          <a:bodyPr wrap="square" lIns="0" tIns="0" rIns="0" bIns="0" rtlCol="0" anchor="b"/>
          <a:lstStyle/>
          <a:p>
            <a:pPr indent="0" marL="0">
              <a:lnSpc>
                <a:spcPct val="100000"/>
              </a:lnSpc>
              <a:buNone/>
            </a:pPr>
            <a:r>
              <a:rPr lang="en-US" sz="700" dirty="0">
                <a:solidFill>
                  <a:srgbClr val="7A706D"/>
                </a:solidFill>
                <a:latin typeface="Arial" pitchFamily="34" charset="0"/>
                <a:ea typeface="Arial" pitchFamily="34" charset="-122"/>
                <a:cs typeface="Arial" pitchFamily="34" charset="-120"/>
              </a:rPr>
              <a:t>Source: Company financial statements (QuickBooks Online), FY2023–FY2025; Company customer list by invoice, FY2025; Management; AMB Advisory analysis.</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Note: Figures in USD thousands unless noted. Adjustment references [N1]–[N4] and [S1] are defined on page 4.</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(1) Per management; not independently verified. Hours are the owner’s estimate of a typical week.</a:t>
            </a:r>
            <a:endParaRPr lang="en-US" sz="700" dirty="0"/>
          </a:p>
          <a:p>
            <a:pPr indent="0" marL="0">
              <a:lnSpc>
                <a:spcPct val="100000"/>
              </a:lnSpc>
              <a:buNone/>
            </a:pPr>
            <a:r>
              <a:rPr lang="en-US" sz="700" dirty="0">
                <a:solidFill>
                  <a:srgbClr val="7A706D"/>
                </a:solidFill>
                <a:latin typeface="Arial" pitchFamily="34" charset="0"/>
                <a:ea typeface="Arial" pitchFamily="34" charset="-122"/>
                <a:cs typeface="Arial" pitchFamily="34" charset="-120"/>
              </a:rPr>
              <a:t>(2) Technician hire dates by employee are provided in the data room.</a:t>
            </a:r>
            <a:endParaRPr lang="en-US" sz="700" dirty="0"/>
          </a:p>
        </p:txBody>
      </p:sp>
      <p:sp>
        <p:nvSpPr>
          <p:cNvPr id="5" name="Shape 3"/>
          <p:cNvSpPr/>
          <p:nvPr/>
        </p:nvSpPr>
        <p:spPr>
          <a:xfrm>
            <a:off x="411480" y="6400800"/>
            <a:ext cx="11371478" cy="0"/>
          </a:xfrm>
          <a:prstGeom prst="line">
            <a:avLst/>
          </a:prstGeom>
          <a:noFill/>
          <a:ln w="6350">
            <a:solidFill>
              <a:srgbClr val="C2BAB8"/>
            </a:solidFill>
            <a:prstDash val="solid"/>
          </a:ln>
        </p:spPr>
      </p:sp>
      <p:sp>
        <p:nvSpPr>
          <p:cNvPr id="6" name="Text 4"/>
          <p:cNvSpPr txBox="1"/>
          <p:nvPr/>
        </p:nvSpPr>
        <p:spPr>
          <a:xfrm>
            <a:off x="411480" y="6455664"/>
            <a:ext cx="4114800" cy="219456"/>
          </a:xfrm>
          <a:prstGeom prst="rect">
            <a:avLst/>
          </a:prstGeom>
          <a:noFill/>
          <a:ln/>
        </p:spPr>
        <p:txBody>
          <a:bodyPr wrap="square" lIns="0" tIns="0" rIns="0" bIns="0" rtlCol="0" anchor="ctr"/>
          <a:lstStyle/>
          <a:p>
            <a:pPr indent="0" marL="0">
              <a:buNone/>
            </a:pPr>
            <a:r>
              <a:rPr lang="en-US" sz="750" dirty="0">
                <a:solidFill>
                  <a:srgbClr val="7A706D"/>
                </a:solidFill>
                <a:latin typeface="Arial" pitchFamily="34" charset="0"/>
                <a:ea typeface="Arial" pitchFamily="34" charset="-122"/>
                <a:cs typeface="Arial" pitchFamily="34" charset="-120"/>
              </a:rPr>
              <a:t>Project Ridgeline</a:t>
            </a:r>
            <a:pPr indent="0" marL="0">
              <a:buNone/>
            </a:pPr>
            <a:r>
              <a:rPr lang="en-US" sz="750" dirty="0">
                <a:solidFill>
                  <a:srgbClr val="7A706D"/>
                </a:solidFill>
                <a:latin typeface="Arial" pitchFamily="34" charset="0"/>
                <a:ea typeface="Arial" pitchFamily="34" charset="-122"/>
                <a:cs typeface="Arial" pitchFamily="34" charset="-120"/>
              </a:rPr>
              <a:t>  |  </a:t>
            </a:r>
            <a:pPr indent="0" marL="0">
              <a:buNone/>
            </a:pPr>
            <a:r>
              <a:rPr lang="en-US" sz="750" dirty="0">
                <a:solidFill>
                  <a:srgbClr val="7B0000"/>
                </a:solidFill>
                <a:latin typeface="Arial" pitchFamily="34" charset="0"/>
                <a:ea typeface="Arial" pitchFamily="34" charset="-122"/>
                <a:cs typeface="Arial" pitchFamily="34" charset="-120"/>
              </a:rPr>
              <a:t>Considerations for buyers</a:t>
            </a:r>
            <a:endParaRPr lang="en-US" sz="750" dirty="0"/>
          </a:p>
        </p:txBody>
      </p:sp>
      <p:sp>
        <p:nvSpPr>
          <p:cNvPr id="7" name="Text 5"/>
          <p:cNvSpPr txBox="1"/>
          <p:nvPr/>
        </p:nvSpPr>
        <p:spPr>
          <a:xfrm>
            <a:off x="3657600" y="6455664"/>
            <a:ext cx="4876495" cy="219456"/>
          </a:xfrm>
          <a:prstGeom prst="rect">
            <a:avLst/>
          </a:prstGeom>
          <a:noFill/>
          <a:ln/>
        </p:spPr>
        <p:txBody>
          <a:bodyPr wrap="square" lIns="0" tIns="0" rIns="0" bIns="0" rtlCol="0" anchor="ctr"/>
          <a:lstStyle/>
          <a:p>
            <a:pPr algn="ctr" indent="0" marL="0">
              <a:buNone/>
            </a:pPr>
            <a:r>
              <a:rPr lang="en-US" sz="750" dirty="0">
                <a:solidFill>
                  <a:srgbClr val="7A706D"/>
                </a:solidFill>
                <a:latin typeface="Arial" pitchFamily="34" charset="0"/>
                <a:ea typeface="Arial" pitchFamily="34" charset="-122"/>
                <a:cs typeface="Arial" pitchFamily="34" charset="-120"/>
              </a:rPr>
              <a:t>Strictly private and confidential</a:t>
            </a:r>
            <a:endParaRPr lang="en-US" sz="750" dirty="0"/>
          </a:p>
        </p:txBody>
      </p:sp>
      <p:pic>
        <p:nvPicPr>
          <p:cNvPr id="8" name="Image 0" descr="/home/user/project-avengers/amb-material-bot/design/directions/c-exhibit-databook/amb-logo-tight.png">    </p:cNvPr>
          <p:cNvPicPr>
            <a:picLocks noChangeAspect="1"/>
          </p:cNvPicPr>
          <p:nvPr/>
        </p:nvPicPr>
        <p:blipFill>
          <a:blip r:embed="rId1"/>
          <a:stretch>
            <a:fillRect/>
          </a:stretch>
        </p:blipFill>
        <p:spPr>
          <a:xfrm>
            <a:off x="10628986" y="6464808"/>
            <a:ext cx="618134" cy="201168"/>
          </a:xfrm>
          <a:prstGeom prst="rect">
            <a:avLst/>
          </a:prstGeom>
        </p:spPr>
      </p:pic>
      <p:sp>
        <p:nvSpPr>
          <p:cNvPr id="9" name="Text 6"/>
          <p:cNvSpPr txBox="1"/>
          <p:nvPr/>
        </p:nvSpPr>
        <p:spPr>
          <a:xfrm>
            <a:off x="11292840" y="6455664"/>
            <a:ext cx="490118" cy="219456"/>
          </a:xfrm>
          <a:prstGeom prst="rect">
            <a:avLst/>
          </a:prstGeom>
          <a:noFill/>
          <a:ln/>
        </p:spPr>
        <p:txBody>
          <a:bodyPr wrap="square" lIns="0" tIns="0" rIns="0" bIns="0" rtlCol="0" anchor="ctr"/>
          <a:lstStyle/>
          <a:p>
            <a:pPr algn="r" indent="0" marL="0">
              <a:buNone/>
            </a:pPr>
            <a:r>
              <a:rPr lang="en-US" sz="800" dirty="0">
                <a:solidFill>
                  <a:srgbClr val="2C2523"/>
                </a:solidFill>
                <a:latin typeface="Arial" pitchFamily="34" charset="0"/>
                <a:ea typeface="Arial" pitchFamily="34" charset="-122"/>
                <a:cs typeface="Arial" pitchFamily="34" charset="-120"/>
              </a:rPr>
              <a:t>7</a:t>
            </a:r>
            <a:endParaRPr lang="en-US" sz="800" dirty="0"/>
          </a:p>
        </p:txBody>
      </p:sp>
      <p:sp>
        <p:nvSpPr>
          <p:cNvPr id="10" name="Text 7"/>
          <p:cNvSpPr txBox="1"/>
          <p:nvPr/>
        </p:nvSpPr>
        <p:spPr>
          <a:xfrm>
            <a:off x="411480" y="1115568"/>
            <a:ext cx="11371478"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Considerations for buyers</a:t>
            </a:r>
            <a:pPr indent="0" marL="0">
              <a:buNone/>
            </a:pPr>
            <a:r>
              <a:rPr lang="en-US" sz="950" dirty="0">
                <a:solidFill>
                  <a:srgbClr val="7A706D"/>
                </a:solidFill>
                <a:latin typeface="Arial" pitchFamily="34" charset="0"/>
                <a:ea typeface="Arial" pitchFamily="34" charset="-122"/>
                <a:cs typeface="Arial" pitchFamily="34" charset="-120"/>
              </a:rPr>
              <a:t>  (FY2025 unless noted)</a:t>
            </a:r>
            <a:endParaRPr lang="en-US" sz="950" dirty="0"/>
          </a:p>
        </p:txBody>
      </p:sp>
      <p:sp>
        <p:nvSpPr>
          <p:cNvPr id="11" name="Shape 8"/>
          <p:cNvSpPr/>
          <p:nvPr/>
        </p:nvSpPr>
        <p:spPr>
          <a:xfrm>
            <a:off x="411480" y="1344168"/>
            <a:ext cx="11371478" cy="0"/>
          </a:xfrm>
          <a:prstGeom prst="line">
            <a:avLst/>
          </a:prstGeom>
          <a:noFill/>
          <a:ln w="6350">
            <a:solidFill>
              <a:srgbClr val="2C252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71478" cy="914400"/>
        </p:xfrm>
        <a:graphic>
          <a:graphicData uri="http://schemas.openxmlformats.org/drawingml/2006/table">
            <a:tbl>
              <a:tblPr/>
              <a:tblGrid>
                <a:gridCol w="1554480"/>
                <a:gridCol w="4937760"/>
                <a:gridCol w="4879238"/>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Consideration</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What the data shows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How it is addressed</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Owner involvement</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owner works about 45 hours a week on estimating large replacements, commercial relationships, vendor terms and hiring (1); the top 10 customers (19.3% of revenue) are relationships he holds.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operations manager (11 years) runs dispatch and scheduling. The owner remains full time for up to 12 months and introduces each commercial account. Adj. EBITDA already carries a $95.0K general-manager salary [S1].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Customer concentration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largest customer is 4.0% of revenue and the top 10 are 19.3%, all commercial; residential is 64% of revenue across individually small tickets.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Losing C-001 in full would remove $121.6K of revenue, less than 40% of one year’s growth ($322.2K in FY2025). Nine of the top 10 have been customers for four years or more.</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Technician labor</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Field labor (technician wages plus installation labor and subcontractors) was $1041.8K, 34.3% of revenue, in a market where technicians are scarce; pay is hourly plus spiffs and there is no union.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Field labor fell from 34.9% of revenue in FY2024 to 34.3% while revenue grew 11.9%. The operations manager’s 11-year tenure is the retention evidence in hand; technician tenure is in the data room (2).</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Add-back quality</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FY2025 adjustments total $136.5K: $105.0K owner compensation [S1], $25.5K documented in the general ledger [N1, N2] and $6.0K from card statements [N4]. Adj. EBITDA is 43% above Reported EBITDA.</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Each adjustment is listed with its basis and evidence on page 4. The general ledger, payroll register and card statements are in the data room. Excluding [N4] entirely moves the Adj. EBITDA margin by 20 bps.</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57200">
                <a:tc>
                  <a:txBody>
                    <a:bodyPr/>
                    <a:lstStyle/>
                    <a:p>
                      <a:pPr algn="l" indent="0" marL="0">
                        <a:buNone/>
                      </a:pPr>
                      <a:r>
                        <a:rPr lang="en-US" sz="850" b="1" dirty="0">
                          <a:solidFill>
                            <a:srgbClr val="2C2523"/>
                          </a:solidFill>
                          <a:latin typeface="Arial" pitchFamily="34" charset="0"/>
                          <a:ea typeface="Arial" pitchFamily="34" charset="-122"/>
                          <a:cs typeface="Arial" pitchFamily="34" charset="-120"/>
                        </a:rPr>
                        <a:t>Lead generation</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Paid marketing was $21.5K (0.7% of revenue); leads come from referrals, the 4.8 Google rating (900+ reviews) and the Carrier dealer program, so demand depends on reputation rather than a purchased funnel.</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50" dirty="0">
                          <a:solidFill>
                            <a:srgbClr val="2C2523"/>
                          </a:solidFill>
                          <a:latin typeface="Arial" pitchFamily="34" charset="0"/>
                          <a:ea typeface="Arial" pitchFamily="34" charset="-122"/>
                          <a:cs typeface="Arial" pitchFamily="34" charset="-120"/>
                        </a:rPr>
                        <a:t>The 1,450 maintenance agreements schedule about 2,900 tune-up visits a year and generate repair and replacement leads at an 82% renewal rate. Agreements are offered on about 35% of service calls today (1).</a:t>
                      </a:r>
                      <a:endParaRPr lang="en-US" sz="85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bl>
          </a:graphicData>
        </a:graphic>
      </p:graphicFrame>
      <p:sp>
        <p:nvSpPr>
          <p:cNvPr id="13" name="Text 9"/>
          <p:cNvSpPr txBox="1"/>
          <p:nvPr/>
        </p:nvSpPr>
        <p:spPr>
          <a:xfrm>
            <a:off x="411480" y="4041648"/>
            <a:ext cx="6557162"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Owner responsibilities and transition</a:t>
            </a:r>
            <a:pPr indent="0" marL="0">
              <a:buNone/>
            </a:pPr>
            <a:r>
              <a:rPr lang="en-US" sz="950" dirty="0">
                <a:solidFill>
                  <a:srgbClr val="7A706D"/>
                </a:solidFill>
                <a:latin typeface="Arial" pitchFamily="34" charset="0"/>
                <a:ea typeface="Arial" pitchFamily="34" charset="-122"/>
                <a:cs typeface="Arial" pitchFamily="34" charset="-120"/>
              </a:rPr>
              <a:t>  (hours per week) (1)</a:t>
            </a:r>
            <a:endParaRPr lang="en-US" sz="950" dirty="0"/>
          </a:p>
        </p:txBody>
      </p:sp>
      <p:sp>
        <p:nvSpPr>
          <p:cNvPr id="14" name="Shape 10"/>
          <p:cNvSpPr/>
          <p:nvPr/>
        </p:nvSpPr>
        <p:spPr>
          <a:xfrm>
            <a:off x="411480" y="4270248"/>
            <a:ext cx="6557162" cy="0"/>
          </a:xfrm>
          <a:prstGeom prst="line">
            <a:avLst/>
          </a:prstGeom>
          <a:noFill/>
          <a:ln w="6350">
            <a:solidFill>
              <a:srgbClr val="2C2523"/>
            </a:solidFill>
            <a:prstDash val="solid"/>
          </a:ln>
        </p:spPr>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11480" y="4343400"/>
          <a:ext cx="6537960" cy="914400"/>
        </p:xfrm>
        <a:graphic>
          <a:graphicData uri="http://schemas.openxmlformats.org/drawingml/2006/table">
            <a:tbl>
              <a:tblPr/>
              <a:tblGrid>
                <a:gridCol w="1783080"/>
                <a:gridCol w="457200"/>
                <a:gridCol w="2148840"/>
                <a:gridCol w="1783080"/>
                <a:gridCol w="365760"/>
              </a:tblGrid>
              <a:tr h="192024">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Responsibility</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r" indent="0" marL="0">
                        <a:buNone/>
                      </a:pPr>
                      <a:r>
                        <a:rPr lang="en-US" sz="800" b="1" dirty="0">
                          <a:solidFill>
                            <a:srgbClr val="FFFFFF"/>
                          </a:solidFill>
                          <a:latin typeface="Arial" pitchFamily="34" charset="0"/>
                          <a:ea typeface="Arial" pitchFamily="34" charset="-122"/>
                          <a:cs typeface="Arial" pitchFamily="34" charset="-120"/>
                        </a:rPr>
                        <a:t>Hrs/wk</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Who assumes it post-close</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Transition support</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Obs.</a:t>
                      </a:r>
                      <a:endParaRPr lang="en-US" sz="800" dirty="0">
                        <a:latin typeface="Arial" charset="0"/>
                        <a:ea typeface="Arial" charset="0"/>
                        <a:cs typeface="Arial"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7B0000"/>
                    </a:solidFill>
                  </a:tcPr>
                </a:tc>
              </a:tr>
              <a:tr h="19202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Estimating large replacements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General manager (or a senior technician)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joins estimates, 12 months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A</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202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Commercial relationships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General manager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introduces each account</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A</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202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Vendor terms and purchasing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Operations manager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Supplier contacts transferred</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B</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202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Hiring and staffing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Operations manager and general manager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Owner supports interviews</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B</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202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Finance and administration</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r" indent="0" marL="0">
                        <a:buNone/>
                      </a:pPr>
                      <a:r>
                        <a:rPr lang="en-US" sz="800" dirty="0">
                          <a:solidFill>
                            <a:srgbClr val="2C2523"/>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Bookkeeper and general manager</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l" indent="0" marL="0">
                        <a:buNone/>
                      </a:pPr>
                      <a:r>
                        <a:rPr lang="en-US" sz="800" dirty="0">
                          <a:solidFill>
                            <a:srgbClr val="2C2523"/>
                          </a:solidFill>
                          <a:latin typeface="Arial" pitchFamily="34" charset="0"/>
                          <a:ea typeface="Arial" pitchFamily="34" charset="-122"/>
                          <a:cs typeface="Arial" pitchFamily="34" charset="-120"/>
                        </a:rPr>
                        <a:t>System access at closing</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algn="ctr" indent="0" marL="0">
                        <a:buNone/>
                      </a:pPr>
                      <a:r>
                        <a:rPr lang="en-US" sz="800" b="1" dirty="0">
                          <a:solidFill>
                            <a:srgbClr val="7B0000"/>
                          </a:solidFill>
                          <a:latin typeface="Arial" pitchFamily="34" charset="0"/>
                          <a:ea typeface="Arial" pitchFamily="34" charset="-122"/>
                          <a:cs typeface="Arial" pitchFamily="34" charset="-120"/>
                        </a:rPr>
                        <a:t>B</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192024">
                <a:tc>
                  <a:txBody>
                    <a:bodyPr/>
                    <a:lstStyle/>
                    <a:p>
                      <a:pPr algn="l" indent="0" marL="0">
                        <a:buNone/>
                      </a:pPr>
                      <a:r>
                        <a:rPr lang="en-US" sz="800" b="1" dirty="0">
                          <a:solidFill>
                            <a:srgbClr val="2C2523"/>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r" indent="0" marL="0">
                        <a:buNone/>
                      </a:pPr>
                      <a:r>
                        <a:rPr lang="en-US" sz="800" b="1" dirty="0">
                          <a:solidFill>
                            <a:srgbClr val="2C2523"/>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l" indent="0" marL="0">
                        <a:buNone/>
                      </a:pP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c>
                  <a:txBody>
                    <a:bodyPr/>
                    <a:lstStyle/>
                    <a:p>
                      <a:pPr algn="ctr" indent="0" marL="0">
                        <a:buNone/>
                      </a:pPr>
                      <a:endParaRPr lang="en-US" sz="800" dirty="0">
                        <a:latin typeface="Arial" charset="0"/>
                        <a:ea typeface="Arial" charset="0"/>
                        <a:cs typeface="Arial" charset="0"/>
                      </a:endParaRPr>
                    </a:p>
                  </a:txBody>
                  <a:tcPr marL="45720" marR="45720" marT="32004" marB="32004" anchor="t">
                    <a:lnL w="0" cap="flat" cmpd="sng" algn="ctr">
                      <a:noFill/>
                    </a:lnL>
                    <a:lnR w="0" cap="flat" cmpd="sng" algn="ctr">
                      <a:noFill/>
                    </a:lnR>
                    <a:lnT w="9525" cap="flat" cmpd="sng" algn="ctr">
                      <a:solidFill>
                        <a:srgbClr val="7B0000"/>
                      </a:solidFill>
                      <a:prstDash val="solid"/>
                      <a:round/>
                      <a:headEnd type="none" w="med" len="med"/>
                      <a:tailEnd type="none" w="med" len="med"/>
                    </a:lnT>
                    <a:lnB w="9525" cap="flat" cmpd="sng" algn="ctr">
                      <a:solidFill>
                        <a:srgbClr val="7B0000"/>
                      </a:solidFill>
                      <a:prstDash val="solid"/>
                      <a:round/>
                      <a:headEnd type="none" w="med" len="med"/>
                      <a:tailEnd type="none" w="med" len="med"/>
                    </a:lnB>
                  </a:tcPr>
                </a:tc>
              </a:tr>
            </a:tbl>
          </a:graphicData>
        </a:graphic>
      </p:graphicFrame>
      <p:sp>
        <p:nvSpPr>
          <p:cNvPr id="16" name="Text 11"/>
          <p:cNvSpPr txBox="1"/>
          <p:nvPr/>
        </p:nvSpPr>
        <p:spPr>
          <a:xfrm>
            <a:off x="7151522" y="4041648"/>
            <a:ext cx="4631436" cy="228600"/>
          </a:xfrm>
          <a:prstGeom prst="rect">
            <a:avLst/>
          </a:prstGeom>
          <a:noFill/>
          <a:ln/>
        </p:spPr>
        <p:txBody>
          <a:bodyPr wrap="square" lIns="0" tIns="0" rIns="0" bIns="0" rtlCol="0" anchor="b"/>
          <a:lstStyle/>
          <a:p>
            <a:pPr indent="0" marL="0">
              <a:buNone/>
            </a:pPr>
            <a:r>
              <a:rPr lang="en-US" sz="950" b="1" dirty="0">
                <a:solidFill>
                  <a:srgbClr val="2C2523"/>
                </a:solidFill>
                <a:latin typeface="Arial" pitchFamily="34" charset="0"/>
                <a:ea typeface="Arial" pitchFamily="34" charset="-122"/>
                <a:cs typeface="Arial" pitchFamily="34" charset="-120"/>
              </a:rPr>
              <a:t>Key observations</a:t>
            </a:r>
            <a:endParaRPr lang="en-US" sz="950" dirty="0"/>
          </a:p>
        </p:txBody>
      </p:sp>
      <p:sp>
        <p:nvSpPr>
          <p:cNvPr id="17" name="Shape 12"/>
          <p:cNvSpPr/>
          <p:nvPr/>
        </p:nvSpPr>
        <p:spPr>
          <a:xfrm>
            <a:off x="7151522" y="4270248"/>
            <a:ext cx="4631436" cy="0"/>
          </a:xfrm>
          <a:prstGeom prst="line">
            <a:avLst/>
          </a:prstGeom>
          <a:noFill/>
          <a:ln w="6350">
            <a:solidFill>
              <a:srgbClr val="2C2523"/>
            </a:solidFill>
            <a:prstDash val="solid"/>
          </a:ln>
        </p:spPr>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7151522" y="4343400"/>
          <a:ext cx="4631436" cy="914400"/>
        </p:xfrm>
        <a:graphic>
          <a:graphicData uri="http://schemas.openxmlformats.org/drawingml/2006/table">
            <a:tbl>
              <a:tblPr/>
              <a:tblGrid>
                <a:gridCol w="274320"/>
                <a:gridCol w="4357116"/>
              </a:tblGrid>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A</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Estimating and commercial work, about 24 of 45 hours, </a:t>
                      </a:r>
                      <a:pPr indent="0" marL="0">
                        <a:buNone/>
                      </a:pPr>
                      <a:r>
                        <a:rPr lang="en-US" sz="900" dirty="0">
                          <a:solidFill>
                            <a:srgbClr val="2C2523"/>
                          </a:solidFill>
                          <a:latin typeface="Arial" pitchFamily="34" charset="0"/>
                          <a:ea typeface="Arial" pitchFamily="34" charset="-122"/>
                          <a:cs typeface="Arial" pitchFamily="34" charset="-120"/>
                        </a:rPr>
                        <a:t>are the general-manager role that [S1] prices at $95.0K; a buyer who does this work personally underwrites SDE of $547.9K rather than Adj. EBITDA of $452.9K.</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B</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other 21 hours pass to staff already in place: </a:t>
                      </a:r>
                      <a:pPr indent="0" marL="0">
                        <a:buNone/>
                      </a:pPr>
                      <a:r>
                        <a:rPr lang="en-US" sz="900" dirty="0">
                          <a:solidFill>
                            <a:srgbClr val="2C2523"/>
                          </a:solidFill>
                          <a:latin typeface="Arial" pitchFamily="34" charset="0"/>
                          <a:ea typeface="Arial" pitchFamily="34" charset="-122"/>
                          <a:cs typeface="Arial" pitchFamily="34" charset="-120"/>
                        </a:rPr>
                        <a:t>the operations manager takes purchasing and hiring, and the bookkeeper the financial routine, each with the general manager. No new hire beyond the manager is assumed.</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6350" cap="flat" cmpd="sng" algn="ctr">
                      <a:solidFill>
                        <a:srgbClr val="C2BAB8"/>
                      </a:solidFill>
                      <a:prstDash val="solid"/>
                      <a:round/>
                      <a:headEnd type="none" w="med" len="med"/>
                      <a:tailEnd type="none" w="med" len="med"/>
                    </a:lnB>
                  </a:tcPr>
                </a:tc>
              </a:tr>
              <a:tr h="429768">
                <a:tc>
                  <a:txBody>
                    <a:bodyPr/>
                    <a:lstStyle/>
                    <a:p>
                      <a:pPr algn="l" indent="0" marL="0">
                        <a:buNone/>
                      </a:pPr>
                      <a:r>
                        <a:rPr lang="en-US" sz="950" b="1" dirty="0">
                          <a:solidFill>
                            <a:srgbClr val="7B0000"/>
                          </a:solidFill>
                          <a:latin typeface="Arial" pitchFamily="34" charset="0"/>
                          <a:ea typeface="Arial" pitchFamily="34" charset="-122"/>
                          <a:cs typeface="Arial" pitchFamily="34" charset="-120"/>
                        </a:rPr>
                        <a:t>C</a:t>
                      </a:r>
                      <a:endParaRPr lang="en-US" sz="950" dirty="0">
                        <a:latin typeface="Arial" charset="0"/>
                        <a:ea typeface="Arial" charset="0"/>
                        <a:cs typeface="Arial" charset="0"/>
                      </a:endParaRPr>
                    </a:p>
                  </a:txBody>
                  <a:tcPr marL="18288" marR="0" marT="36576" marB="45720" anchor="t">
                    <a:lnL w="0" cap="flat" cmpd="sng" algn="ctr">
                      <a:noFill/>
                    </a:lnL>
                    <a:lnR w="0" cap="flat" cmpd="sng" algn="ctr">
                      <a:noFill/>
                    </a:lnR>
                    <a:lnT w="0" cap="flat" cmpd="sng" algn="ctr">
                      <a:noFill/>
                    </a:lnT>
                    <a:lnB w="0" cap="flat" cmpd="sng" algn="ctr">
                      <a:noFill/>
                    </a:lnB>
                  </a:tcPr>
                </a:tc>
                <a:tc>
                  <a:txBody>
                    <a:bodyPr/>
                    <a:lstStyle/>
                    <a:p>
                      <a:pPr indent="0" marL="0">
                        <a:buNone/>
                      </a:pPr>
                      <a:r>
                        <a:rPr lang="en-US" sz="900" b="1" dirty="0">
                          <a:solidFill>
                            <a:srgbClr val="2C2523"/>
                          </a:solidFill>
                          <a:latin typeface="Arial" pitchFamily="34" charset="0"/>
                          <a:ea typeface="Arial" pitchFamily="34" charset="-122"/>
                          <a:cs typeface="Arial" pitchFamily="34" charset="-120"/>
                        </a:rPr>
                        <a:t>The 12-month transition spans one full season cycle, </a:t>
                      </a:r>
                      <a:pPr indent="0" marL="0">
                        <a:buNone/>
                      </a:pPr>
                      <a:r>
                        <a:rPr lang="en-US" sz="900" dirty="0">
                          <a:solidFill>
                            <a:srgbClr val="2C2523"/>
                          </a:solidFill>
                          <a:latin typeface="Arial" pitchFamily="34" charset="0"/>
                          <a:ea typeface="Arial" pitchFamily="34" charset="-122"/>
                          <a:cs typeface="Arial" pitchFamily="34" charset="-120"/>
                        </a:rPr>
                        <a:t>so the buyer prices one summer cooling peak and one winter heating peak of replacement work with the owner still estimating.</a:t>
                      </a:r>
                      <a:endParaRPr lang="en-US" sz="850" dirty="0">
                        <a:latin typeface="Arial" charset="0"/>
                        <a:ea typeface="Arial" charset="0"/>
                        <a:cs typeface="Arial" charset="0"/>
                      </a:endParaRPr>
                    </a:p>
                  </a:txBody>
                  <a:tcPr marL="0" marR="18288" marT="36576" marB="45720"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AMB Advisory Services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Ridgeline: Confidential Information Memorandum</dc:title>
  <dc:subject>PptxGenJS Presentation</dc:subject>
  <dc:creator>AMB Advisory Services LLC</dc:creator>
  <cp:lastModifiedBy>AMB Advisory Services LLC</cp:lastModifiedBy>
  <cp:revision>1</cp:revision>
  <dcterms:created xsi:type="dcterms:W3CDTF">2026-09-28T07:03:32Z</dcterms:created>
  <dcterms:modified xsi:type="dcterms:W3CDTF">2026-09-28T07:03:32Z</dcterms:modified>
</cp:coreProperties>
</file>