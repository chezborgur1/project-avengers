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harts/chart3.xml" ContentType="application/vnd.openxmlformats-officedocument.drawingml.chart+xml"/>
  <Override PartName="/ppt/slides/slide9.xml" ContentType="application/vnd.openxmlformats-officedocument.presentationml.slide+xml"/>
  <Override PartName="/ppt/slides/slide10.xml" ContentType="application/vnd.openxmlformats-officedocument.presentationml.slide+xml"/>
  <Override PartName="/ppt/charts/chart4.xml" ContentType="application/vnd.openxmlformats-officedocument.drawingml.chart+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s/slide14.xml" ContentType="application/vnd.openxmlformats-officedocument.presentationml.slide+xml"/>
  <Override PartName="/ppt/charts/chart7.xml" ContentType="application/vnd.openxmlformats-officedocument.drawingml.chart+xml"/>
  <Override PartName="/ppt/slides/slide15.xml" ContentType="application/vnd.openxmlformats-officedocument.presentationml.slide+xml"/>
  <Override PartName="/ppt/charts/chart8.xml" ContentType="application/vnd.openxmlformats-officedocument.drawingml.chart+xml"/>
  <Override PartName="/ppt/slides/slide16.xml" ContentType="application/vnd.openxmlformats-officedocument.presentationml.slide+xml"/>
  <Override PartName="/ppt/charts/chart9.xml" ContentType="application/vnd.openxmlformats-officedocument.drawingml.chart+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00" b="0" i="0" u="none" strike="noStrike">
                <a:solidFill>
                  <a:srgbClr val="7A706D"/>
                </a:solidFill>
                <a:latin typeface="Arial"/>
              </a:defRPr>
            </a:pPr>
            <a:r>
              <a:rPr sz="800" b="0" i="0" u="none" strike="noStrike">
                <a:solidFill>
                  <a:srgbClr val="7A706D"/>
                </a:solidFill>
                <a:latin typeface="Arial"/>
              </a:rPr>
              <a:t>Revenue, 12.4%</a:t>
            </a:r>
          </a:p>
        </c:rich>
      </c:tx>
      <c:layout>
        <c:manualLayout>
          <c:xMode val="edge"/>
          <c:yMode val="edge"/>
          <c:x val="0"/>
          <c:y val="0"/>
        </c:manualLayout>
      </c:layout>
      <c:overlay val="0"/>
    </c:title>
    <c:autoTitleDeleted val="0"/>
    <c:plotArea>
      <c:layout>
        <c:manualLayout>
          <c:layoutTarget val="inner"/>
          <c:xMode val="edge"/>
          <c:yMode val="edge"/>
          <c:x val="0.02"/>
          <c:y val="0.120"/>
          <c:w val="0.96"/>
          <c:h val="0.720"/>
        </c:manualLayout>
      </c:layout>
      <c:barChart>
        <c:barDir val="col"/>
        <c:grouping val="clustered"/>
        <c:varyColors val="0"/>
        <c:ser>
          <c:idx val="0"/>
          <c:order val="0"/>
          <c:tx>
            <c:strRef>
              <c:f>Sheet1!$B$1</c:f>
              <c:strCache>
                <c:ptCount val="1"/>
                <c:pt idx="0">
                  <c:v>Revenue, 12.4%</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2407</c:v>
                </c:pt>
                <c:pt idx="1">
                  <c:v>2719</c:v>
                </c:pt>
                <c:pt idx="2">
                  <c:v>3041</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36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00" b="0" i="0" u="none" strike="noStrike">
                <a:solidFill>
                  <a:srgbClr val="7A706D"/>
                </a:solidFill>
                <a:latin typeface="Arial"/>
              </a:defRPr>
            </a:pPr>
            <a:r>
              <a:rPr sz="800" b="0" i="0" u="none" strike="noStrike">
                <a:solidFill>
                  <a:srgbClr val="7A706D"/>
                </a:solidFill>
                <a:latin typeface="Arial"/>
              </a:rPr>
              <a:t>Adj. EBITDA, 40.8%</a:t>
            </a:r>
          </a:p>
        </c:rich>
      </c:tx>
      <c:layout>
        <c:manualLayout>
          <c:xMode val="edge"/>
          <c:yMode val="edge"/>
          <c:x val="0"/>
          <c:y val="0"/>
        </c:manualLayout>
      </c:layout>
      <c:overlay val="0"/>
    </c:title>
    <c:autoTitleDeleted val="0"/>
    <c:plotArea>
      <c:layout>
        <c:manualLayout>
          <c:layoutTarget val="inner"/>
          <c:xMode val="edge"/>
          <c:yMode val="edge"/>
          <c:x val="0.02"/>
          <c:y val="0.120"/>
          <c:w val="0.96"/>
          <c:h val="0.720"/>
        </c:manualLayout>
      </c:layout>
      <c:barChart>
        <c:barDir val="col"/>
        <c:grouping val="clustered"/>
        <c:varyColors val="0"/>
        <c:ser>
          <c:idx val="0"/>
          <c:order val="0"/>
          <c:tx>
            <c:strRef>
              <c:f>Sheet1!$B$1</c:f>
              <c:strCache>
                <c:ptCount val="1"/>
                <c:pt idx="0">
                  <c:v>Adj. EBITDA, 40.8%</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195</c:v>
                </c:pt>
                <c:pt idx="1">
                  <c:v>286</c:v>
                </c:pt>
                <c:pt idx="2">
                  <c:v>386</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46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99"/>
          <c:w val="0.96"/>
          <c:h val="0.761"/>
        </c:manualLayout>
      </c:layout>
      <c:barChart>
        <c:barDir val="col"/>
        <c:grouping val="percentStacked"/>
        <c:varyColors val="0"/>
        <c:ser>
          <c:idx val="0"/>
          <c:order val="0"/>
          <c:tx>
            <c:strRef>
              <c:f>Sheet1!$B$1</c:f>
              <c:strCache>
                <c:ptCount val="1"/>
                <c:pt idx="0">
                  <c:v>Residential service and replacement</c:v>
                </c:pt>
              </c:strCache>
            </c:strRef>
          </c:tx>
          <c:spPr>
            <a:solidFill>
              <a:srgbClr val="7B0000"/>
            </a:solidFill>
            <a:ln w="9525">
              <a:solidFill>
                <a:srgbClr val="FFFFFF"/>
              </a:solidFill>
            </a:ln>
            <a:effectLst/>
          </c:spPr>
          <c:invertIfNegative val="0"/>
          <c:dLbls>
            <c:numFmt formatCode="0&quot;%&quot;"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66</c:v>
                </c:pt>
                <c:pt idx="1">
                  <c:v>65</c:v>
                </c:pt>
                <c:pt idx="2">
                  <c:v>64</c:v>
                </c:pt>
              </c:numCache>
            </c:numRef>
          </c:val>
        </c:ser>
        <c:ser>
          <c:idx val="1"/>
          <c:order val="1"/>
          <c:tx>
            <c:strRef>
              <c:f>Sheet1!$C$1</c:f>
              <c:strCache>
                <c:ptCount val="1"/>
                <c:pt idx="0">
                  <c:v>Commercial service</c:v>
                </c:pt>
              </c:strCache>
            </c:strRef>
          </c:tx>
          <c:spPr>
            <a:solidFill>
              <a:srgbClr val="C49A5B"/>
            </a:solidFill>
            <a:ln w="9525">
              <a:solidFill>
                <a:srgbClr val="FFFFFF"/>
              </a:solidFill>
            </a:ln>
            <a:effectLst/>
          </c:spPr>
          <c:invertIfNegative val="0"/>
          <c:dLbls>
            <c:numFmt formatCode="0&quot;%&quot;" sourceLinked="0"/>
            <c:txPr>
              <a:bodyPr/>
              <a:lstStyle/>
              <a:p>
                <a:pPr>
                  <a:defRPr b="0" i="0" strike="noStrike" sz="800" u="none">
                    <a:solidFill>
                      <a:srgbClr val="2C2523"/>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25</c:v>
                </c:pt>
                <c:pt idx="1">
                  <c:v>26</c:v>
                </c:pt>
                <c:pt idx="2">
                  <c:v>27</c:v>
                </c:pt>
              </c:numCache>
            </c:numRef>
          </c:val>
        </c:ser>
        <c:ser>
          <c:idx val="2"/>
          <c:order val="2"/>
          <c:tx>
            <c:strRef>
              <c:f>Sheet1!$D$1</c:f>
              <c:strCache>
                <c:ptCount val="1"/>
                <c:pt idx="0">
                  <c:v>Maintenance agreements</c:v>
                </c:pt>
              </c:strCache>
            </c:strRef>
          </c:tx>
          <c:spPr>
            <a:solidFill>
              <a:srgbClr val="5E5552"/>
            </a:solidFill>
            <a:ln w="9525">
              <a:solidFill>
                <a:srgbClr val="FFFFFF"/>
              </a:solidFill>
            </a:ln>
            <a:effectLst/>
          </c:spPr>
          <c:invertIfNegative val="0"/>
          <c:dLbls>
            <c:numFmt formatCode="0&quot;%&quot;"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9</c:v>
                </c:pt>
                <c:pt idx="1">
                  <c:v>9</c:v>
                </c:pt>
                <c:pt idx="2">
                  <c:v>9</c:v>
                </c:pt>
              </c:numCache>
            </c:numRef>
          </c:val>
        </c:ser>
        <c:dLbls>
          <c:numFmt formatCode="0&quot;%&quot;" sourceLinked="0"/>
          <c:txPr>
            <a:bodyPr/>
            <a:lstStyle/>
            <a:p>
              <a:pPr>
                <a:defRPr b="0" i="0" strike="noStrike" sz="800" u="none">
                  <a:solidFill>
                    <a:srgbClr val="2C2523"/>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t"/>
      <c:layout>
        <c:manualLayout>
          <c:xMode val="edge"/>
          <c:yMode val="edge"/>
          <c:x val="0"/>
          <c:y val="0"/>
          <c:w val="0.873"/>
          <c:h val="0.059"/>
        </c:manualLayout>
      </c:layout>
      <c:overlay val="0"/>
      <c:txPr>
        <a:bodyPr/>
        <a:lstStyle/>
        <a:p>
          <a:pPr>
            <a:defRPr sz="800">
              <a:solidFill>
                <a:srgbClr val="2C2523"/>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Sheet1!$A$2:$A$6</c:f>
              <c:multiLvlStrCache>
                <c:ptCount val="5"/>
                <c:lvl>
                  <c:pt idx="0">
                    <c:v>Property manager (10.2%)</c:v>
                  </c:pt>
                  <c:pt idx="1">
                    <c:v>Restaurant group (5.9%)</c:v>
                  </c:pt>
                  <c:pt idx="2">
                    <c:v>Office building (4.5%)</c:v>
                  </c:pt>
                  <c:pt idx="3">
                    <c:v>Retail (2.1%)</c:v>
                  </c:pt>
                  <c:pt idx="4">
                    <c:v>Other, 4 types (4.0%)</c:v>
                  </c:pt>
                </c:lvl>
              </c:multiLvlStrCache>
            </c:multiLvlStrRef>
          </c:cat>
          <c:val>
            <c:numRef>
              <c:f>Sheet1!$B$2:$B$6</c:f>
              <c:numCache>
                <c:formatCode>General</c:formatCode>
                <c:ptCount val="5"/>
                <c:pt idx="0">
                  <c:v>311</c:v>
                </c:pt>
                <c:pt idx="1">
                  <c:v>181</c:v>
                </c:pt>
                <c:pt idx="2">
                  <c:v>135</c:v>
                </c:pt>
                <c:pt idx="3">
                  <c:v>64</c:v>
                </c:pt>
                <c:pt idx="4">
                  <c:v>121</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axMin"/>
        </c:scaling>
        <c:delete val="0"/>
        <c:axPos val="l"/>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2C2523"/>
                </a:solidFill>
                <a:latin typeface="Arial"/>
              </a:defRPr>
            </a:pPr>
            <a:endParaRPr lang="en-US"/>
          </a:p>
        </c:txPr>
        <c:crossAx val="2094734552"/>
        <c:crosses val="autoZero"/>
        <c:auto val="1"/>
        <c:lblAlgn val="ctr"/>
        <c:noMultiLvlLbl val="1"/>
      </c:catAx>
      <c:valAx>
        <c:axId val="2094734552"/>
        <c:scaling>
          <c:orientation val="minMax"/>
          <c:max val="38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00" b="0" i="0" u="none" strike="noStrike">
                <a:solidFill>
                  <a:srgbClr val="7A706D"/>
                </a:solidFill>
                <a:latin typeface="Arial"/>
              </a:defRPr>
            </a:pPr>
            <a:r>
              <a:rPr sz="800" b="0" i="0" u="none" strike="noStrike">
                <a:solidFill>
                  <a:srgbClr val="7A706D"/>
                </a:solidFill>
                <a:latin typeface="Arial"/>
              </a:rPr>
              <a:t>Revenue</a:t>
            </a:r>
          </a:p>
        </c:rich>
      </c:tx>
      <c:layout>
        <c:manualLayout>
          <c:xMode val="edge"/>
          <c:yMode val="edge"/>
          <c:x val="0"/>
          <c:y val="0"/>
        </c:manualLayout>
      </c:layout>
      <c:overlay val="0"/>
    </c:title>
    <c:autoTitleDeleted val="0"/>
    <c:plotArea>
      <c:layout>
        <c:manualLayout>
          <c:layoutTarget val="inner"/>
          <c:xMode val="edge"/>
          <c:yMode val="edge"/>
          <c:x val="0.02"/>
          <c:y val="0.120"/>
          <c:w val="0.96"/>
          <c:h val="0.720"/>
        </c:manualLayout>
      </c:layout>
      <c:barChart>
        <c:barDir val="col"/>
        <c:grouping val="clustered"/>
        <c:varyColors val="0"/>
        <c:ser>
          <c:idx val="0"/>
          <c:order val="0"/>
          <c:tx>
            <c:strRef>
              <c:f>Sheet1!$B$1</c:f>
              <c:strCache>
                <c:ptCount val="1"/>
                <c:pt idx="0">
                  <c:v>Revenue</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2407</c:v>
                </c:pt>
                <c:pt idx="1">
                  <c:v>2719</c:v>
                </c:pt>
                <c:pt idx="2">
                  <c:v>3041</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36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00" b="0" i="0" u="none" strike="noStrike">
                <a:solidFill>
                  <a:srgbClr val="7A706D"/>
                </a:solidFill>
                <a:latin typeface="Arial"/>
              </a:defRPr>
            </a:pPr>
            <a:r>
              <a:rPr sz="800" b="0" i="0" u="none" strike="noStrike">
                <a:solidFill>
                  <a:srgbClr val="7A706D"/>
                </a:solidFill>
                <a:latin typeface="Arial"/>
              </a:rPr>
              <a:t>Reported EBITDA</a:t>
            </a:r>
          </a:p>
        </c:rich>
      </c:tx>
      <c:layout>
        <c:manualLayout>
          <c:xMode val="edge"/>
          <c:yMode val="edge"/>
          <c:x val="0"/>
          <c:y val="0"/>
        </c:manualLayout>
      </c:layout>
      <c:overlay val="0"/>
    </c:title>
    <c:autoTitleDeleted val="0"/>
    <c:plotArea>
      <c:layout>
        <c:manualLayout>
          <c:layoutTarget val="inner"/>
          <c:xMode val="edge"/>
          <c:yMode val="edge"/>
          <c:x val="0.02"/>
          <c:y val="0.120"/>
          <c:w val="0.96"/>
          <c:h val="0.720"/>
        </c:manualLayout>
      </c:layout>
      <c:barChart>
        <c:barDir val="col"/>
        <c:grouping val="clustered"/>
        <c:varyColors val="0"/>
        <c:ser>
          <c:idx val="0"/>
          <c:order val="0"/>
          <c:tx>
            <c:strRef>
              <c:f>Sheet1!$B$1</c:f>
              <c:strCache>
                <c:ptCount val="1"/>
                <c:pt idx="0">
                  <c:v>Reported EBITDA</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158</c:v>
                </c:pt>
                <c:pt idx="1">
                  <c:v>215</c:v>
                </c:pt>
                <c:pt idx="2">
                  <c:v>320</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38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7B0000"/>
            </a:solidFill>
            <a:effectLst/>
          </c:spPr>
          <c:invertIfNegative val="0"/>
          <c:dLbls>
            <c:numFmt formatCode="&quot;+&quot;#,##0;&quot;−&quot;#,##0;&quot;–&quot;"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Sheet1!$A$2:$A$7</c:f>
              <c:multiLvlStrCache>
                <c:ptCount val="6"/>
                <c:lvl>
                  <c:pt idx="0">
                    <c:v>Owner compensation, with payroll taxes</c:v>
                  </c:pt>
                  <c:pt idx="1">
                    <c:v>Equipment and materials</c:v>
                  </c:pt>
                  <c:pt idx="2">
                    <c:v>Office wages</c:v>
                  </c:pt>
                  <c:pt idx="3">
                    <c:v>Rent</c:v>
                  </c:pt>
                  <c:pt idx="4">
                    <c:v>Vehicle expenses</c:v>
                  </c:pt>
                  <c:pt idx="5">
                    <c:v>Fuel</c:v>
                  </c:pt>
                </c:lvl>
              </c:multiLvlStrCache>
            </c:multiLvlStrRef>
          </c:cat>
          <c:val>
            <c:numRef>
              <c:f>Sheet1!$B$2:$B$7</c:f>
              <c:numCache>
                <c:formatCode>General</c:formatCode>
                <c:ptCount val="6"/>
                <c:pt idx="0">
                  <c:v>-100</c:v>
                </c:pt>
                <c:pt idx="1">
                  <c:v>-80</c:v>
                </c:pt>
                <c:pt idx="2">
                  <c:v>-60</c:v>
                </c:pt>
                <c:pt idx="3">
                  <c:v>-50</c:v>
                </c:pt>
                <c:pt idx="4">
                  <c:v>-40</c:v>
                </c:pt>
                <c:pt idx="5">
                  <c:v>-30</c:v>
                </c:pt>
              </c:numCache>
            </c:numRef>
          </c:val>
        </c:ser>
        <c:dLbls>
          <c:numFmt formatCode="&quot;+&quot;#,##0;&quot;−&quot;#,##0;&quot;–&quot;"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axMin"/>
        </c:scaling>
        <c:delete val="0"/>
        <c:axPos val="l"/>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2C2523"/>
                </a:solidFill>
                <a:latin typeface="Arial"/>
              </a:defRPr>
            </a:pPr>
            <a:endParaRPr lang="en-US"/>
          </a:p>
        </c:txPr>
        <c:crossAx val="2094734552"/>
        <c:crosses val="autoZero"/>
        <c:auto val="1"/>
        <c:lblAlgn val="ctr"/>
        <c:noMultiLvlLbl val="1"/>
      </c:catAx>
      <c:valAx>
        <c:axId val="2094734552"/>
        <c:scaling>
          <c:orientation val="minMax"/>
          <c:max val="0"/>
          <c:min val="-1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c:v>
                </c:pt>
              </c:strCache>
            </c:strRef>
          </c:tx>
          <c:spPr>
            <a:solidFill>
              <a:srgbClr val="7B0000"/>
            </a:solidFill>
            <a:effectLst/>
          </c:spPr>
          <c:invertIfNegative val="0"/>
          <c:dLbls>
            <c:dLbl>
              <c:idx val="13"/>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14"/>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15"/>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21"/>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22"/>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24"/>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25"/>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26"/>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27"/>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33"/>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dLbl>
              <c:idx val="34"/>
              <c:numFmt formatCode="#,##0" sourceLinked="0"/>
              <c:spPr>
                <a:noFill/>
                <a:ln>
                  <a:noFill/>
                </a:ln>
              </c:spPr>
              <c:txPr>
                <a:bodyPr/>
                <a:lstStyle/>
                <a:p>
                  <a:pPr>
                    <a:defRPr sz="800">
                      <a:solidFill>
                        <a:srgbClr val="FFFFFF"/>
                      </a:solidFill>
                      <a:latin typeface="Arial"/>
                    </a:defRPr>
                  </a:pPr>
                  <a:endParaRPr lang="en-US"/>
                </a:p>
              </c:txPr>
              <c:dLblPos val="inEnd"/>
              <c:showLegendKey val="0"/>
              <c:showVal val="1"/>
              <c:showCatName val="0"/>
              <c:showSerName val="0"/>
              <c:showPercent val="0"/>
              <c:showBubbleSize val="0"/>
            </c:dLbl>
            <c:numFmt formatCode="#,##0" sourceLinked="0"/>
            <c:txPr>
              <a:bodyPr/>
              <a:lstStyle/>
              <a:p>
                <a:pPr>
                  <a:defRPr b="0" i="0" strike="noStrike" sz="800" u="none">
                    <a:solidFill>
                      <a:srgbClr val="2C2523"/>
                    </a:solidFill>
                    <a:latin typeface="Arial"/>
                  </a:defRPr>
                </a:pPr>
              </a:p>
            </c:txPr>
            <c:dLblPos val="outEnd"/>
            <c:showLegendKey val="0"/>
            <c:showVal val="1"/>
            <c:showCatName val="0"/>
            <c:showSerName val="0"/>
            <c:showPercent val="0"/>
            <c:showBubbleSize val="0"/>
            <c:showLeaderLines val="0"/>
          </c:dLbls>
          <c:cat>
            <c:multiLvlStrRef>
              <c:f>Sheet1!$A$2:$A$37</c:f>
              <c:multiLvlStrCache>
                <c:ptCount val="36"/>
                <c:lvl>
                  <c:pt idx="0">
                    <c:v>Jan‑23</c:v>
                  </c:pt>
                  <c:pt idx="1">
                    <c:v/>
                  </c:pt>
                  <c:pt idx="2">
                    <c:v/>
                  </c:pt>
                  <c:pt idx="3">
                    <c:v>Apr‑23</c:v>
                  </c:pt>
                  <c:pt idx="4">
                    <c:v/>
                  </c:pt>
                  <c:pt idx="5">
                    <c:v/>
                  </c:pt>
                  <c:pt idx="6">
                    <c:v>Jul‑23</c:v>
                  </c:pt>
                  <c:pt idx="7">
                    <c:v/>
                  </c:pt>
                  <c:pt idx="8">
                    <c:v/>
                  </c:pt>
                  <c:pt idx="9">
                    <c:v>Oct‑23</c:v>
                  </c:pt>
                  <c:pt idx="10">
                    <c:v/>
                  </c:pt>
                  <c:pt idx="11">
                    <c:v/>
                  </c:pt>
                  <c:pt idx="12">
                    <c:v>Jan‑24</c:v>
                  </c:pt>
                  <c:pt idx="13">
                    <c:v/>
                  </c:pt>
                  <c:pt idx="14">
                    <c:v/>
                  </c:pt>
                  <c:pt idx="15">
                    <c:v>Apr‑24</c:v>
                  </c:pt>
                  <c:pt idx="16">
                    <c:v/>
                  </c:pt>
                  <c:pt idx="17">
                    <c:v/>
                  </c:pt>
                  <c:pt idx="18">
                    <c:v>Jul‑24</c:v>
                  </c:pt>
                  <c:pt idx="19">
                    <c:v/>
                  </c:pt>
                  <c:pt idx="20">
                    <c:v/>
                  </c:pt>
                  <c:pt idx="21">
                    <c:v>Oct‑24</c:v>
                  </c:pt>
                  <c:pt idx="22">
                    <c:v/>
                  </c:pt>
                  <c:pt idx="23">
                    <c:v/>
                  </c:pt>
                  <c:pt idx="24">
                    <c:v>Jan‑25</c:v>
                  </c:pt>
                  <c:pt idx="25">
                    <c:v/>
                  </c:pt>
                  <c:pt idx="26">
                    <c:v/>
                  </c:pt>
                  <c:pt idx="27">
                    <c:v>Apr‑25</c:v>
                  </c:pt>
                  <c:pt idx="28">
                    <c:v/>
                  </c:pt>
                  <c:pt idx="29">
                    <c:v/>
                  </c:pt>
                  <c:pt idx="30">
                    <c:v>Jul‑25</c:v>
                  </c:pt>
                  <c:pt idx="31">
                    <c:v/>
                  </c:pt>
                  <c:pt idx="32">
                    <c:v/>
                  </c:pt>
                  <c:pt idx="33">
                    <c:v>Oct‑25</c:v>
                  </c:pt>
                  <c:pt idx="34">
                    <c:v/>
                  </c:pt>
                  <c:pt idx="35">
                    <c:v/>
                  </c:pt>
                </c:lvl>
              </c:multiLvlStrCache>
            </c:multiLvlStrRef>
          </c:cat>
          <c:val>
            <c:numRef>
              <c:f>Sheet1!$B$2:$B$37</c:f>
              <c:numCache>
                <c:formatCode>General</c:formatCode>
                <c:ptCount val="36"/>
                <c:pt idx="0">
                  <c:v>181</c:v>
                </c:pt>
                <c:pt idx="1">
                  <c:v>168</c:v>
                </c:pt>
                <c:pt idx="2">
                  <c:v>163</c:v>
                </c:pt>
                <c:pt idx="3">
                  <c:v>173</c:v>
                </c:pt>
                <c:pt idx="4">
                  <c:v>197</c:v>
                </c:pt>
                <c:pt idx="5">
                  <c:v>231</c:v>
                </c:pt>
                <c:pt idx="6">
                  <c:v>249</c:v>
                </c:pt>
                <c:pt idx="7">
                  <c:v>235</c:v>
                </c:pt>
                <c:pt idx="8">
                  <c:v>208</c:v>
                </c:pt>
                <c:pt idx="9">
                  <c:v>184</c:v>
                </c:pt>
                <c:pt idx="10">
                  <c:v>193</c:v>
                </c:pt>
                <c:pt idx="11">
                  <c:v>225</c:v>
                </c:pt>
                <c:pt idx="12">
                  <c:v>204</c:v>
                </c:pt>
                <c:pt idx="13">
                  <c:v>189</c:v>
                </c:pt>
                <c:pt idx="14">
                  <c:v>184</c:v>
                </c:pt>
                <c:pt idx="15">
                  <c:v>196</c:v>
                </c:pt>
                <c:pt idx="16">
                  <c:v>223</c:v>
                </c:pt>
                <c:pt idx="17">
                  <c:v>260</c:v>
                </c:pt>
                <c:pt idx="18">
                  <c:v>281</c:v>
                </c:pt>
                <c:pt idx="19">
                  <c:v>265</c:v>
                </c:pt>
                <c:pt idx="20">
                  <c:v>235</c:v>
                </c:pt>
                <c:pt idx="21">
                  <c:v>208</c:v>
                </c:pt>
                <c:pt idx="22">
                  <c:v>218</c:v>
                </c:pt>
                <c:pt idx="23">
                  <c:v>254</c:v>
                </c:pt>
                <c:pt idx="24">
                  <c:v>228</c:v>
                </c:pt>
                <c:pt idx="25">
                  <c:v>212</c:v>
                </c:pt>
                <c:pt idx="26">
                  <c:v>207</c:v>
                </c:pt>
                <c:pt idx="27">
                  <c:v>220</c:v>
                </c:pt>
                <c:pt idx="28">
                  <c:v>249</c:v>
                </c:pt>
                <c:pt idx="29">
                  <c:v>291</c:v>
                </c:pt>
                <c:pt idx="30">
                  <c:v>313</c:v>
                </c:pt>
                <c:pt idx="31">
                  <c:v>296</c:v>
                </c:pt>
                <c:pt idx="32">
                  <c:v>263</c:v>
                </c:pt>
                <c:pt idx="33">
                  <c:v>233</c:v>
                </c:pt>
                <c:pt idx="34">
                  <c:v>244</c:v>
                </c:pt>
                <c:pt idx="35">
                  <c:v>284</c:v>
                </c:pt>
              </c:numCache>
            </c:numRef>
          </c:val>
        </c:ser>
        <c:dLbls>
          <c:numFmt formatCode="#,##0" sourceLinked="0"/>
          <c:txPr>
            <a:bodyPr/>
            <a:lstStyle/>
            <a:p>
              <a:pPr>
                <a:defRPr b="0" i="0" strike="noStrike" sz="800" u="none">
                  <a:solidFill>
                    <a:srgbClr val="2C2523"/>
                  </a:solidFill>
                  <a:latin typeface="Arial"/>
                </a:defRPr>
              </a:pPr>
            </a:p>
          </c:txPr>
          <c:dLblPos val="outEnd"/>
          <c:showLegendKey val="0"/>
          <c:showVal val="1"/>
          <c:showCatName val="0"/>
          <c:showSerName val="0"/>
          <c:showPercent val="0"/>
          <c:showBubbleSize val="0"/>
          <c:showLeaderLines val="0"/>
        </c:dLbls>
        <c:gapWidth val="60"/>
        <c:overlap val="0"/>
        <c:axId val="2094734554"/>
        <c:axId val="2094734552"/>
      </c:barChart>
      <c:lineChart>
        <c:grouping val="standard"/>
        <c:varyColors val="0"/>
        <c:ser>
          <c:idx val="1"/>
          <c:order val="1"/>
          <c:tx>
            <c:strRef>
              <c:f>Sheet1!$C$1</c:f>
              <c:strCache>
                <c:ptCount val="1"/>
                <c:pt idx="0">
                  <c:v>Trailing 12-month average</c:v>
                </c:pt>
              </c:strCache>
            </c:strRef>
          </c:tx>
          <c:spPr>
            <a:solidFill>
              <a:srgbClr val="7B0000"/>
            </a:solidFill>
            <a:ln w="22225" cap="flat">
              <a:solidFill>
                <a:srgbClr val="7B0000"/>
              </a:solidFill>
              <a:prstDash val="solid"/>
              <a:round/>
            </a:ln>
            <a:effectLst/>
          </c:spPr>
          <c:marker>
            <c:symbol val="none"/>
            <c:size val="6"/>
            <c:spPr>
              <a:solidFill>
                <a:srgbClr val="7B0000"/>
              </a:solidFill>
              <a:ln w="9525" cap="flat">
                <a:solidFill>
                  <a:srgbClr val="7B0000"/>
                </a:solidFill>
                <a:prstDash val="solid"/>
                <a:round/>
              </a:ln>
              <a:effectLst/>
            </c:spPr>
          </c:marker>
          <c:dPt>
            <c:idx val="35"/>
            <c:marker>
              <c:symbol val="circle"/>
              <c:size val="5"/>
              <c:spPr>
                <a:solidFill>
                  <a:srgbClr val="7B0000"/>
                </a:solidFill>
                <a:ln>
                  <a:noFill/>
                </a:ln>
              </c:spPr>
            </c:marker>
            <c:bubble3D val="0"/>
          </c:dPt>
          <c:dLbls>
            <c:dLbl>
              <c:idx val="35"/>
              <c:numFmt formatCode="#,##0" sourceLinked="0"/>
              <c:spPr>
                <a:noFill/>
                <a:ln>
                  <a:noFill/>
                </a:ln>
              </c:spPr>
              <c:txPr>
                <a:bodyPr/>
                <a:lstStyle/>
                <a:p>
                  <a:pPr>
                    <a:defRPr sz="800" b="1">
                      <a:solidFill>
                        <a:srgbClr val="7B0000"/>
                      </a:solidFill>
                      <a:latin typeface="Arial"/>
                    </a:defRPr>
                  </a:pPr>
                  <a:endParaRPr lang="en-US"/>
                </a:p>
              </c:txPr>
              <c:dLblPos val="t"/>
              <c:showLegendKey val="0"/>
              <c:showVal val="1"/>
              <c:showCatName val="0"/>
              <c:showSerName val="0"/>
              <c:showPercent val="0"/>
              <c:showBubbleSize val="0"/>
            </c:dLbl>
            <c:showLegendKey val="0"/>
            <c:showVal val="0"/>
            <c:showCatName val="0"/>
            <c:showSerName val="0"/>
            <c:showPercent val="0"/>
            <c:showBubbleSize val="0"/>
          </c:dLbls>
          <c:cat>
            <c:multiLvlStrRef>
              <c:f>Sheet1!$A$2:$A$37</c:f>
              <c:multiLvlStrCache>
                <c:ptCount val="36"/>
                <c:lvl>
                  <c:pt idx="0">
                    <c:v>Jan‑23</c:v>
                  </c:pt>
                  <c:pt idx="1">
                    <c:v/>
                  </c:pt>
                  <c:pt idx="2">
                    <c:v/>
                  </c:pt>
                  <c:pt idx="3">
                    <c:v>Apr‑23</c:v>
                  </c:pt>
                  <c:pt idx="4">
                    <c:v/>
                  </c:pt>
                  <c:pt idx="5">
                    <c:v/>
                  </c:pt>
                  <c:pt idx="6">
                    <c:v>Jul‑23</c:v>
                  </c:pt>
                  <c:pt idx="7">
                    <c:v/>
                  </c:pt>
                  <c:pt idx="8">
                    <c:v/>
                  </c:pt>
                  <c:pt idx="9">
                    <c:v>Oct‑23</c:v>
                  </c:pt>
                  <c:pt idx="10">
                    <c:v/>
                  </c:pt>
                  <c:pt idx="11">
                    <c:v/>
                  </c:pt>
                  <c:pt idx="12">
                    <c:v>Jan‑24</c:v>
                  </c:pt>
                  <c:pt idx="13">
                    <c:v/>
                  </c:pt>
                  <c:pt idx="14">
                    <c:v/>
                  </c:pt>
                  <c:pt idx="15">
                    <c:v>Apr‑24</c:v>
                  </c:pt>
                  <c:pt idx="16">
                    <c:v/>
                  </c:pt>
                  <c:pt idx="17">
                    <c:v/>
                  </c:pt>
                  <c:pt idx="18">
                    <c:v>Jul‑24</c:v>
                  </c:pt>
                  <c:pt idx="19">
                    <c:v/>
                  </c:pt>
                  <c:pt idx="20">
                    <c:v/>
                  </c:pt>
                  <c:pt idx="21">
                    <c:v>Oct‑24</c:v>
                  </c:pt>
                  <c:pt idx="22">
                    <c:v/>
                  </c:pt>
                  <c:pt idx="23">
                    <c:v/>
                  </c:pt>
                  <c:pt idx="24">
                    <c:v>Jan‑25</c:v>
                  </c:pt>
                  <c:pt idx="25">
                    <c:v/>
                  </c:pt>
                  <c:pt idx="26">
                    <c:v/>
                  </c:pt>
                  <c:pt idx="27">
                    <c:v>Apr‑25</c:v>
                  </c:pt>
                  <c:pt idx="28">
                    <c:v/>
                  </c:pt>
                  <c:pt idx="29">
                    <c:v/>
                  </c:pt>
                  <c:pt idx="30">
                    <c:v>Jul‑25</c:v>
                  </c:pt>
                  <c:pt idx="31">
                    <c:v/>
                  </c:pt>
                  <c:pt idx="32">
                    <c:v/>
                  </c:pt>
                  <c:pt idx="33">
                    <c:v>Oct‑25</c:v>
                  </c:pt>
                  <c:pt idx="34">
                    <c:v/>
                  </c:pt>
                  <c:pt idx="35">
                    <c:v/>
                  </c:pt>
                </c:lvl>
              </c:multiLvlStrCache>
            </c:multiLvlStrRef>
          </c:cat>
          <c:val>
            <c:numRef>
              <c:f>Sheet1!$C$2:$C$37</c:f>
              <c:numCache>
                <c:formatCode>General</c:formatCode>
                <c:ptCount val="36"/>
                <c:pt idx="11">
                  <c:v>200.58333333333334</c:v>
                </c:pt>
                <c:pt idx="12">
                  <c:v>202.5</c:v>
                </c:pt>
                <c:pt idx="13">
                  <c:v>204.25</c:v>
                </c:pt>
                <c:pt idx="14">
                  <c:v>206</c:v>
                </c:pt>
                <c:pt idx="15">
                  <c:v>207.91666666666666</c:v>
                </c:pt>
                <c:pt idx="16">
                  <c:v>210.08333333333334</c:v>
                </c:pt>
                <c:pt idx="17">
                  <c:v>212.5</c:v>
                </c:pt>
                <c:pt idx="18">
                  <c:v>215.16666666666666</c:v>
                </c:pt>
                <c:pt idx="19">
                  <c:v>217.66666666666666</c:v>
                </c:pt>
                <c:pt idx="20">
                  <c:v>219.91666666666666</c:v>
                </c:pt>
                <c:pt idx="21">
                  <c:v>221.91666666666666</c:v>
                </c:pt>
                <c:pt idx="22">
                  <c:v>224</c:v>
                </c:pt>
                <c:pt idx="23">
                  <c:v>226.41666666666666</c:v>
                </c:pt>
                <c:pt idx="24">
                  <c:v>228.41666666666666</c:v>
                </c:pt>
                <c:pt idx="25">
                  <c:v>230.33333333333334</c:v>
                </c:pt>
                <c:pt idx="26">
                  <c:v>232.25</c:v>
                </c:pt>
                <c:pt idx="27">
                  <c:v>234.25</c:v>
                </c:pt>
                <c:pt idx="28">
                  <c:v>236.41666666666666</c:v>
                </c:pt>
                <c:pt idx="29">
                  <c:v>239</c:v>
                </c:pt>
                <c:pt idx="30">
                  <c:v>241.66666666666666</c:v>
                </c:pt>
                <c:pt idx="31">
                  <c:v>244.25</c:v>
                </c:pt>
                <c:pt idx="32">
                  <c:v>246.58333333333334</c:v>
                </c:pt>
                <c:pt idx="33">
                  <c:v>248.66666666666666</c:v>
                </c:pt>
                <c:pt idx="34">
                  <c:v>250.83333333333334</c:v>
                </c:pt>
                <c:pt idx="35">
                  <c:v>253.33333333333334</c:v>
                </c:pt>
              </c:numCache>
            </c:numRef>
          </c:val>
          <c:smooth val="0"/>
        </c:ser>
        <c:dLbls>
          <c:numFmt formatCode="#,##0" sourceLinked="0"/>
          <c:txPr>
            <a:bodyPr/>
            <a:lstStyle/>
            <a:p>
              <a:pPr>
                <a:defRPr b="0" i="0" strike="noStrike" sz="800" u="none">
                  <a:solidFill>
                    <a:srgbClr val="2C2523"/>
                  </a:solidFill>
                  <a:latin typeface="Arial"/>
                </a:defRPr>
              </a:pPr>
            </a:p>
          </c:txP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rot="600" vert="horz"/>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3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noFill/>
            <a:ln>
              <a:noFill/>
            </a:ln>
          </c:spPr>
          <c:invertIfNegative val="0"/>
          <c:dLbls>
            <c:numFmt formatCode="#,##0;(#,##0);&quot;&quot;" sourceLinked="0"/>
            <c:txPr>
              <a:bodyPr/>
              <a:lstStyle/>
              <a:p>
                <a:pPr>
                  <a:defRPr b="0" i="0" strike="noStrike" sz="800" u="none">
                    <a:solidFill>
                      <a:srgbClr val="2C2523"/>
                    </a:solidFill>
                    <a:latin typeface="Arial"/>
                  </a:defRPr>
                </a:pPr>
              </a:p>
            </c:txPr>
            <c:dLblPos val="ctr"/>
            <c:showLegendKey val="0"/>
            <c:showVal val="0"/>
            <c:showCatName val="0"/>
            <c:showSerName val="0"/>
            <c:showPercent val="0"/>
            <c:showBubbleSize val="0"/>
            <c:showLeaderLines val="0"/>
          </c:dLbls>
          <c:cat>
            <c:multiLvlStrRef>
              <c:f>Sheet1!$A$2:$A$8</c:f>
              <c:multiLvlStrCache>
                <c:ptCount val="7"/>
                <c:lvl>
                  <c:pt idx="0">
                    <c:v>Reported EBITDA</c:v>
                  </c:pt>
                  <c:pt idx="1">
                    <c:v>Normalization adjustments [N]</c:v>
                  </c:pt>
                  <c:pt idx="2">
                    <c:v>Owner salary and payroll taxes [S1, S4]</c:v>
                  </c:pt>
                  <c:pt idx="3">
                    <c:v>SDE</c:v>
                  </c:pt>
                  <c:pt idx="4">
                    <c:v>Market replacement compensation [S2]</c:v>
                  </c:pt>
                  <c:pt idx="5">
                    <c:v>Capital reserve [S3]</c:v>
                  </c:pt>
                  <c:pt idx="6">
                    <c:v>Adj. EBITDA</c:v>
                  </c:pt>
                </c:lvl>
              </c:multiLvlStrCache>
            </c:multiLvlStrRef>
          </c:cat>
          <c:val>
            <c:numRef>
              <c:f>Sheet1!$B$2:$B$8</c:f>
              <c:numCache>
                <c:formatCode>General</c:formatCode>
                <c:ptCount val="7"/>
                <c:pt idx="0">
                  <c:v>0</c:v>
                </c:pt>
                <c:pt idx="1">
                  <c:v>320</c:v>
                </c:pt>
                <c:pt idx="2">
                  <c:v>348</c:v>
                </c:pt>
                <c:pt idx="3">
                  <c:v>0</c:v>
                </c:pt>
                <c:pt idx="4">
                  <c:v>453</c:v>
                </c:pt>
                <c:pt idx="5">
                  <c:v>386</c:v>
                </c:pt>
                <c:pt idx="6">
                  <c:v>0</c:v>
                </c:pt>
              </c:numCache>
            </c:numRef>
          </c:val>
        </c:ser>
        <c:ser>
          <c:idx val="1"/>
          <c:order val="1"/>
          <c:tx>
            <c:strRef>
              <c:f>Sheet1!$C$1</c:f>
              <c:strCache>
                <c:ptCount val="1"/>
                <c:pt idx="0">
                  <c:v>Total</c:v>
                </c:pt>
              </c:strCache>
            </c:strRef>
          </c:tx>
          <c:spPr>
            <a:solidFill>
              <a:srgbClr val="7B0000"/>
            </a:solidFill>
            <a:effectLst/>
          </c:spPr>
          <c:invertIfNegative val="0"/>
          <c:dLbls>
            <c:numFmt formatCode="#,##0;(#,##0);&quot;&quot;"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Reported EBITDA</c:v>
                  </c:pt>
                  <c:pt idx="1">
                    <c:v>Normalization adjustments [N]</c:v>
                  </c:pt>
                  <c:pt idx="2">
                    <c:v>Owner salary and payroll taxes [S1, S4]</c:v>
                  </c:pt>
                  <c:pt idx="3">
                    <c:v>SDE</c:v>
                  </c:pt>
                  <c:pt idx="4">
                    <c:v>Market replacement compensation [S2]</c:v>
                  </c:pt>
                  <c:pt idx="5">
                    <c:v>Capital reserve [S3]</c:v>
                  </c:pt>
                  <c:pt idx="6">
                    <c:v>Adj. EBITDA</c:v>
                  </c:pt>
                </c:lvl>
              </c:multiLvlStrCache>
            </c:multiLvlStrRef>
          </c:cat>
          <c:val>
            <c:numRef>
              <c:f>Sheet1!$C$2:$C$8</c:f>
              <c:numCache>
                <c:formatCode>General</c:formatCode>
                <c:ptCount val="7"/>
                <c:pt idx="0">
                  <c:v>320</c:v>
                </c:pt>
                <c:pt idx="1">
                  <c:v>0</c:v>
                </c:pt>
                <c:pt idx="2">
                  <c:v>0</c:v>
                </c:pt>
                <c:pt idx="3">
                  <c:v>562</c:v>
                </c:pt>
                <c:pt idx="4">
                  <c:v>0</c:v>
                </c:pt>
                <c:pt idx="5">
                  <c:v>0</c:v>
                </c:pt>
                <c:pt idx="6">
                  <c:v>386</c:v>
                </c:pt>
              </c:numCache>
            </c:numRef>
          </c:val>
        </c:ser>
        <c:ser>
          <c:idx val="2"/>
          <c:order val="2"/>
          <c:tx>
            <c:strRef>
              <c:f>Sheet1!$D$1</c:f>
              <c:strCache>
                <c:ptCount val="1"/>
                <c:pt idx="0">
                  <c:v>Increase</c:v>
                </c:pt>
              </c:strCache>
            </c:strRef>
          </c:tx>
          <c:spPr>
            <a:solidFill>
              <a:srgbClr val="DCC7C4"/>
            </a:solidFill>
            <a:effectLst/>
          </c:spPr>
          <c:invertIfNegative val="0"/>
          <c:dLbls>
            <c:dLbl>
              <c:idx val="1"/>
              <c:delete val="1"/>
            </c:dLbl>
            <c:numFmt formatCode="#,##0;(#,##0);&quot;&quot;" sourceLinked="0"/>
            <c:txPr>
              <a:bodyPr/>
              <a:lstStyle/>
              <a:p>
                <a:pPr>
                  <a:defRPr b="0" i="0" strike="noStrike" sz="800" u="none">
                    <a:solidFill>
                      <a:srgbClr val="2C2523"/>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Reported EBITDA</c:v>
                  </c:pt>
                  <c:pt idx="1">
                    <c:v>Normalization adjustments [N]</c:v>
                  </c:pt>
                  <c:pt idx="2">
                    <c:v>Owner salary and payroll taxes [S1, S4]</c:v>
                  </c:pt>
                  <c:pt idx="3">
                    <c:v>SDE</c:v>
                  </c:pt>
                  <c:pt idx="4">
                    <c:v>Market replacement compensation [S2]</c:v>
                  </c:pt>
                  <c:pt idx="5">
                    <c:v>Capital reserve [S3]</c:v>
                  </c:pt>
                  <c:pt idx="6">
                    <c:v>Adj. EBITDA</c:v>
                  </c:pt>
                </c:lvl>
              </c:multiLvlStrCache>
            </c:multiLvlStrRef>
          </c:cat>
          <c:val>
            <c:numRef>
              <c:f>Sheet1!$D$2:$D$8</c:f>
              <c:numCache>
                <c:formatCode>General</c:formatCode>
                <c:ptCount val="7"/>
                <c:pt idx="0">
                  <c:v>0</c:v>
                </c:pt>
                <c:pt idx="1">
                  <c:v>28</c:v>
                </c:pt>
                <c:pt idx="2">
                  <c:v>214</c:v>
                </c:pt>
                <c:pt idx="3">
                  <c:v>0</c:v>
                </c:pt>
                <c:pt idx="4">
                  <c:v>0</c:v>
                </c:pt>
                <c:pt idx="5">
                  <c:v>0</c:v>
                </c:pt>
                <c:pt idx="6">
                  <c:v>0</c:v>
                </c:pt>
              </c:numCache>
            </c:numRef>
          </c:val>
        </c:ser>
        <c:ser>
          <c:idx val="3"/>
          <c:order val="3"/>
          <c:tx>
            <c:strRef>
              <c:f>Sheet1!$E$1</c:f>
              <c:strCache>
                <c:ptCount val="1"/>
                <c:pt idx="0">
                  <c:v>Decrease</c:v>
                </c:pt>
              </c:strCache>
            </c:strRef>
          </c:tx>
          <c:spPr>
            <a:solidFill>
              <a:srgbClr val="5E5552"/>
            </a:solidFill>
            <a:effectLst/>
          </c:spPr>
          <c:invertIfNegative val="0"/>
          <c:dLbls>
            <c:numFmt formatCode="(#,##0);(#,##0);&quot;&quot;"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Reported EBITDA</c:v>
                  </c:pt>
                  <c:pt idx="1">
                    <c:v>Normalization adjustments [N]</c:v>
                  </c:pt>
                  <c:pt idx="2">
                    <c:v>Owner salary and payroll taxes [S1, S4]</c:v>
                  </c:pt>
                  <c:pt idx="3">
                    <c:v>SDE</c:v>
                  </c:pt>
                  <c:pt idx="4">
                    <c:v>Market replacement compensation [S2]</c:v>
                  </c:pt>
                  <c:pt idx="5">
                    <c:v>Capital reserve [S3]</c:v>
                  </c:pt>
                  <c:pt idx="6">
                    <c:v>Adj. EBITDA</c:v>
                  </c:pt>
                </c:lvl>
              </c:multiLvlStrCache>
            </c:multiLvlStrRef>
          </c:cat>
          <c:val>
            <c:numRef>
              <c:f>Sheet1!$E$2:$E$8</c:f>
              <c:numCache>
                <c:formatCode>General</c:formatCode>
                <c:ptCount val="7"/>
                <c:pt idx="0">
                  <c:v>0</c:v>
                </c:pt>
                <c:pt idx="1">
                  <c:v>0</c:v>
                </c:pt>
                <c:pt idx="2">
                  <c:v>0</c:v>
                </c:pt>
                <c:pt idx="3">
                  <c:v>0</c:v>
                </c:pt>
                <c:pt idx="4">
                  <c:v>109</c:v>
                </c:pt>
                <c:pt idx="5">
                  <c:v>67</c:v>
                </c:pt>
                <c:pt idx="6">
                  <c:v>0</c:v>
                </c:pt>
              </c:numCache>
            </c:numRef>
          </c:val>
        </c:ser>
        <c:ser>
          <c:idx val="4"/>
          <c:order val="4"/>
          <c:tx>
            <c:strRef>
              <c:f>Sheet1!$F$1</c:f>
              <c:strCache>
                <c:ptCount val="1"/>
                <c:pt idx="0">
                  <c:v>Label</c:v>
                </c:pt>
              </c:strCache>
            </c:strRef>
          </c:tx>
          <c:spPr>
            <a:noFill/>
            <a:ln>
              <a:noFill/>
            </a:ln>
          </c:spPr>
          <c:invertIfNegative val="0"/>
          <c:dLbls>
            <c:dLbl>
              <c:idx val="1"/>
              <c:numFmt formatCode="&quot;28&quot;" sourceLinked="0"/>
              <c:spPr>
                <a:noFill/>
                <a:ln>
                  <a:noFill/>
                </a:ln>
              </c:spPr>
              <c:txPr>
                <a:bodyPr/>
                <a:lstStyle/>
                <a:p>
                  <a:pPr>
                    <a:defRPr sz="800">
                      <a:solidFill>
                        <a:srgbClr val="2C2523"/>
                      </a:solidFill>
                      <a:latin typeface="Arial"/>
                    </a:defRPr>
                  </a:pPr>
                  <a:endParaRPr lang="en-US"/>
                </a:p>
              </c:txPr>
              <c:dLblPos val="inBase"/>
              <c:showLegendKey val="0"/>
              <c:showVal val="1"/>
              <c:showCatName val="0"/>
              <c:showSerName val="0"/>
              <c:showPercent val="0"/>
              <c:showBubbleSize val="0"/>
            </c:dLbl>
            <c:numFmt formatCode="#,##0;(#,##0);&quot;&quot;" sourceLinked="0"/>
            <c:txPr>
              <a:bodyPr/>
              <a:lstStyle/>
              <a:p>
                <a:pPr>
                  <a:defRPr b="0" i="0" strike="noStrike" sz="800" u="none">
                    <a:solidFill>
                      <a:srgbClr val="2C2523"/>
                    </a:solidFill>
                    <a:latin typeface="Arial"/>
                  </a:defRPr>
                </a:pPr>
              </a:p>
            </c:txPr>
            <c:dLblPos val="ctr"/>
            <c:showLegendKey val="0"/>
            <c:showVal val="0"/>
            <c:showCatName val="0"/>
            <c:showSerName val="0"/>
            <c:showPercent val="0"/>
            <c:showBubbleSize val="0"/>
            <c:showLeaderLines val="0"/>
          </c:dLbls>
          <c:cat>
            <c:multiLvlStrRef>
              <c:f>Sheet1!$A$2:$A$8</c:f>
              <c:multiLvlStrCache>
                <c:ptCount val="7"/>
                <c:lvl>
                  <c:pt idx="0">
                    <c:v>Reported EBITDA</c:v>
                  </c:pt>
                  <c:pt idx="1">
                    <c:v>Normalization adjustments [N]</c:v>
                  </c:pt>
                  <c:pt idx="2">
                    <c:v>Owner salary and payroll taxes [S1, S4]</c:v>
                  </c:pt>
                  <c:pt idx="3">
                    <c:v>SDE</c:v>
                  </c:pt>
                  <c:pt idx="4">
                    <c:v>Market replacement compensation [S2]</c:v>
                  </c:pt>
                  <c:pt idx="5">
                    <c:v>Capital reserve [S3]</c:v>
                  </c:pt>
                  <c:pt idx="6">
                    <c:v>Adj. EBITDA</c:v>
                  </c:pt>
                </c:lvl>
              </c:multiLvlStrCache>
            </c:multiLvlStrRef>
          </c:cat>
          <c:val>
            <c:numRef>
              <c:f>Sheet1!$F$2:$F$8</c:f>
              <c:numCache>
                <c:formatCode>General</c:formatCode>
                <c:ptCount val="7"/>
                <c:pt idx="0">
                  <c:v>0</c:v>
                </c:pt>
                <c:pt idx="1">
                  <c:v>36.42</c:v>
                </c:pt>
                <c:pt idx="2">
                  <c:v>0</c:v>
                </c:pt>
                <c:pt idx="3">
                  <c:v>0</c:v>
                </c:pt>
                <c:pt idx="4">
                  <c:v>0</c:v>
                </c:pt>
                <c:pt idx="5">
                  <c:v>0</c:v>
                </c:pt>
                <c:pt idx="6">
                  <c:v>0</c:v>
                </c:pt>
              </c:numCache>
            </c:numRef>
          </c:val>
        </c:ser>
        <c:dLbls>
          <c:numFmt formatCode="#,##0;(#,##0);&quot;&quot;" sourceLinked="0"/>
          <c:txPr>
            <a:bodyPr/>
            <a:lstStyle/>
            <a:p>
              <a:pPr>
                <a:defRPr b="0" i="0" strike="noStrike" sz="800" u="none">
                  <a:solidFill>
                    <a:srgbClr val="2C2523"/>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C2BAB8"/>
            </a:solidFill>
            <a:prstDash val="solid"/>
            <a:round/>
          </a:ln>
        </c:spPr>
        <c:txPr>
          <a:bodyPr rot="0" vert="horz"/>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60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5.xml"/><Relationship Id="rId3" Type="http://schemas.openxmlformats.org/officeDocument/2006/relationships/chart" Target="/ppt/charts/chart6.xml"/><Relationship Id="rId1"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7B0000"/>
          </a:solidFill>
          <a:ln w="12700">
            <a:solidFill>
              <a:srgbClr val="7B0000"/>
            </a:solidFill>
            <a:prstDash val="solid"/>
          </a:ln>
        </p:spPr>
      </p:sp>
      <p:pic>
        <p:nvPicPr>
          <p:cNvPr id="3" name="Image 0" descr="AMB Advisory Services logo">    </p:cNvPr>
          <p:cNvPicPr>
            <a:picLocks noChangeAspect="1"/>
          </p:cNvPicPr>
          <p:nvPr/>
        </p:nvPicPr>
        <p:blipFill>
          <a:blip r:embed="rId1"/>
          <a:stretch>
            <a:fillRect/>
          </a:stretch>
        </p:blipFill>
        <p:spPr>
          <a:xfrm>
            <a:off x="640080" y="566928"/>
            <a:ext cx="2194560" cy="714146"/>
          </a:xfrm>
          <a:prstGeom prst="rect">
            <a:avLst/>
          </a:prstGeom>
        </p:spPr>
      </p:pic>
      <p:sp>
        <p:nvSpPr>
          <p:cNvPr id="4" name="Text 1"/>
          <p:cNvSpPr txBox="1"/>
          <p:nvPr/>
        </p:nvSpPr>
        <p:spPr>
          <a:xfrm>
            <a:off x="640080" y="2788920"/>
            <a:ext cx="10058400" cy="777240"/>
          </a:xfrm>
          <a:prstGeom prst="rect">
            <a:avLst/>
          </a:prstGeom>
          <a:noFill/>
          <a:ln/>
        </p:spPr>
        <p:txBody>
          <a:bodyPr wrap="square" lIns="0" tIns="0" rIns="0" bIns="0" rtlCol="0" anchor="b"/>
          <a:lstStyle/>
          <a:p>
            <a:pPr indent="0" marL="0">
              <a:buNone/>
            </a:pPr>
            <a:r>
              <a:rPr lang="en-US" sz="4000" dirty="0">
                <a:solidFill>
                  <a:srgbClr val="FFFFFF"/>
                </a:solidFill>
                <a:latin typeface="Georgia" pitchFamily="34" charset="0"/>
                <a:ea typeface="Georgia" pitchFamily="34" charset="-122"/>
                <a:cs typeface="Georgia" pitchFamily="34" charset="-120"/>
              </a:rPr>
              <a:t>Project Ridgeline</a:t>
            </a:r>
            <a:endParaRPr lang="en-US" sz="4000" dirty="0"/>
          </a:p>
        </p:txBody>
      </p:sp>
      <p:sp>
        <p:nvSpPr>
          <p:cNvPr id="5" name="Shape 2"/>
          <p:cNvSpPr/>
          <p:nvPr/>
        </p:nvSpPr>
        <p:spPr>
          <a:xfrm>
            <a:off x="658368" y="3703320"/>
            <a:ext cx="1828800" cy="0"/>
          </a:xfrm>
          <a:prstGeom prst="line">
            <a:avLst/>
          </a:prstGeom>
          <a:noFill/>
          <a:ln w="12700">
            <a:solidFill>
              <a:srgbClr val="C9A227"/>
            </a:solidFill>
            <a:prstDash val="solid"/>
          </a:ln>
        </p:spPr>
      </p:sp>
      <p:sp>
        <p:nvSpPr>
          <p:cNvPr id="6" name="Text 3"/>
          <p:cNvSpPr txBox="1"/>
          <p:nvPr/>
        </p:nvSpPr>
        <p:spPr>
          <a:xfrm>
            <a:off x="640080" y="3822192"/>
            <a:ext cx="8229600" cy="292608"/>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Confidential Information Memorandum</a:t>
            </a:r>
            <a:endParaRPr lang="en-US" sz="1600" dirty="0"/>
          </a:p>
        </p:txBody>
      </p:sp>
      <p:sp>
        <p:nvSpPr>
          <p:cNvPr id="7" name="Text 4"/>
          <p:cNvSpPr txBox="1"/>
          <p:nvPr/>
        </p:nvSpPr>
        <p:spPr>
          <a:xfrm>
            <a:off x="640080" y="4169664"/>
            <a:ext cx="5486400" cy="219456"/>
          </a:xfrm>
          <a:prstGeom prst="rect">
            <a:avLst/>
          </a:prstGeom>
          <a:noFill/>
          <a:ln/>
        </p:spPr>
        <p:txBody>
          <a:bodyPr wrap="square" lIns="0" tIns="0" rIns="0" bIns="0" rtlCol="0" anchor="t"/>
          <a:lstStyle/>
          <a:p>
            <a:pPr indent="0" marL="0">
              <a:buNone/>
            </a:pPr>
            <a:r>
              <a:rPr lang="en-US" sz="1100" dirty="0">
                <a:solidFill>
                  <a:srgbClr val="E9D3D5"/>
                </a:solidFill>
                <a:latin typeface="Arial" pitchFamily="34" charset="0"/>
                <a:ea typeface="Arial" pitchFamily="34" charset="-122"/>
                <a:cs typeface="Arial" pitchFamily="34" charset="-120"/>
              </a:rPr>
              <a:t>September 2026</a:t>
            </a:r>
            <a:endParaRPr lang="en-US" sz="1100" dirty="0"/>
          </a:p>
        </p:txBody>
      </p:sp>
      <p:sp>
        <p:nvSpPr>
          <p:cNvPr id="8" name="Text 5"/>
          <p:cNvSpPr txBox="1"/>
          <p:nvPr/>
        </p:nvSpPr>
        <p:spPr>
          <a:xfrm>
            <a:off x="640080" y="6144768"/>
            <a:ext cx="8229600" cy="219456"/>
          </a:xfrm>
          <a:prstGeom prst="rect">
            <a:avLst/>
          </a:prstGeom>
          <a:noFill/>
          <a:ln/>
        </p:spPr>
        <p:txBody>
          <a:bodyPr wrap="square" lIns="0" tIns="0" rIns="0" bIns="0" rtlCol="0" anchor="ctr"/>
          <a:lstStyle/>
          <a:p>
            <a:pPr indent="0" marL="0">
              <a:buNone/>
            </a:pPr>
            <a:r>
              <a:rPr lang="en-US" sz="800" dirty="0">
                <a:solidFill>
                  <a:srgbClr val="E9D3D5"/>
                </a:solidFill>
                <a:latin typeface="Arial" pitchFamily="34" charset="0"/>
                <a:ea typeface="Arial" pitchFamily="34" charset="-122"/>
                <a:cs typeface="Arial" pitchFamily="34" charset="-120"/>
              </a:rPr>
              <a:t>Strictly private and confidential. Prepared by AMB Advisory Services LLC for recipients who have executed a confidentiality agreement with AMB Advisory.</a:t>
            </a:r>
            <a:endParaRPr lang="en-US" sz="800" dirty="0"/>
          </a:p>
        </p:txBody>
      </p:sp>
      <p:sp>
        <p:nvSpPr>
          <p:cNvPr id="9" name="Text 6"/>
          <p:cNvSpPr txBox="1"/>
          <p:nvPr/>
        </p:nvSpPr>
        <p:spPr>
          <a:xfrm>
            <a:off x="8869680" y="6144768"/>
            <a:ext cx="2681935" cy="219456"/>
          </a:xfrm>
          <a:prstGeom prst="rect">
            <a:avLst/>
          </a:prstGeom>
          <a:noFill/>
          <a:ln/>
        </p:spPr>
        <p:txBody>
          <a:bodyPr wrap="square" lIns="0" tIns="0" rIns="0" bIns="0" rtlCol="0" anchor="ctr"/>
          <a:lstStyle/>
          <a:p>
            <a:pPr algn="r" indent="0" marL="0">
              <a:buNone/>
            </a:pPr>
            <a:r>
              <a:rPr lang="en-US" sz="800" dirty="0">
                <a:solidFill>
                  <a:srgbClr val="E9D3D5"/>
                </a:solidFill>
                <a:latin typeface="Arial" pitchFamily="34" charset="0"/>
                <a:ea typeface="Arial" pitchFamily="34" charset="-122"/>
                <a:cs typeface="Arial" pitchFamily="34" charset="-120"/>
              </a:rPr>
              <a:t>Tampa, Florida  ·  ambadvisoryservices.com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buNone/>
            </a:pPr>
            <a:r>
              <a:rPr lang="en-US" sz="2000" b="1" dirty="0">
                <a:solidFill>
                  <a:srgbClr val="7B0000"/>
                </a:solidFill>
                <a:latin typeface="Georgia" pitchFamily="34" charset="0"/>
                <a:ea typeface="Georgia" pitchFamily="34" charset="-122"/>
                <a:cs typeface="Georgia" pitchFamily="34" charset="-120"/>
              </a:rPr>
              <a:t>Disclaimer &amp; Confidentiality Notice</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1115568"/>
            <a:ext cx="5594299" cy="4754880"/>
          </a:xfrm>
          <a:prstGeom prst="rect">
            <a:avLst/>
          </a:prstGeom>
          <a:noFill/>
          <a:ln/>
        </p:spPr>
        <p:txBody>
          <a:bodyPr wrap="square" lIns="0" tIns="0" rIns="0" bIns="0" rtlCol="0" anchor="t"/>
          <a:lstStyle/>
          <a:p>
            <a:pPr indent="0" marL="0">
              <a:lnSpc>
                <a:spcPct val="110000"/>
              </a:lnSpc>
              <a:spcAft>
                <a:spcPts val="600"/>
              </a:spcAft>
              <a:buNone/>
            </a:pPr>
            <a:r>
              <a:rPr lang="en-US" sz="800" dirty="0">
                <a:solidFill>
                  <a:srgbClr val="2C2523"/>
                </a:solidFill>
                <a:latin typeface="Arial" pitchFamily="34" charset="0"/>
                <a:ea typeface="Arial" pitchFamily="34" charset="-122"/>
                <a:cs typeface="Arial" pitchFamily="34" charset="-120"/>
              </a:rPr>
              <a:t>This Confidential Information Memorandum (“CIM”) has been prepared by AMB Advisory Services LLC (“AMB Advisory” or “Broker”) on behalf of the seller identified herein (“Seller”) solely for the purpose of providing preliminary information to prospective purchasers (“Recipient”) regarding a potential acquisition of the business described in this document (the “Company”).</a:t>
            </a:r>
            <a:endParaRPr lang="en-US" sz="800" dirty="0"/>
          </a:p>
          <a:p>
            <a:pPr indent="0" marL="0">
              <a:lnSpc>
                <a:spcPct val="110000"/>
              </a:lnSpc>
              <a:spcAft>
                <a:spcPts val="600"/>
              </a:spcAft>
              <a:buNone/>
            </a:pPr>
            <a:r>
              <a:rPr lang="en-US" sz="800" b="1" dirty="0">
                <a:solidFill>
                  <a:srgbClr val="7B0000"/>
                </a:solidFill>
                <a:latin typeface="Arial" pitchFamily="34" charset="0"/>
                <a:ea typeface="Arial" pitchFamily="34" charset="-122"/>
                <a:cs typeface="Arial" pitchFamily="34" charset="-120"/>
              </a:rPr>
              <a:t>No Representation or Warranty</a:t>
            </a:r>
            <a:endParaRPr lang="en-US" sz="800" dirty="0"/>
          </a:p>
          <a:p>
            <a:pPr indent="0" marL="0">
              <a:lnSpc>
                <a:spcPct val="110000"/>
              </a:lnSpc>
              <a:spcAft>
                <a:spcPts val="600"/>
              </a:spcAft>
              <a:buNone/>
            </a:pPr>
            <a:r>
              <a:rPr lang="en-US" sz="800" dirty="0">
                <a:solidFill>
                  <a:srgbClr val="2C2523"/>
                </a:solidFill>
                <a:latin typeface="Arial" pitchFamily="34" charset="0"/>
                <a:ea typeface="Arial" pitchFamily="34" charset="-122"/>
                <a:cs typeface="Arial" pitchFamily="34" charset="-120"/>
              </a:rPr>
              <a:t>This CIM has been prepared from information provided by the Seller and from other sources believed to be reliable. Neither AMB Advisory nor the Seller makes any representation or warranty, express or implied, as to the accuracy or completeness of this CIM or any of its contents. All projections, estimates, and forward-looking statements contained herein reflect assumptions and judgments that may or may not prove correct. No reliance should be placed on the information contained in this CIM for the purpose of making any investment or financial decision.</a:t>
            </a:r>
            <a:endParaRPr lang="en-US" sz="800" dirty="0"/>
          </a:p>
          <a:p>
            <a:pPr indent="0" marL="0">
              <a:lnSpc>
                <a:spcPct val="110000"/>
              </a:lnSpc>
              <a:spcAft>
                <a:spcPts val="600"/>
              </a:spcAft>
              <a:buNone/>
            </a:pPr>
            <a:r>
              <a:rPr lang="en-US" sz="800" b="1" dirty="0">
                <a:solidFill>
                  <a:srgbClr val="7B0000"/>
                </a:solidFill>
                <a:latin typeface="Arial" pitchFamily="34" charset="0"/>
                <a:ea typeface="Arial" pitchFamily="34" charset="-122"/>
                <a:cs typeface="Arial" pitchFamily="34" charset="-120"/>
              </a:rPr>
              <a:t>Confidentiality Obligations</a:t>
            </a:r>
            <a:endParaRPr lang="en-US" sz="800" dirty="0"/>
          </a:p>
          <a:p>
            <a:pPr indent="0" marL="0">
              <a:lnSpc>
                <a:spcPct val="110000"/>
              </a:lnSpc>
              <a:spcAft>
                <a:spcPts val="600"/>
              </a:spcAft>
              <a:buNone/>
            </a:pPr>
            <a:r>
              <a:rPr lang="en-US" sz="800" dirty="0">
                <a:solidFill>
                  <a:srgbClr val="2C2523"/>
                </a:solidFill>
                <a:latin typeface="Arial" pitchFamily="34" charset="0"/>
                <a:ea typeface="Arial" pitchFamily="34" charset="-122"/>
                <a:cs typeface="Arial" pitchFamily="34" charset="-120"/>
              </a:rPr>
              <a:t>By accepting this CIM, the Recipient acknowledges that (i) all information contained herein is confidential and proprietary; (ii) the Recipient will use this CIM solely to evaluate a potential transaction with the Company; (iii) the Recipient will not reproduce, copy, or distribute this CIM or any portion thereof without the prior written consent of AMB Advisory; and (iv) the Recipient will maintain the confidentiality of all information herein with at least the same degree of care used to protect its own confidential information.</a:t>
            </a:r>
            <a:endParaRPr lang="en-US" sz="800" dirty="0"/>
          </a:p>
        </p:txBody>
      </p:sp>
      <p:sp>
        <p:nvSpPr>
          <p:cNvPr id="5" name="Text 3"/>
          <p:cNvSpPr txBox="1"/>
          <p:nvPr/>
        </p:nvSpPr>
        <p:spPr>
          <a:xfrm>
            <a:off x="6188659" y="1115568"/>
            <a:ext cx="5594299" cy="4754880"/>
          </a:xfrm>
          <a:prstGeom prst="rect">
            <a:avLst/>
          </a:prstGeom>
          <a:noFill/>
          <a:ln/>
        </p:spPr>
        <p:txBody>
          <a:bodyPr wrap="square" lIns="0" tIns="0" rIns="0" bIns="0" rtlCol="0" anchor="t"/>
          <a:lstStyle/>
          <a:p>
            <a:pPr indent="0" marL="0">
              <a:lnSpc>
                <a:spcPct val="110000"/>
              </a:lnSpc>
              <a:spcAft>
                <a:spcPts val="600"/>
              </a:spcAft>
              <a:buNone/>
            </a:pPr>
            <a:r>
              <a:rPr lang="en-US" sz="800" b="1" dirty="0">
                <a:solidFill>
                  <a:srgbClr val="7B0000"/>
                </a:solidFill>
                <a:latin typeface="Arial" pitchFamily="34" charset="0"/>
                <a:ea typeface="Arial" pitchFamily="34" charset="-122"/>
                <a:cs typeface="Arial" pitchFamily="34" charset="-120"/>
              </a:rPr>
              <a:t>No Offer or Solicitation</a:t>
            </a:r>
            <a:endParaRPr lang="en-US" sz="800" dirty="0"/>
          </a:p>
          <a:p>
            <a:pPr indent="0" marL="0">
              <a:lnSpc>
                <a:spcPct val="110000"/>
              </a:lnSpc>
              <a:spcAft>
                <a:spcPts val="600"/>
              </a:spcAft>
              <a:buNone/>
            </a:pPr>
            <a:r>
              <a:rPr lang="en-US" sz="800" dirty="0">
                <a:solidFill>
                  <a:srgbClr val="2C2523"/>
                </a:solidFill>
                <a:latin typeface="Arial" pitchFamily="34" charset="0"/>
                <a:ea typeface="Arial" pitchFamily="34" charset="-122"/>
                <a:cs typeface="Arial" pitchFamily="34" charset="-120"/>
              </a:rPr>
              <a:t>This CIM does not constitute an offer to sell or a solicitation of an offer to buy any security or business interest. Any offer or solicitation will be made only by means of a definitive purchase agreement and related transaction documents, which will supersede all prior representations, warranties, and agreements made in connection with this CIM.</a:t>
            </a:r>
            <a:endParaRPr lang="en-US" sz="800" dirty="0"/>
          </a:p>
          <a:p>
            <a:pPr indent="0" marL="0">
              <a:lnSpc>
                <a:spcPct val="110000"/>
              </a:lnSpc>
              <a:spcAft>
                <a:spcPts val="600"/>
              </a:spcAft>
              <a:buNone/>
            </a:pPr>
            <a:r>
              <a:rPr lang="en-US" sz="800" b="1" dirty="0">
                <a:solidFill>
                  <a:srgbClr val="7B0000"/>
                </a:solidFill>
                <a:latin typeface="Arial" pitchFamily="34" charset="0"/>
                <a:ea typeface="Arial" pitchFamily="34" charset="-122"/>
                <a:cs typeface="Arial" pitchFamily="34" charset="-120"/>
              </a:rPr>
              <a:t>Broker Disclosure</a:t>
            </a:r>
            <a:endParaRPr lang="en-US" sz="800" dirty="0"/>
          </a:p>
          <a:p>
            <a:pPr indent="0" marL="0">
              <a:lnSpc>
                <a:spcPct val="110000"/>
              </a:lnSpc>
              <a:spcAft>
                <a:spcPts val="600"/>
              </a:spcAft>
              <a:buNone/>
            </a:pPr>
            <a:r>
              <a:rPr lang="en-US" sz="800" dirty="0">
                <a:solidFill>
                  <a:srgbClr val="2C2523"/>
                </a:solidFill>
                <a:latin typeface="Arial" pitchFamily="34" charset="0"/>
                <a:ea typeface="Arial" pitchFamily="34" charset="-122"/>
                <a:cs typeface="Arial" pitchFamily="34" charset="-120"/>
              </a:rPr>
              <a:t>AMB Advisory Services LLC is acting as exclusive business broker and/or M&amp;A advisor to the Seller in connection with this potential transaction. AMB Advisory represents the Seller’s interests and does not represent the Recipient or any prospective purchaser. AMB Advisory’s compensation is contingent upon the successful closing of a transaction and is paid by the Seller.</a:t>
            </a:r>
            <a:endParaRPr lang="en-US" sz="800" dirty="0"/>
          </a:p>
          <a:p>
            <a:pPr indent="0" marL="0">
              <a:lnSpc>
                <a:spcPct val="110000"/>
              </a:lnSpc>
              <a:spcAft>
                <a:spcPts val="600"/>
              </a:spcAft>
              <a:buNone/>
            </a:pPr>
            <a:r>
              <a:rPr lang="en-US" sz="800" b="1" dirty="0">
                <a:solidFill>
                  <a:srgbClr val="7B0000"/>
                </a:solidFill>
                <a:latin typeface="Arial" pitchFamily="34" charset="0"/>
                <a:ea typeface="Arial" pitchFamily="34" charset="-122"/>
                <a:cs typeface="Arial" pitchFamily="34" charset="-120"/>
              </a:rPr>
              <a:t>Third-Party Information and Financial Data</a:t>
            </a:r>
            <a:endParaRPr lang="en-US" sz="800" dirty="0"/>
          </a:p>
          <a:p>
            <a:pPr indent="0" marL="0">
              <a:lnSpc>
                <a:spcPct val="110000"/>
              </a:lnSpc>
              <a:spcAft>
                <a:spcPts val="600"/>
              </a:spcAft>
              <a:buNone/>
            </a:pPr>
            <a:r>
              <a:rPr lang="en-US" sz="800" dirty="0">
                <a:solidFill>
                  <a:srgbClr val="2C2523"/>
                </a:solidFill>
                <a:latin typeface="Arial" pitchFamily="34" charset="0"/>
                <a:ea typeface="Arial" pitchFamily="34" charset="-122"/>
                <a:cs typeface="Arial" pitchFamily="34" charset="-120"/>
              </a:rPr>
              <a:t>Financial statements and supporting data included in this CIM have been provided by the Seller and have not been independently verified or audited by AMB Advisory. Recipients are encouraged to conduct their own independent due diligence, including review of financial records by a qualified accountant, prior to making any investment decision. Past financial performance is not indicative of future results.</a:t>
            </a:r>
            <a:endParaRPr lang="en-US" sz="800" dirty="0"/>
          </a:p>
          <a:p>
            <a:pPr indent="0" marL="0">
              <a:lnSpc>
                <a:spcPct val="110000"/>
              </a:lnSpc>
              <a:spcAft>
                <a:spcPts val="600"/>
              </a:spcAft>
              <a:buNone/>
            </a:pPr>
            <a:r>
              <a:rPr lang="en-US" sz="800" b="1" dirty="0">
                <a:solidFill>
                  <a:srgbClr val="7B0000"/>
                </a:solidFill>
                <a:latin typeface="Arial" pitchFamily="34" charset="0"/>
                <a:ea typeface="Arial" pitchFamily="34" charset="-122"/>
                <a:cs typeface="Arial" pitchFamily="34" charset="-120"/>
              </a:rPr>
              <a:t>Return of Information</a:t>
            </a:r>
            <a:endParaRPr lang="en-US" sz="800" dirty="0"/>
          </a:p>
          <a:p>
            <a:pPr indent="0" marL="0">
              <a:lnSpc>
                <a:spcPct val="110000"/>
              </a:lnSpc>
              <a:spcAft>
                <a:spcPts val="600"/>
              </a:spcAft>
              <a:buNone/>
            </a:pPr>
            <a:r>
              <a:rPr lang="en-US" sz="800" dirty="0">
                <a:solidFill>
                  <a:srgbClr val="2C2523"/>
                </a:solidFill>
                <a:latin typeface="Arial" pitchFamily="34" charset="0"/>
                <a:ea typeface="Arial" pitchFamily="34" charset="-122"/>
                <a:cs typeface="Arial" pitchFamily="34" charset="-120"/>
              </a:rPr>
              <a:t>If the Recipient elects not to pursue a transaction with the Company, the Recipient agrees to promptly return or destroy all copies of this CIM and any related materials upon request by AMB Advisory. The confidentiality obligations set forth herein shall survive any such return or destruction.</a:t>
            </a:r>
            <a:endParaRPr lang="en-US" sz="800" dirty="0"/>
          </a:p>
        </p:txBody>
      </p:sp>
      <p:sp>
        <p:nvSpPr>
          <p:cNvPr id="6" name="Shape 4"/>
          <p:cNvSpPr/>
          <p:nvPr/>
        </p:nvSpPr>
        <p:spPr>
          <a:xfrm>
            <a:off x="6097219" y="1115568"/>
            <a:ext cx="0" cy="4754880"/>
          </a:xfrm>
          <a:prstGeom prst="line">
            <a:avLst/>
          </a:prstGeom>
          <a:noFill/>
          <a:ln w="6350">
            <a:solidFill>
              <a:srgbClr val="C2BAB8"/>
            </a:solidFill>
            <a:prstDash val="solid"/>
          </a:ln>
        </p:spPr>
      </p:sp>
      <p:sp>
        <p:nvSpPr>
          <p:cNvPr id="7" name="Shape 5"/>
          <p:cNvSpPr/>
          <p:nvPr/>
        </p:nvSpPr>
        <p:spPr>
          <a:xfrm>
            <a:off x="411480" y="6400800"/>
            <a:ext cx="11368735" cy="0"/>
          </a:xfrm>
          <a:prstGeom prst="line">
            <a:avLst/>
          </a:prstGeom>
          <a:noFill/>
          <a:ln w="6350">
            <a:solidFill>
              <a:srgbClr val="C2BAB8"/>
            </a:solidFill>
            <a:prstDash val="solid"/>
          </a:ln>
        </p:spPr>
      </p:sp>
      <p:sp>
        <p:nvSpPr>
          <p:cNvPr id="8" name="Text 6"/>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9"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10" name="Text 7"/>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buNone/>
            </a:pPr>
            <a:r>
              <a:rPr lang="en-US" sz="2000" b="1" dirty="0">
                <a:solidFill>
                  <a:srgbClr val="7B0000"/>
                </a:solidFill>
                <a:latin typeface="Georgia" pitchFamily="34" charset="0"/>
                <a:ea typeface="Georgia" pitchFamily="34" charset="-122"/>
                <a:cs typeface="Georgia" pitchFamily="34" charset="-120"/>
              </a:rPr>
              <a:t>Contents</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11155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Executive summary</a:t>
            </a:r>
            <a:endParaRPr lang="en-US" sz="1300" dirty="0"/>
          </a:p>
        </p:txBody>
      </p:sp>
      <p:sp>
        <p:nvSpPr>
          <p:cNvPr id="5" name="Text 3"/>
          <p:cNvSpPr txBox="1"/>
          <p:nvPr/>
        </p:nvSpPr>
        <p:spPr>
          <a:xfrm>
            <a:off x="6237122" y="11155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4</a:t>
            </a:r>
            <a:endParaRPr lang="en-US" sz="1300" dirty="0"/>
          </a:p>
        </p:txBody>
      </p:sp>
      <p:sp>
        <p:nvSpPr>
          <p:cNvPr id="6" name="Shape 4"/>
          <p:cNvSpPr/>
          <p:nvPr/>
        </p:nvSpPr>
        <p:spPr>
          <a:xfrm>
            <a:off x="411480" y="1572768"/>
            <a:ext cx="6557162" cy="0"/>
          </a:xfrm>
          <a:prstGeom prst="line">
            <a:avLst/>
          </a:prstGeom>
          <a:noFill/>
          <a:ln w="6350">
            <a:solidFill>
              <a:srgbClr val="C2BAB8"/>
            </a:solidFill>
            <a:prstDash val="solid"/>
          </a:ln>
        </p:spPr>
      </p:sp>
      <p:sp>
        <p:nvSpPr>
          <p:cNvPr id="7" name="Text 5"/>
          <p:cNvSpPr txBox="1"/>
          <p:nvPr/>
        </p:nvSpPr>
        <p:spPr>
          <a:xfrm>
            <a:off x="411480" y="15727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Company overview</a:t>
            </a:r>
            <a:endParaRPr lang="en-US" sz="1300" dirty="0"/>
          </a:p>
        </p:txBody>
      </p:sp>
      <p:sp>
        <p:nvSpPr>
          <p:cNvPr id="8" name="Text 6"/>
          <p:cNvSpPr txBox="1"/>
          <p:nvPr/>
        </p:nvSpPr>
        <p:spPr>
          <a:xfrm>
            <a:off x="6237122" y="15727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8</a:t>
            </a:r>
            <a:endParaRPr lang="en-US" sz="1300" dirty="0"/>
          </a:p>
        </p:txBody>
      </p:sp>
      <p:sp>
        <p:nvSpPr>
          <p:cNvPr id="9" name="Shape 7"/>
          <p:cNvSpPr/>
          <p:nvPr/>
        </p:nvSpPr>
        <p:spPr>
          <a:xfrm>
            <a:off x="411480" y="2029968"/>
            <a:ext cx="6557162" cy="0"/>
          </a:xfrm>
          <a:prstGeom prst="line">
            <a:avLst/>
          </a:prstGeom>
          <a:noFill/>
          <a:ln w="6350">
            <a:solidFill>
              <a:srgbClr val="C2BAB8"/>
            </a:solidFill>
            <a:prstDash val="solid"/>
          </a:ln>
        </p:spPr>
      </p:sp>
      <p:sp>
        <p:nvSpPr>
          <p:cNvPr id="10" name="Text 8"/>
          <p:cNvSpPr txBox="1"/>
          <p:nvPr/>
        </p:nvSpPr>
        <p:spPr>
          <a:xfrm>
            <a:off x="411480" y="20299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Customers</a:t>
            </a:r>
            <a:endParaRPr lang="en-US" sz="1300" dirty="0"/>
          </a:p>
        </p:txBody>
      </p:sp>
      <p:sp>
        <p:nvSpPr>
          <p:cNvPr id="11" name="Text 9"/>
          <p:cNvSpPr txBox="1"/>
          <p:nvPr/>
        </p:nvSpPr>
        <p:spPr>
          <a:xfrm>
            <a:off x="6237122" y="20299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10</a:t>
            </a:r>
            <a:endParaRPr lang="en-US" sz="1300" dirty="0"/>
          </a:p>
        </p:txBody>
      </p:sp>
      <p:sp>
        <p:nvSpPr>
          <p:cNvPr id="12" name="Shape 10"/>
          <p:cNvSpPr/>
          <p:nvPr/>
        </p:nvSpPr>
        <p:spPr>
          <a:xfrm>
            <a:off x="411480" y="2487168"/>
            <a:ext cx="6557162" cy="0"/>
          </a:xfrm>
          <a:prstGeom prst="line">
            <a:avLst/>
          </a:prstGeom>
          <a:noFill/>
          <a:ln w="6350">
            <a:solidFill>
              <a:srgbClr val="C2BAB8"/>
            </a:solidFill>
            <a:prstDash val="solid"/>
          </a:ln>
        </p:spPr>
      </p:sp>
      <p:sp>
        <p:nvSpPr>
          <p:cNvPr id="13" name="Text 11"/>
          <p:cNvSpPr txBox="1"/>
          <p:nvPr/>
        </p:nvSpPr>
        <p:spPr>
          <a:xfrm>
            <a:off x="411480" y="24871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Operations and people</a:t>
            </a:r>
            <a:endParaRPr lang="en-US" sz="1300" dirty="0"/>
          </a:p>
        </p:txBody>
      </p:sp>
      <p:sp>
        <p:nvSpPr>
          <p:cNvPr id="14" name="Text 12"/>
          <p:cNvSpPr txBox="1"/>
          <p:nvPr/>
        </p:nvSpPr>
        <p:spPr>
          <a:xfrm>
            <a:off x="6237122" y="24871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12</a:t>
            </a:r>
            <a:endParaRPr lang="en-US" sz="1300" dirty="0"/>
          </a:p>
        </p:txBody>
      </p:sp>
      <p:sp>
        <p:nvSpPr>
          <p:cNvPr id="15" name="Shape 13"/>
          <p:cNvSpPr/>
          <p:nvPr/>
        </p:nvSpPr>
        <p:spPr>
          <a:xfrm>
            <a:off x="411480" y="2944368"/>
            <a:ext cx="6557162" cy="0"/>
          </a:xfrm>
          <a:prstGeom prst="line">
            <a:avLst/>
          </a:prstGeom>
          <a:noFill/>
          <a:ln w="6350">
            <a:solidFill>
              <a:srgbClr val="C2BAB8"/>
            </a:solidFill>
            <a:prstDash val="solid"/>
          </a:ln>
        </p:spPr>
      </p:sp>
      <p:sp>
        <p:nvSpPr>
          <p:cNvPr id="16" name="Text 14"/>
          <p:cNvSpPr txBox="1"/>
          <p:nvPr/>
        </p:nvSpPr>
        <p:spPr>
          <a:xfrm>
            <a:off x="411480" y="29443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Financial performance</a:t>
            </a:r>
            <a:endParaRPr lang="en-US" sz="1300" dirty="0"/>
          </a:p>
        </p:txBody>
      </p:sp>
      <p:sp>
        <p:nvSpPr>
          <p:cNvPr id="17" name="Text 15"/>
          <p:cNvSpPr txBox="1"/>
          <p:nvPr/>
        </p:nvSpPr>
        <p:spPr>
          <a:xfrm>
            <a:off x="6237122" y="29443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13</a:t>
            </a:r>
            <a:endParaRPr lang="en-US" sz="1300" dirty="0"/>
          </a:p>
        </p:txBody>
      </p:sp>
      <p:sp>
        <p:nvSpPr>
          <p:cNvPr id="18" name="Shape 16"/>
          <p:cNvSpPr/>
          <p:nvPr/>
        </p:nvSpPr>
        <p:spPr>
          <a:xfrm>
            <a:off x="411480" y="3401568"/>
            <a:ext cx="6557162" cy="0"/>
          </a:xfrm>
          <a:prstGeom prst="line">
            <a:avLst/>
          </a:prstGeom>
          <a:noFill/>
          <a:ln w="6350">
            <a:solidFill>
              <a:srgbClr val="C2BAB8"/>
            </a:solidFill>
            <a:prstDash val="solid"/>
          </a:ln>
        </p:spPr>
      </p:sp>
      <p:sp>
        <p:nvSpPr>
          <p:cNvPr id="19" name="Text 17"/>
          <p:cNvSpPr txBox="1"/>
          <p:nvPr/>
        </p:nvSpPr>
        <p:spPr>
          <a:xfrm>
            <a:off x="411480" y="34015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Adjusted EBITDA</a:t>
            </a:r>
            <a:endParaRPr lang="en-US" sz="1300" dirty="0"/>
          </a:p>
        </p:txBody>
      </p:sp>
      <p:sp>
        <p:nvSpPr>
          <p:cNvPr id="20" name="Text 18"/>
          <p:cNvSpPr txBox="1"/>
          <p:nvPr/>
        </p:nvSpPr>
        <p:spPr>
          <a:xfrm>
            <a:off x="6237122" y="34015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16</a:t>
            </a:r>
            <a:endParaRPr lang="en-US" sz="1300" dirty="0"/>
          </a:p>
        </p:txBody>
      </p:sp>
      <p:sp>
        <p:nvSpPr>
          <p:cNvPr id="21" name="Shape 19"/>
          <p:cNvSpPr/>
          <p:nvPr/>
        </p:nvSpPr>
        <p:spPr>
          <a:xfrm>
            <a:off x="411480" y="3858768"/>
            <a:ext cx="6557162" cy="0"/>
          </a:xfrm>
          <a:prstGeom prst="line">
            <a:avLst/>
          </a:prstGeom>
          <a:noFill/>
          <a:ln w="6350">
            <a:solidFill>
              <a:srgbClr val="C2BAB8"/>
            </a:solidFill>
            <a:prstDash val="solid"/>
          </a:ln>
        </p:spPr>
      </p:sp>
      <p:sp>
        <p:nvSpPr>
          <p:cNvPr id="22" name="Text 20"/>
          <p:cNvSpPr txBox="1"/>
          <p:nvPr/>
        </p:nvSpPr>
        <p:spPr>
          <a:xfrm>
            <a:off x="411480" y="38587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Balance sheet and cash flow</a:t>
            </a:r>
            <a:endParaRPr lang="en-US" sz="1300" dirty="0"/>
          </a:p>
        </p:txBody>
      </p:sp>
      <p:sp>
        <p:nvSpPr>
          <p:cNvPr id="23" name="Text 21"/>
          <p:cNvSpPr txBox="1"/>
          <p:nvPr/>
        </p:nvSpPr>
        <p:spPr>
          <a:xfrm>
            <a:off x="6237122" y="38587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18</a:t>
            </a:r>
            <a:endParaRPr lang="en-US" sz="1300" dirty="0"/>
          </a:p>
        </p:txBody>
      </p:sp>
      <p:sp>
        <p:nvSpPr>
          <p:cNvPr id="24" name="Shape 22"/>
          <p:cNvSpPr/>
          <p:nvPr/>
        </p:nvSpPr>
        <p:spPr>
          <a:xfrm>
            <a:off x="411480" y="4315968"/>
            <a:ext cx="6557162" cy="0"/>
          </a:xfrm>
          <a:prstGeom prst="line">
            <a:avLst/>
          </a:prstGeom>
          <a:noFill/>
          <a:ln w="6350">
            <a:solidFill>
              <a:srgbClr val="C2BAB8"/>
            </a:solidFill>
            <a:prstDash val="solid"/>
          </a:ln>
        </p:spPr>
      </p:sp>
      <p:sp>
        <p:nvSpPr>
          <p:cNvPr id="25" name="Text 23"/>
          <p:cNvSpPr txBox="1"/>
          <p:nvPr/>
        </p:nvSpPr>
        <p:spPr>
          <a:xfrm>
            <a:off x="411480" y="43159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Transaction process</a:t>
            </a:r>
            <a:endParaRPr lang="en-US" sz="1300" dirty="0"/>
          </a:p>
        </p:txBody>
      </p:sp>
      <p:sp>
        <p:nvSpPr>
          <p:cNvPr id="26" name="Text 24"/>
          <p:cNvSpPr txBox="1"/>
          <p:nvPr/>
        </p:nvSpPr>
        <p:spPr>
          <a:xfrm>
            <a:off x="6237122" y="43159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19</a:t>
            </a:r>
            <a:endParaRPr lang="en-US" sz="1300" dirty="0"/>
          </a:p>
        </p:txBody>
      </p:sp>
      <p:sp>
        <p:nvSpPr>
          <p:cNvPr id="27" name="Shape 25"/>
          <p:cNvSpPr/>
          <p:nvPr/>
        </p:nvSpPr>
        <p:spPr>
          <a:xfrm>
            <a:off x="411480" y="4773168"/>
            <a:ext cx="6557162" cy="0"/>
          </a:xfrm>
          <a:prstGeom prst="line">
            <a:avLst/>
          </a:prstGeom>
          <a:noFill/>
          <a:ln w="6350">
            <a:solidFill>
              <a:srgbClr val="C2BAB8"/>
            </a:solidFill>
            <a:prstDash val="solid"/>
          </a:ln>
        </p:spPr>
      </p:sp>
      <p:sp>
        <p:nvSpPr>
          <p:cNvPr id="28" name="Text 26"/>
          <p:cNvSpPr txBox="1"/>
          <p:nvPr/>
        </p:nvSpPr>
        <p:spPr>
          <a:xfrm>
            <a:off x="411480" y="4773168"/>
            <a:ext cx="5825642" cy="457200"/>
          </a:xfrm>
          <a:prstGeom prst="rect">
            <a:avLst/>
          </a:prstGeom>
          <a:noFill/>
          <a:ln/>
        </p:spPr>
        <p:txBody>
          <a:bodyPr wrap="square" lIns="0" tIns="0" rIns="0" bIns="0" rtlCol="0" anchor="ctr"/>
          <a:lstStyle/>
          <a:p>
            <a:pPr indent="0" marL="0">
              <a:buNone/>
            </a:pPr>
            <a:r>
              <a:rPr lang="en-US" sz="1300" dirty="0">
                <a:solidFill>
                  <a:srgbClr val="7A706D"/>
                </a:solidFill>
                <a:latin typeface="Arial" pitchFamily="34" charset="0"/>
                <a:ea typeface="Arial" pitchFamily="34" charset="-122"/>
                <a:cs typeface="Arial" pitchFamily="34" charset="-120"/>
              </a:rPr>
              <a:t>Appendix</a:t>
            </a:r>
            <a:endParaRPr lang="en-US" sz="1300" dirty="0"/>
          </a:p>
        </p:txBody>
      </p:sp>
      <p:sp>
        <p:nvSpPr>
          <p:cNvPr id="29" name="Text 27"/>
          <p:cNvSpPr txBox="1"/>
          <p:nvPr/>
        </p:nvSpPr>
        <p:spPr>
          <a:xfrm>
            <a:off x="6237122" y="4773168"/>
            <a:ext cx="731520" cy="457200"/>
          </a:xfrm>
          <a:prstGeom prst="rect">
            <a:avLst/>
          </a:prstGeom>
          <a:noFill/>
          <a:ln/>
        </p:spPr>
        <p:txBody>
          <a:bodyPr wrap="square" lIns="0" tIns="0" rIns="0" bIns="0" rtlCol="0" anchor="ctr"/>
          <a:lstStyle/>
          <a:p>
            <a:pPr algn="r" indent="0" marL="0">
              <a:buNone/>
            </a:pPr>
            <a:r>
              <a:rPr lang="en-US" sz="1300" dirty="0">
                <a:solidFill>
                  <a:srgbClr val="7A706D"/>
                </a:solidFill>
                <a:latin typeface="Arial" pitchFamily="34" charset="0"/>
                <a:ea typeface="Arial" pitchFamily="34" charset="-122"/>
                <a:cs typeface="Arial" pitchFamily="34" charset="-120"/>
              </a:rPr>
              <a:t>20</a:t>
            </a:r>
            <a:endParaRPr lang="en-US" sz="1300" dirty="0"/>
          </a:p>
        </p:txBody>
      </p:sp>
      <p:sp>
        <p:nvSpPr>
          <p:cNvPr id="30" name="Shape 28"/>
          <p:cNvSpPr/>
          <p:nvPr/>
        </p:nvSpPr>
        <p:spPr>
          <a:xfrm>
            <a:off x="411480" y="5230368"/>
            <a:ext cx="6557162" cy="0"/>
          </a:xfrm>
          <a:prstGeom prst="line">
            <a:avLst/>
          </a:prstGeom>
          <a:noFill/>
          <a:ln w="6350">
            <a:solidFill>
              <a:srgbClr val="C2BAB8"/>
            </a:solidFill>
            <a:prstDash val="solid"/>
          </a:ln>
        </p:spPr>
      </p:sp>
      <p:sp>
        <p:nvSpPr>
          <p:cNvPr id="31" name="Shape 29"/>
          <p:cNvSpPr/>
          <p:nvPr/>
        </p:nvSpPr>
        <p:spPr>
          <a:xfrm>
            <a:off x="411480" y="6400800"/>
            <a:ext cx="11368735" cy="0"/>
          </a:xfrm>
          <a:prstGeom prst="line">
            <a:avLst/>
          </a:prstGeom>
          <a:noFill/>
          <a:ln w="6350">
            <a:solidFill>
              <a:srgbClr val="C2BAB8"/>
            </a:solidFill>
            <a:prstDash val="solid"/>
          </a:ln>
        </p:spPr>
      </p:sp>
      <p:sp>
        <p:nvSpPr>
          <p:cNvPr id="32" name="Text 30"/>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33"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34" name="Text 31"/>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FY2025 Adj. EBITDA was $385.7K, a 12.7% margin on $3.04M of revenue, after a $66.8K capital reserve</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Company customer list as of Dec-25; Payroll register as of Dec-25;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Adj. EBITDA and SDE are non-GAAP measures; see page 16 for the reconciliation to net income.</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Executive summary</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4</a:t>
            </a:r>
            <a:endParaRPr lang="en-US" sz="800" dirty="0"/>
          </a:p>
        </p:txBody>
      </p:sp>
      <p:sp>
        <p:nvSpPr>
          <p:cNvPr id="10" name="Shape 7"/>
          <p:cNvSpPr/>
          <p:nvPr/>
        </p:nvSpPr>
        <p:spPr>
          <a:xfrm>
            <a:off x="7060082" y="1115568"/>
            <a:ext cx="0" cy="4809744"/>
          </a:xfrm>
          <a:prstGeom prst="line">
            <a:avLst/>
          </a:prstGeom>
          <a:noFill/>
          <a:ln w="6350">
            <a:solidFill>
              <a:srgbClr val="C2BAB8"/>
            </a:solidFill>
            <a:prstDash val="solid"/>
          </a:ln>
        </p:spPr>
      </p:sp>
      <p:sp>
        <p:nvSpPr>
          <p:cNvPr id="11" name="Text 8"/>
          <p:cNvSpPr txBox="1"/>
          <p:nvPr/>
        </p:nvSpPr>
        <p:spPr>
          <a:xfrm>
            <a:off x="411480" y="1115568"/>
            <a:ext cx="646572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Quick Stats</a:t>
            </a:r>
            <a:r>
              <a:rPr lang="en-US" sz="950" dirty="0">
                <a:solidFill>
                  <a:srgbClr val="7A706D"/>
                </a:solidFill>
                <a:latin typeface="Arial" pitchFamily="34" charset="0"/>
                <a:ea typeface="Arial" pitchFamily="34" charset="-122"/>
                <a:cs typeface="Arial" pitchFamily="34" charset="-120"/>
              </a:rPr>
              <a:t>  ($000s unless noted)</a:t>
            </a:r>
            <a:endParaRPr lang="en-US" sz="950" dirty="0"/>
          </a:p>
        </p:txBody>
      </p:sp>
      <p:sp>
        <p:nvSpPr>
          <p:cNvPr id="12" name="Shape 9"/>
          <p:cNvSpPr/>
          <p:nvPr/>
        </p:nvSpPr>
        <p:spPr>
          <a:xfrm>
            <a:off x="411480" y="1344168"/>
            <a:ext cx="6465722" cy="0"/>
          </a:xfrm>
          <a:prstGeom prst="line">
            <a:avLst/>
          </a:prstGeom>
          <a:noFill/>
          <a:ln w="6350">
            <a:solidFill>
              <a:srgbClr val="2C2523"/>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6465722" cy="914400"/>
        </p:xfrm>
        <a:graphic>
          <a:graphicData uri="http://schemas.openxmlformats.org/drawingml/2006/table">
            <a:tbl>
              <a:tblPr/>
              <a:tblGrid>
                <a:gridCol w="1828800"/>
                <a:gridCol w="566928"/>
                <a:gridCol w="566928"/>
                <a:gridCol w="566928"/>
                <a:gridCol w="73152"/>
                <a:gridCol w="566928"/>
                <a:gridCol w="1966874"/>
                <a:gridCol w="32918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Financial</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Context</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Up 11.9% in FY2025</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gross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Cost of revenue 38.1% of revenue</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Before interest, taxes and D&amp;A</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After $66.8K reserve [S3]</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Up 4.6 pts since FY2023</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Seller’s discretionary earnings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Before replacement pay and reserve</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graphicFrame>
        <p:nvGraphicFramePr>
          <p:cNvPr id="22" name="Table 1"/>
          <p:cNvGraphicFramePr>
            <a:graphicFrameLocks noGrp="1"/>
          </p:cNvGraphicFramePr>
          <p:nvPr>
            <p:extLst>
              <p:ext uri="{D42A27DB-BD31-4B8C-83A1-F6EECF244321}">
                <p14:modId xmlns:p14="http://schemas.microsoft.com/office/powerpoint/2010/main" val="1579011935"/>
              </p:ext>
            </p:extLst>
          </p:nvPr>
        </p:nvGraphicFramePr>
        <p:xfrm>
          <a:off x="411480" y="3337560"/>
          <a:ext cx="6465722" cy="914400"/>
        </p:xfrm>
        <a:graphic>
          <a:graphicData uri="http://schemas.openxmlformats.org/drawingml/2006/table">
            <a:tbl>
              <a:tblPr/>
              <a:tblGrid>
                <a:gridCol w="1828800"/>
                <a:gridCol w="566928"/>
                <a:gridCol w="406999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Operating (1)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Agreement members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Two tune-ups a year, priority scheduling; renewal and pricing on page 9</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Largest customer (% of 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Top 10 are 19.3%; 52 listed customers active at Dec-25</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Employees excl. owner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14 service technicians, 4 install technicians, 4 office, 1 operations manager</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 per field employee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$168.9K</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FY2025 revenue over 18 field employees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Fleet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18 service vans and 2 install trucks; owned, financed with vehicle loans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Google rating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900+ reviews; Carrier Factory Authorized Dealer since 2015</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5" name="Text 10"/>
          <p:cNvSpPr txBox="1"/>
          <p:nvPr/>
        </p:nvSpPr>
        <p:spPr>
          <a:xfrm>
            <a:off x="411480" y="4745736"/>
            <a:ext cx="6557162" cy="1026871"/>
          </a:xfrm>
          <a:prstGeom prst="rect">
            <a:avLst/>
          </a:prstGeom>
          <a:noFill/>
          <a:ln/>
        </p:spPr>
        <p:txBody>
          <a:bodyPr wrap="square" lIns="0" tIns="0" rIns="0" bIns="0" rtlCol="0" anchor="t"/>
          <a:lstStyle/>
          <a:p>
            <a:pPr indent="0" marL="0">
              <a:lnSpc>
                <a:spcPct val="108000"/>
              </a:lnSpc>
              <a:spcAft>
                <a:spcPts val="700"/>
              </a:spcAft>
              <a:buNone/>
            </a:pPr>
            <a:r>
              <a:rPr lang="en-US" sz="950" dirty="0">
                <a:solidFill>
                  <a:srgbClr val="2C2523"/>
                </a:solidFill>
                <a:latin typeface="Arial" pitchFamily="34" charset="0"/>
                <a:ea typeface="Arial" pitchFamily="34" charset="-122"/>
                <a:cs typeface="Arial" pitchFamily="34" charset="-120"/>
              </a:rPr>
              <a:t>Ridgeline Comfort Services LLC (“Ridgeline” or the “Company”) provides residential and light-commercial HVAC service, replacement and maintenance, plus plumbing service since 2019, from Columbus, Ohio, across Franklin, Delaware and Licking counties. Mark Delaney founded the Company in 2009 and owns it. It employs 23 people besides the owner, 18 in the field, and has 1,450 maintenance-agreement members (1). Before discounts, FY2025 revenue of $3.04M was 64% residential, 27% commercial and 9% maintenance agreements; the 56 listed commercial customers billed in FY2025 were 26.7% of it, the largest 4.0%.</a:t>
            </a:r>
            <a:endParaRPr lang="en-US" sz="950" dirty="0"/>
          </a:p>
        </p:txBody>
      </p:sp>
      <p:sp>
        <p:nvSpPr>
          <p:cNvPr id="16" name="Text 11"/>
          <p:cNvSpPr txBox="1"/>
          <p:nvPr/>
        </p:nvSpPr>
        <p:spPr>
          <a:xfrm>
            <a:off x="7151522" y="1115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Transaction summary</a:t>
            </a:r>
            <a:endParaRPr lang="en-US" sz="950" dirty="0"/>
          </a:p>
        </p:txBody>
      </p:sp>
      <p:sp>
        <p:nvSpPr>
          <p:cNvPr id="17" name="Shape 12"/>
          <p:cNvSpPr/>
          <p:nvPr/>
        </p:nvSpPr>
        <p:spPr>
          <a:xfrm>
            <a:off x="7151522" y="1344168"/>
            <a:ext cx="4631436" cy="0"/>
          </a:xfrm>
          <a:prstGeom prst="line">
            <a:avLst/>
          </a:prstGeom>
          <a:noFill/>
          <a:ln w="6350">
            <a:solidFill>
              <a:srgbClr val="2C2523"/>
            </a:solidFill>
            <a:prstDash val="solid"/>
          </a:ln>
        </p:spPr>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1051560"/>
                <a:gridCol w="357987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Term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Detail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What is offered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Substantially all of the operating assets of Ridgeline Comfort Services LLC, free and clear of liens.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Basis of offers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Asset purchase; the Seller retains cash, receivables and payables.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Reason for sale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retirement (age 61); the owner wants a clean exit within 12 months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Owner transition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Mark Delaney will remain for up to 12 months after closing and introduce the commercial customers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Key employees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Operations manager Lisa Tran (since 2014) is expected to stay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Real estate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8,000 sq ft shop and office, leased from an unrelated landlord to 2029, one 5-year renewal option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Target timing</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The Seller is targeting a closing within 12 months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Tax</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Each party will rely on its own tax advisors.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3126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Growth levers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Management identifies 5: raise maintenance-agreement penetration; add after-hours emergency plumbing; expand commercial preventive-maintenance contracts; paid digital marketing; second location in the Dayton market; none is included in the figures shown.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Basis of preparation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QuickBooks Online statements, FY2023–FY2025, unaudited; tiers [D], [N], [S] (page 16); no pro forma items.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9" name="Text 13"/>
          <p:cNvSpPr txBox="1"/>
          <p:nvPr/>
        </p:nvSpPr>
        <p:spPr>
          <a:xfrm>
            <a:off x="7151522" y="4465015"/>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Quick Stats)</a:t>
            </a:r>
            <a:endParaRPr lang="en-US" sz="950" dirty="0"/>
          </a:p>
        </p:txBody>
      </p:sp>
      <p:sp>
        <p:nvSpPr>
          <p:cNvPr id="20" name="Shape 14"/>
          <p:cNvSpPr/>
          <p:nvPr/>
        </p:nvSpPr>
        <p:spPr>
          <a:xfrm>
            <a:off x="7151522" y="4693615"/>
            <a:ext cx="4631436" cy="0"/>
          </a:xfrm>
          <a:prstGeom prst="line">
            <a:avLst/>
          </a:prstGeom>
          <a:noFill/>
          <a:ln w="6350">
            <a:solidFill>
              <a:srgbClr val="2C2523"/>
            </a:solidFill>
            <a:prstDash val="solid"/>
          </a:ln>
        </p:spPr>
      </p:sp>
      <p:graphicFrame>
        <p:nvGraphicFramePr>
          <p:cNvPr id="23" name="Table 3"/>
          <p:cNvGraphicFramePr>
            <a:graphicFrameLocks noGrp="1"/>
          </p:cNvGraphicFramePr>
          <p:nvPr>
            <p:extLst>
              <p:ext uri="{D42A27DB-BD31-4B8C-83A1-F6EECF244321}">
                <p14:modId xmlns:p14="http://schemas.microsoft.com/office/powerpoint/2010/main" val="1579011935"/>
              </p:ext>
            </p:extLst>
          </p:nvPr>
        </p:nvGraphicFramePr>
        <p:xfrm>
          <a:off x="7151522" y="4766767"/>
          <a:ext cx="4631436" cy="914400"/>
        </p:xfrm>
        <a:graphic>
          <a:graphicData uri="http://schemas.openxmlformats.org/drawingml/2006/table">
            <a:tbl>
              <a:tblPr/>
              <a:tblGrid>
                <a:gridCol w="274320"/>
                <a:gridCol w="4357116"/>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Revenue grew 26% in two years, </a:t>
                      </a:r>
                      <a:r>
                        <a:rPr lang="en-US" sz="900" dirty="0">
                          <a:solidFill>
                            <a:srgbClr val="2C2523"/>
                          </a:solidFill>
                          <a:latin typeface="Arial" pitchFamily="34" charset="0"/>
                          <a:ea typeface="Arial" pitchFamily="34" charset="-122"/>
                          <a:cs typeface="Arial" pitchFamily="34" charset="-120"/>
                        </a:rPr>
                        <a:t>from $2.41M to $3.04M, with commercial service the fastest line at a 16.5% compound rate.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Gross margin of 61.9%, up 90 bps since FY2023, </a:t>
                      </a:r>
                      <a:r>
                        <a:rPr lang="en-US" sz="900" dirty="0">
                          <a:solidFill>
                            <a:srgbClr val="2C2523"/>
                          </a:solidFill>
                          <a:latin typeface="Arial" pitchFamily="34" charset="0"/>
                          <a:ea typeface="Arial" pitchFamily="34" charset="-122"/>
                          <a:cs typeface="Arial" pitchFamily="34" charset="-120"/>
                        </a:rPr>
                        <a:t>because equipment and materials fell from 35.0% to 34.2% of revenue.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Adj. EBITDA margin moved up 4.6 pts to 12.7% </a:t>
                      </a:r>
                      <a:r>
                        <a:rPr lang="en-US" sz="900" dirty="0">
                          <a:solidFill>
                            <a:srgbClr val="2C2523"/>
                          </a:solidFill>
                          <a:latin typeface="Arial" pitchFamily="34" charset="0"/>
                          <a:ea typeface="Arial" pitchFamily="34" charset="-122"/>
                          <a:cs typeface="Arial" pitchFamily="34" charset="-120"/>
                        </a:rPr>
                        <a:t>since FY2023 because total operating expenses grew 9.3% a year against revenue growth of 12.4% a year.</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Revenue grew at a 12.4% CAGR to $3.04M and Adj. EBITDA doubled to $385.7K in the two years to FY2025</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Company customer list as of Dec-25; Payroll register as of Dec-25;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Adj. EBITDA and SDE are non-GAAP measures; see page 16 for the reconciliation to net income; totals may not sum due to rounding.</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Executive summary</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p>
        </p:txBody>
      </p:sp>
      <p:sp>
        <p:nvSpPr>
          <p:cNvPr id="10" name="Shape 7"/>
          <p:cNvSpPr/>
          <p:nvPr/>
        </p:nvSpPr>
        <p:spPr>
          <a:xfrm>
            <a:off x="8022946" y="1115568"/>
            <a:ext cx="0" cy="4809744"/>
          </a:xfrm>
          <a:prstGeom prst="line">
            <a:avLst/>
          </a:prstGeom>
          <a:noFill/>
          <a:ln w="6350">
            <a:solidFill>
              <a:srgbClr val="C2BAB8"/>
            </a:solidFill>
            <a:prstDash val="solid"/>
          </a:ln>
        </p:spPr>
      </p:sp>
      <p:sp>
        <p:nvSpPr>
          <p:cNvPr id="11" name="Text 8"/>
          <p:cNvSpPr txBox="1"/>
          <p:nvPr/>
        </p:nvSpPr>
        <p:spPr>
          <a:xfrm>
            <a:off x="411480" y="1115568"/>
            <a:ext cx="742858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Investment considerations</a:t>
            </a:r>
            <a:r>
              <a:rPr lang="en-US" sz="950" dirty="0">
                <a:solidFill>
                  <a:srgbClr val="7A706D"/>
                </a:solidFill>
                <a:latin typeface="Arial" pitchFamily="34" charset="0"/>
                <a:ea typeface="Arial" pitchFamily="34" charset="-122"/>
                <a:cs typeface="Arial" pitchFamily="34" charset="-120"/>
              </a:rPr>
              <a:t>  (each proved on the page shown)</a:t>
            </a:r>
            <a:endParaRPr lang="en-US" sz="950" dirty="0"/>
          </a:p>
        </p:txBody>
      </p:sp>
      <p:sp>
        <p:nvSpPr>
          <p:cNvPr id="12" name="Shape 9"/>
          <p:cNvSpPr/>
          <p:nvPr/>
        </p:nvSpPr>
        <p:spPr>
          <a:xfrm>
            <a:off x="411480" y="1344168"/>
            <a:ext cx="7428586" cy="0"/>
          </a:xfrm>
          <a:prstGeom prst="line">
            <a:avLst/>
          </a:prstGeom>
          <a:noFill/>
          <a:ln w="6350">
            <a:solidFill>
              <a:srgbClr val="2C2523"/>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7428586" cy="914400"/>
        </p:xfrm>
        <a:graphic>
          <a:graphicData uri="http://schemas.openxmlformats.org/drawingml/2006/table">
            <a:tbl>
              <a:tblPr/>
              <a:tblGrid>
                <a:gridCol w="6925666"/>
                <a:gridCol w="502920"/>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Consideration and evidence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Page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27355">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Revenue grew at a 12.4% compound rate, from $2.41M in FY2023 to $3.04M in FY2025. </a:t>
                      </a:r>
                      <a:r>
                        <a:rPr lang="en-US" sz="900" dirty="0">
                          <a:solidFill>
                            <a:srgbClr val="2C2523"/>
                          </a:solidFill>
                          <a:latin typeface="Arial" pitchFamily="34" charset="0"/>
                          <a:ea typeface="Arial" pitchFamily="34" charset="-122"/>
                          <a:cs typeface="Arial" pitchFamily="34" charset="-120"/>
                        </a:rPr>
                        <a:t>All three lines grew: commercial service at 16.5% a year, maintenance agreements at 16.1% and residential service and replacement at 10.4%.</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900" dirty="0">
                          <a:solidFill>
                            <a:srgbClr val="2C2523"/>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7355">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Adj. EBITDA doubled in two years to $385.7K, a 12.7% margin. </a:t>
                      </a:r>
                      <a:r>
                        <a:rPr lang="en-US" sz="900" dirty="0">
                          <a:solidFill>
                            <a:srgbClr val="2C2523"/>
                          </a:solidFill>
                          <a:latin typeface="Arial" pitchFamily="34" charset="0"/>
                          <a:ea typeface="Arial" pitchFamily="34" charset="-122"/>
                          <a:cs typeface="Arial" pitchFamily="34" charset="-120"/>
                        </a:rPr>
                        <a:t>Total operating expenses grew 9.3% a year against revenue at 12.4%, and gross margin moved up 90 bps. Adjustments from Reported EBITDA total $66.2K, each itemized with its evidence.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900" dirty="0">
                          <a:solidFill>
                            <a:srgbClr val="2C2523"/>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7355">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Commercial customers renew and spend more: net dollar retention was 111.2% in FY2025. </a:t>
                      </a:r>
                      <a:r>
                        <a:rPr lang="en-US" sz="900" dirty="0">
                          <a:solidFill>
                            <a:srgbClr val="2C2523"/>
                          </a:solidFill>
                          <a:latin typeface="Arial" pitchFamily="34" charset="0"/>
                          <a:ea typeface="Arial" pitchFamily="34" charset="-122"/>
                          <a:cs typeface="Arial" pitchFamily="34" charset="-120"/>
                        </a:rPr>
                        <a:t>Continuing customers added $97.9K of revenue against $16.2K lost with 4 departed customers; gross dollar retention was 97.1%.</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900" dirty="0">
                          <a:solidFill>
                            <a:srgbClr val="2C2523"/>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7355">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No customer exceeds 4.0% of revenue, and the top 10 are 19.3%. </a:t>
                      </a:r>
                      <a:r>
                        <a:rPr lang="en-US" sz="900" dirty="0">
                          <a:solidFill>
                            <a:srgbClr val="2C2523"/>
                          </a:solidFill>
                          <a:latin typeface="Arial" pitchFamily="34" charset="0"/>
                          <a:ea typeface="Arial" pitchFamily="34" charset="-122"/>
                          <a:cs typeface="Arial" pitchFamily="34" charset="-120"/>
                        </a:rPr>
                        <a:t>Households and maintenance-agreement members, not listed individually, make up 73.3% of revenue; of the top 10 commercial customers, 9 have bought for five years or more.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900" dirty="0">
                          <a:solidFill>
                            <a:srgbClr val="2C2523"/>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7355">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Maintenance agreements produce $289.4K of recurring revenue a year (1). </a:t>
                      </a:r>
                      <a:r>
                        <a:rPr lang="en-US" sz="900" dirty="0">
                          <a:solidFill>
                            <a:srgbClr val="2C2523"/>
                          </a:solidFill>
                          <a:latin typeface="Arial" pitchFamily="34" charset="0"/>
                          <a:ea typeface="Arial" pitchFamily="34" charset="-122"/>
                          <a:cs typeface="Arial" pitchFamily="34" charset="-120"/>
                        </a:rPr>
                        <a:t>Agreement revenue grew 16.1% a year from FY2023 to FY2025; the member count, renewal, pricing and the share of service calls offered an agreement are on page 9.</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900" dirty="0">
                          <a:solidFill>
                            <a:srgbClr val="2C2523"/>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811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An operations manager of 11 years runs dispatch and scheduling and is expected to stay (1). </a:t>
                      </a:r>
                      <a:r>
                        <a:rPr lang="en-US" sz="900" dirty="0">
                          <a:solidFill>
                            <a:srgbClr val="2C2523"/>
                          </a:solidFill>
                          <a:latin typeface="Arial" pitchFamily="34" charset="0"/>
                          <a:ea typeface="Arial" pitchFamily="34" charset="-122"/>
                          <a:cs typeface="Arial" pitchFamily="34" charset="-120"/>
                        </a:rPr>
                        <a:t>The 18 field employees are paid hourly plus spiff commissions on maintenance agreements, with no union (1); revenue per field employee rose from $141.6K to $168.9K.</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900" dirty="0">
                          <a:solidFill>
                            <a:srgbClr val="2C2523"/>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7355">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Free cash flow was $213.3K in FY2025, 67% of Reported EBITDA. </a:t>
                      </a:r>
                      <a:r>
                        <a:rPr lang="en-US" sz="900" dirty="0">
                          <a:solidFill>
                            <a:srgbClr val="2C2523"/>
                          </a:solidFill>
                          <a:latin typeface="Arial" pitchFamily="34" charset="0"/>
                          <a:ea typeface="Arial" pitchFamily="34" charset="-122"/>
                          <a:cs typeface="Arial" pitchFamily="34" charset="-120"/>
                        </a:rPr>
                        <a:t>Working capital was 5.7% of revenue with receivables at 30 days, and operating bank deposits equal 98.5% of reported revenue.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900" dirty="0">
                          <a:solidFill>
                            <a:srgbClr val="2C2523"/>
                          </a:solidFill>
                          <a:latin typeface="Arial" pitchFamily="34" charset="0"/>
                          <a:ea typeface="Arial" pitchFamily="34" charset="-122"/>
                          <a:cs typeface="Arial" pitchFamily="34" charset="-120"/>
                        </a:rPr>
                        <a:t>18</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4" name="Text 10"/>
          <p:cNvSpPr txBox="1"/>
          <p:nvPr/>
        </p:nvSpPr>
        <p:spPr>
          <a:xfrm>
            <a:off x="411480" y="4159606"/>
            <a:ext cx="742858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Earnings build</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5" name="Shape 11"/>
          <p:cNvSpPr/>
          <p:nvPr/>
        </p:nvSpPr>
        <p:spPr>
          <a:xfrm>
            <a:off x="411480" y="4388206"/>
            <a:ext cx="7428586" cy="0"/>
          </a:xfrm>
          <a:prstGeom prst="line">
            <a:avLst/>
          </a:prstGeom>
          <a:noFill/>
          <a:ln w="6350">
            <a:solidFill>
              <a:srgbClr val="2C2523"/>
            </a:solidFill>
            <a:prstDash val="solid"/>
          </a:ln>
        </p:spPr>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11480" y="4461358"/>
          <a:ext cx="7428586" cy="914400"/>
        </p:xfrm>
        <a:graphic>
          <a:graphicData uri="http://schemas.openxmlformats.org/drawingml/2006/table">
            <a:tbl>
              <a:tblPr/>
              <a:tblGrid>
                <a:gridCol w="1828800"/>
                <a:gridCol w="566928"/>
                <a:gridCol w="566928"/>
                <a:gridCol w="566928"/>
                <a:gridCol w="73152"/>
                <a:gridCol w="566928"/>
                <a:gridCol w="566928"/>
                <a:gridCol w="269199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Earnings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Net income plus interest, taxes and depreciation</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Adjustments, net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Each itemized with its evidence on page 16</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After the capital reserve [S3] for equipment</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+220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Adj. EBITDA as a share of revenue</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Seller’s discretionary earnings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Before replacement pay [S2] and the reserve [S3]</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7" name="Text 12"/>
          <p:cNvSpPr txBox="1"/>
          <p:nvPr/>
        </p:nvSpPr>
        <p:spPr>
          <a:xfrm>
            <a:off x="8114386" y="1115568"/>
            <a:ext cx="206288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and Adj. EBITDA</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8" name="Text 13"/>
          <p:cNvSpPr txBox="1"/>
          <p:nvPr/>
        </p:nvSpPr>
        <p:spPr>
          <a:xfrm>
            <a:off x="10177272" y="1115568"/>
            <a:ext cx="1605686" cy="228600"/>
          </a:xfrm>
          <a:prstGeom prst="rect">
            <a:avLst/>
          </a:prstGeom>
          <a:noFill/>
          <a:ln/>
        </p:spPr>
        <p:txBody>
          <a:bodyPr wrap="square" lIns="0" tIns="0" rIns="0" bIns="0" rtlCol="0" anchor="b"/>
          <a:lstStyle/>
          <a:p>
            <a:pPr algn="r" indent="0" marL="0">
              <a:buNone/>
            </a:pPr>
            <a:r>
              <a:rPr lang="en-US" sz="800" dirty="0">
                <a:solidFill>
                  <a:srgbClr val="7A706D"/>
                </a:solidFill>
                <a:latin typeface="Arial" pitchFamily="34" charset="0"/>
                <a:ea typeface="Arial" pitchFamily="34" charset="-122"/>
                <a:cs typeface="Arial" pitchFamily="34" charset="-120"/>
              </a:rPr>
              <a:t>FY2023–FY2025 CAGR</a:t>
            </a:r>
            <a:endParaRPr lang="en-US" sz="800" dirty="0"/>
          </a:p>
        </p:txBody>
      </p:sp>
      <p:sp>
        <p:nvSpPr>
          <p:cNvPr id="19" name="Shape 14"/>
          <p:cNvSpPr/>
          <p:nvPr/>
        </p:nvSpPr>
        <p:spPr>
          <a:xfrm>
            <a:off x="8114386" y="1344168"/>
            <a:ext cx="3668573" cy="0"/>
          </a:xfrm>
          <a:prstGeom prst="line">
            <a:avLst/>
          </a:prstGeom>
          <a:noFill/>
          <a:ln w="6350">
            <a:solidFill>
              <a:srgbClr val="2C2523"/>
            </a:solidFill>
            <a:prstDash val="solid"/>
          </a:ln>
        </p:spPr>
      </p:sp>
      <p:graphicFrame>
        <p:nvGraphicFramePr>
          <p:cNvPr id="20" name="Chart 0" descr=""/>
          <p:cNvGraphicFramePr/>
          <p:nvPr/>
        </p:nvGraphicFramePr>
        <p:xfrm>
          <a:off x="8114386" y="1417320"/>
          <a:ext cx="1742846" cy="3931920"/>
        </p:xfrm>
        <a:graphic xmlns:a="http://schemas.openxmlformats.org/drawingml/2006/main">
          <a:graphicData uri="http://schemas.openxmlformats.org/drawingml/2006/chart">
            <c:chart xmlns:c="http://schemas.openxmlformats.org/drawingml/2006/chart" r:id="rId2"/>
          </a:graphicData>
        </a:graphic>
      </p:graphicFrame>
      <p:graphicFrame>
        <p:nvGraphicFramePr>
          <p:cNvPr id="21" name="Chart 1" descr=""/>
          <p:cNvGraphicFramePr/>
          <p:nvPr/>
        </p:nvGraphicFramePr>
        <p:xfrm>
          <a:off x="10040112" y="1417320"/>
          <a:ext cx="1742846" cy="393192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Adj. EBITDA margin rose from 8.1% to 12.7% in two years as costs lagged revenue</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general ledger detail;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Adj. EBITDA and SDE are non-GAAP measures; see page 16 for the reconciliation to net income. Adj. EBITDA is after a capital reserve [S3] for maintenance capital spending; before it, FY2025 Adj. EBITDA is $452.5K; totals may not sum due to rounding.</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Executive summary</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p>
        </p:txBody>
      </p:sp>
      <p:sp>
        <p:nvSpPr>
          <p:cNvPr id="10" name="Shape 7"/>
          <p:cNvSpPr/>
          <p:nvPr/>
        </p:nvSpPr>
        <p:spPr>
          <a:xfrm>
            <a:off x="6097219" y="1115568"/>
            <a:ext cx="0" cy="4809744"/>
          </a:xfrm>
          <a:prstGeom prst="line">
            <a:avLst/>
          </a:prstGeom>
          <a:noFill/>
          <a:ln w="6350">
            <a:solidFill>
              <a:srgbClr val="C2BAB8"/>
            </a:solidFill>
            <a:prstDash val="solid"/>
          </a:ln>
        </p:spPr>
      </p:sp>
      <p:sp>
        <p:nvSpPr>
          <p:cNvPr id="11" name="Text 8"/>
          <p:cNvSpPr txBox="1"/>
          <p:nvPr/>
        </p:nvSpPr>
        <p:spPr>
          <a:xfrm>
            <a:off x="411480" y="1115568"/>
            <a:ext cx="541141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Summary income statement</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2" name="Shape 9"/>
          <p:cNvSpPr/>
          <p:nvPr/>
        </p:nvSpPr>
        <p:spPr>
          <a:xfrm>
            <a:off x="411480" y="1344168"/>
            <a:ext cx="5411419" cy="0"/>
          </a:xfrm>
          <a:prstGeom prst="line">
            <a:avLst/>
          </a:prstGeom>
          <a:noFill/>
          <a:ln w="6350">
            <a:solidFill>
              <a:srgbClr val="2C2523"/>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5411419" cy="914400"/>
        </p:xfrm>
        <a:graphic>
          <a:graphicData uri="http://schemas.openxmlformats.org/drawingml/2006/table">
            <a:tbl>
              <a:tblPr/>
              <a:tblGrid>
                <a:gridCol w="2083003"/>
                <a:gridCol w="585216"/>
                <a:gridCol w="585216"/>
                <a:gridCol w="585216"/>
                <a:gridCol w="73152"/>
                <a:gridCol w="566928"/>
                <a:gridCol w="566928"/>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Income statement</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Cost of 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939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Gross profit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$1,671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$1,882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12.6%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+40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compensation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Operating expenses excl. owner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Other income, net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+260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+220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4" name="Text 10"/>
          <p:cNvSpPr txBox="1"/>
          <p:nvPr/>
        </p:nvSpPr>
        <p:spPr>
          <a:xfrm>
            <a:off x="411480" y="3872484"/>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income statement)</a:t>
            </a:r>
            <a:endParaRPr lang="en-US" sz="950" dirty="0"/>
          </a:p>
        </p:txBody>
      </p:sp>
      <p:sp>
        <p:nvSpPr>
          <p:cNvPr id="15" name="Shape 11"/>
          <p:cNvSpPr/>
          <p:nvPr/>
        </p:nvSpPr>
        <p:spPr>
          <a:xfrm>
            <a:off x="411480" y="4101084"/>
            <a:ext cx="5594299" cy="0"/>
          </a:xfrm>
          <a:prstGeom prst="line">
            <a:avLst/>
          </a:prstGeom>
          <a:noFill/>
          <a:ln w="6350">
            <a:solidFill>
              <a:srgbClr val="2C2523"/>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11480" y="4174236"/>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Gross profit of $1.88M </a:t>
                      </a:r>
                      <a:r>
                        <a:rPr lang="en-US" sz="900" dirty="0">
                          <a:solidFill>
                            <a:srgbClr val="2C2523"/>
                          </a:solidFill>
                          <a:latin typeface="Arial" pitchFamily="34" charset="0"/>
                          <a:ea typeface="Arial" pitchFamily="34" charset="-122"/>
                          <a:cs typeface="Arial" pitchFamily="34" charset="-120"/>
                        </a:rPr>
                        <a:t>grew 13.2% a year since FY2023, ahead of revenue at 12.4%, as equipment and materials took a smaller share of revenue.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Operating expenses excluding the owner of $1.37M </a:t>
                      </a:r>
                      <a:r>
                        <a:rPr lang="en-US" sz="900" dirty="0">
                          <a:solidFill>
                            <a:srgbClr val="2C2523"/>
                          </a:solidFill>
                          <a:latin typeface="Arial" pitchFamily="34" charset="0"/>
                          <a:ea typeface="Arial" pitchFamily="34" charset="-122"/>
                          <a:cs typeface="Arial" pitchFamily="34" charset="-120"/>
                        </a:rPr>
                        <a:t>fell to 44.9% of revenue from 47.0% because they grew 9.9% a year against revenue at 12.4%.</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Reported EBITDA of $319.5K </a:t>
                      </a:r>
                      <a:r>
                        <a:rPr lang="en-US" sz="900" dirty="0">
                          <a:solidFill>
                            <a:srgbClr val="2C2523"/>
                          </a:solidFill>
                          <a:latin typeface="Arial" pitchFamily="34" charset="0"/>
                          <a:ea typeface="Arial" pitchFamily="34" charset="-122"/>
                          <a:cs typeface="Arial" pitchFamily="34" charset="-120"/>
                        </a:rPr>
                        <a:t>doubled from $158.2K in FY2023; it includes $3.1K of interest income, which the ladder removes.</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
        <p:nvSpPr>
          <p:cNvPr id="17" name="Text 12"/>
          <p:cNvSpPr txBox="1"/>
          <p:nvPr/>
        </p:nvSpPr>
        <p:spPr>
          <a:xfrm>
            <a:off x="6188659" y="1115568"/>
            <a:ext cx="4727448"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EBITDA ladder, condensed</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8" name="Shape 13"/>
          <p:cNvSpPr/>
          <p:nvPr/>
        </p:nvSpPr>
        <p:spPr>
          <a:xfrm>
            <a:off x="6188659" y="1344168"/>
            <a:ext cx="4727448" cy="0"/>
          </a:xfrm>
          <a:prstGeom prst="line">
            <a:avLst/>
          </a:prstGeom>
          <a:noFill/>
          <a:ln w="6350">
            <a:solidFill>
              <a:srgbClr val="2C2523"/>
            </a:solidFill>
            <a:prstDash val="solid"/>
          </a:ln>
        </p:spPr>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6188659" y="1417320"/>
          <a:ext cx="4727448" cy="914400"/>
        </p:xfrm>
        <a:graphic>
          <a:graphicData uri="http://schemas.openxmlformats.org/drawingml/2006/table">
            <a:tbl>
              <a:tblPr/>
              <a:tblGrid>
                <a:gridCol w="2148840"/>
                <a:gridCol w="457200"/>
                <a:gridCol w="585216"/>
                <a:gridCol w="585216"/>
                <a:gridCol w="585216"/>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EBITDA ladder</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Normalization adjustments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salary and payroll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[S1, S4]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SDE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Market replacement compensation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Capital reserve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F</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0" name="Text 14"/>
          <p:cNvSpPr txBox="1"/>
          <p:nvPr/>
        </p:nvSpPr>
        <p:spPr>
          <a:xfrm>
            <a:off x="6188659" y="351586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EBITDA ladder)</a:t>
            </a:r>
            <a:endParaRPr lang="en-US" sz="950" dirty="0"/>
          </a:p>
        </p:txBody>
      </p:sp>
      <p:sp>
        <p:nvSpPr>
          <p:cNvPr id="21" name="Shape 15"/>
          <p:cNvSpPr/>
          <p:nvPr/>
        </p:nvSpPr>
        <p:spPr>
          <a:xfrm>
            <a:off x="6188659" y="3744468"/>
            <a:ext cx="5594299" cy="0"/>
          </a:xfrm>
          <a:prstGeom prst="line">
            <a:avLst/>
          </a:prstGeom>
          <a:noFill/>
          <a:ln w="6350">
            <a:solidFill>
              <a:srgbClr val="2C2523"/>
            </a:solidFill>
            <a:prstDash val="solid"/>
          </a:ln>
        </p:spPr>
      </p:sp>
      <p:graphicFrame>
        <p:nvGraphicFramePr>
          <p:cNvPr id="25" name="Table 3"/>
          <p:cNvGraphicFramePr>
            <a:graphicFrameLocks noGrp="1"/>
          </p:cNvGraphicFramePr>
          <p:nvPr>
            <p:extLst>
              <p:ext uri="{D42A27DB-BD31-4B8C-83A1-F6EECF244321}">
                <p14:modId xmlns:p14="http://schemas.microsoft.com/office/powerpoint/2010/main" val="1579011935"/>
              </p:ext>
            </p:extLst>
          </p:nvPr>
        </p:nvGraphicFramePr>
        <p:xfrm>
          <a:off x="6188659" y="3817620"/>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Normalizations of $28.4K </a:t>
                      </a:r>
                      <a:r>
                        <a:rPr lang="en-US" sz="900" dirty="0">
                          <a:solidFill>
                            <a:srgbClr val="2C2523"/>
                          </a:solidFill>
                          <a:latin typeface="Arial" pitchFamily="34" charset="0"/>
                          <a:ea typeface="Arial" pitchFamily="34" charset="-122"/>
                          <a:cs typeface="Arial" pitchFamily="34" charset="-120"/>
                        </a:rPr>
                        <a:t>remove the owner’s personal vehicle, family phones and meals, charitable giving and interest income; each is itemized on page 17.</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E</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SDE of $561.8K </a:t>
                      </a:r>
                      <a:r>
                        <a:rPr lang="en-US" sz="900" dirty="0">
                          <a:solidFill>
                            <a:srgbClr val="2C2523"/>
                          </a:solidFill>
                          <a:latin typeface="Arial" pitchFamily="34" charset="0"/>
                          <a:ea typeface="Arial" pitchFamily="34" charset="-122"/>
                          <a:cs typeface="Arial" pitchFamily="34" charset="-120"/>
                        </a:rPr>
                        <a:t>adds back the owner’s $200,000 salary and $13.9K of his payroll taxes; it is the measure for a buyer who will run the Company.</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F</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Adj. EBITDA of $385.7K </a:t>
                      </a:r>
                      <a:r>
                        <a:rPr lang="en-US" sz="900" dirty="0">
                          <a:solidFill>
                            <a:srgbClr val="2C2523"/>
                          </a:solidFill>
                          <a:latin typeface="Arial" pitchFamily="34" charset="0"/>
                          <a:ea typeface="Arial" pitchFamily="34" charset="-122"/>
                          <a:cs typeface="Arial" pitchFamily="34" charset="-120"/>
                        </a:rPr>
                        <a:t>deducts $109.3K for a general manager and a $66.8K capital reserve, the measure for a buyer who hires a manager.</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Five buyer tests led by a 45-hour owner week and a 19.3% FY2025 top-10 share; the owner stays 12 months</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Company customer list as of Dec-25; Bank statements;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unless noted. Adjustment references are defined on page 17; adjustments shown are those included in Adj. EBITDA; totals may not sum due to rounding.</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 Hours are the owner’s estimate of a typical week.</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Executive summary</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7</a:t>
            </a:r>
            <a:endParaRPr lang="en-US" sz="800" dirty="0"/>
          </a:p>
        </p:txBody>
      </p:sp>
      <p:sp>
        <p:nvSpPr>
          <p:cNvPr id="10" name="Shape 7"/>
          <p:cNvSpPr/>
          <p:nvPr/>
        </p:nvSpPr>
        <p:spPr>
          <a:xfrm>
            <a:off x="8022946" y="3671316"/>
            <a:ext cx="0" cy="2253996"/>
          </a:xfrm>
          <a:prstGeom prst="line">
            <a:avLst/>
          </a:prstGeom>
          <a:noFill/>
          <a:ln w="6350">
            <a:solidFill>
              <a:srgbClr val="C2BAB8"/>
            </a:solidFill>
            <a:prstDash val="solid"/>
          </a:ln>
        </p:spPr>
      </p:sp>
      <p:sp>
        <p:nvSpPr>
          <p:cNvPr id="11" name="Text 8"/>
          <p:cNvSpPr txBox="1"/>
          <p:nvPr/>
        </p:nvSpPr>
        <p:spPr>
          <a:xfrm>
            <a:off x="411480" y="1115568"/>
            <a:ext cx="11371478"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Considerations for buyers</a:t>
            </a:r>
            <a:r>
              <a:rPr lang="en-US" sz="950" dirty="0">
                <a:solidFill>
                  <a:srgbClr val="7A706D"/>
                </a:solidFill>
                <a:latin typeface="Arial" pitchFamily="34" charset="0"/>
                <a:ea typeface="Arial" pitchFamily="34" charset="-122"/>
                <a:cs typeface="Arial" pitchFamily="34" charset="-120"/>
              </a:rPr>
              <a:t>  (FY2025 unless noted)</a:t>
            </a:r>
            <a:endParaRPr lang="en-US" sz="950" dirty="0"/>
          </a:p>
        </p:txBody>
      </p:sp>
      <p:sp>
        <p:nvSpPr>
          <p:cNvPr id="12" name="Shape 9"/>
          <p:cNvSpPr/>
          <p:nvPr/>
        </p:nvSpPr>
        <p:spPr>
          <a:xfrm>
            <a:off x="411480" y="1344168"/>
            <a:ext cx="11371478" cy="0"/>
          </a:xfrm>
          <a:prstGeom prst="line">
            <a:avLst/>
          </a:prstGeom>
          <a:noFill/>
          <a:ln w="6350">
            <a:solidFill>
              <a:srgbClr val="2C2523"/>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11371478" cy="914400"/>
        </p:xfrm>
        <a:graphic>
          <a:graphicData uri="http://schemas.openxmlformats.org/drawingml/2006/table">
            <a:tbl>
              <a:tblPr/>
              <a:tblGrid>
                <a:gridCol w="1554480"/>
                <a:gridCol w="4937760"/>
                <a:gridCol w="4879238"/>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Consideration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the data shows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How it is addressed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436169">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involvement</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owner works about 45 hours a week on estimating large replacements, commercial relationships, vendor terms and hiring (1). Commercial service, 27% of revenue, rests on his relationships; dispatch and scheduling already sit with the operations manager.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owner will stay up to 12 months after closing and introduce the commercial customers (1). Adj. EBITDA already deducts $109.3K for a general manager, so the earnings shown pay for his replacement.</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Customer concentration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largest customer, C-001, is 4.0% of revenue and the top 10 are 19.3%; households and members not listed individually make up 73.3%.</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Losing C-001 in full would remove $121.6K of revenue, less than FY2025 growth of $322.2K; of the top 10, 9 have bought for five years or more.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Technician labor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Field employees are 18 of 23, paid hourly plus spiff commissions on maintenance agreements, with no union (1). Payroll excluding the owner was 29.3% of revenue.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Hires matched departures in FY2025 at 3 each, and field employees average 6.4 years of tenure. The operations manager, with the Company 11 years, runs dispatch (1).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36169">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Add-back quality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Adjustments from Reported EBITDA of $319.5K to Adj. EBITDA of $385.7K total $66.2K; the owner’s $200,000 salary is the largest add-back, net of the $109.3K replacement.</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Each adjustment is listed with its basis and evidence on page 17. Excluding the $24.0K resting on management representation (N1, N3) lowers the FY2025 Adj. EBITDA margin by 79 bps. Nothing pro forma is included.</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36169">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Financial reporting</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Company financial statements (QuickBooks Online), FY2023–FY2025, accrual basis, unaudited, kept by an in-house bookkeeper. Operating bank deposits of $3.00M were 98.5% of FY2025 revenue.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Monthly financial statements, general-ledger account detail, bank statements, the payroll register and the customer list support the reconciliation; federal tax returns for the years shown are </a:t>
                      </a:r>
                      <a:r>
                        <a:rPr lang="en-US" sz="850" i="1" dirty="0">
                          <a:solidFill>
                            <a:srgbClr val="FF0000"/>
                          </a:solidFill>
                          <a:latin typeface="Arial" pitchFamily="34" charset="0"/>
                          <a:ea typeface="Arial" pitchFamily="34" charset="-122"/>
                          <a:cs typeface="Arial" pitchFamily="34" charset="-120"/>
                        </a:rPr>
                        <a:t>[Confirm: available]</a:t>
                      </a: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4" name="Text 10"/>
          <p:cNvSpPr txBox="1"/>
          <p:nvPr/>
        </p:nvSpPr>
        <p:spPr>
          <a:xfrm>
            <a:off x="411480" y="3671316"/>
            <a:ext cx="7355434"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Adjustments by evidence</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5" name="Shape 11"/>
          <p:cNvSpPr/>
          <p:nvPr/>
        </p:nvSpPr>
        <p:spPr>
          <a:xfrm>
            <a:off x="411480" y="3899916"/>
            <a:ext cx="7355434" cy="0"/>
          </a:xfrm>
          <a:prstGeom prst="line">
            <a:avLst/>
          </a:prstGeom>
          <a:noFill/>
          <a:ln w="6350">
            <a:solidFill>
              <a:srgbClr val="2C2523"/>
            </a:solidFill>
            <a:prstDash val="solid"/>
          </a:ln>
        </p:spPr>
      </p:sp>
      <p:graphicFrame>
        <p:nvGraphicFramePr>
          <p:cNvPr id="24" name="Table 1"/>
          <p:cNvGraphicFramePr>
            <a:graphicFrameLocks noGrp="1"/>
          </p:cNvGraphicFramePr>
          <p:nvPr>
            <p:extLst>
              <p:ext uri="{D42A27DB-BD31-4B8C-83A1-F6EECF244321}">
                <p14:modId xmlns:p14="http://schemas.microsoft.com/office/powerpoint/2010/main" val="1579011935"/>
              </p:ext>
            </p:extLst>
          </p:nvPr>
        </p:nvGraphicFramePr>
        <p:xfrm>
          <a:off x="411480" y="3973068"/>
          <a:ext cx="7355434" cy="914400"/>
        </p:xfrm>
        <a:graphic>
          <a:graphicData uri="http://schemas.openxmlformats.org/drawingml/2006/table">
            <a:tbl>
              <a:tblPr/>
              <a:tblGrid>
                <a:gridCol w="2103120"/>
                <a:gridCol w="566928"/>
                <a:gridCol w="566928"/>
                <a:gridCol w="566928"/>
                <a:gridCol w="3185770"/>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Adjustments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Items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c vMerge="1">
                  <a:tcPr/>
                </a:tc>
              </a:tr>
              <a:tr h="288950">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 in the records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$208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Owner compensation [S1]; Charitable contributions [N4]; Legal fees: settled customer dispute [N2]</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A,B</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Calculated from documented figures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Payroll taxes and benefits on owner compensation [S4]</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C</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88950">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Management representation</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Owner’s personal vehicle [N1]; Owner family phones and meals [N3]</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Total add-backs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$250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$245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288950">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 Deductions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(177)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(178)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(179)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Market replacement compensation [S2]; Capital reserve [S3]; Interest income [N5]</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Adjustments, net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$72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$66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7" name="Text 12"/>
          <p:cNvSpPr txBox="1"/>
          <p:nvPr/>
        </p:nvSpPr>
        <p:spPr>
          <a:xfrm>
            <a:off x="8114386" y="3671316"/>
            <a:ext cx="3668573"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adjustments by evidence)</a:t>
            </a:r>
            <a:endParaRPr lang="en-US" sz="950" dirty="0"/>
          </a:p>
        </p:txBody>
      </p:sp>
      <p:sp>
        <p:nvSpPr>
          <p:cNvPr id="18" name="Shape 13"/>
          <p:cNvSpPr/>
          <p:nvPr/>
        </p:nvSpPr>
        <p:spPr>
          <a:xfrm>
            <a:off x="8114386" y="3899916"/>
            <a:ext cx="3668573" cy="0"/>
          </a:xfrm>
          <a:prstGeom prst="line">
            <a:avLst/>
          </a:prstGeom>
          <a:noFill/>
          <a:ln w="6350">
            <a:solidFill>
              <a:srgbClr val="2C2523"/>
            </a:solidFill>
            <a:prstDash val="solid"/>
          </a:ln>
        </p:spPr>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8114386" y="3973068"/>
          <a:ext cx="3668573" cy="914400"/>
        </p:xfrm>
        <a:graphic>
          <a:graphicData uri="http://schemas.openxmlformats.org/drawingml/2006/table">
            <a:tbl>
              <a:tblPr/>
              <a:tblGrid>
                <a:gridCol w="274320"/>
                <a:gridCol w="3394253"/>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Documented add-backs of $207.5K </a:t>
                      </a:r>
                      <a:r>
                        <a:rPr lang="en-US" sz="900" dirty="0">
                          <a:solidFill>
                            <a:srgbClr val="2C2523"/>
                          </a:solidFill>
                          <a:latin typeface="Arial" pitchFamily="34" charset="0"/>
                          <a:ea typeface="Arial" pitchFamily="34" charset="-122"/>
                          <a:cs typeface="Arial" pitchFamily="34" charset="-120"/>
                        </a:rPr>
                        <a:t>are 85% of the $245.4K added back in FY2025; each cites its account on page 17.</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settled customer dispute [N2], $24.0K, </a:t>
                      </a:r>
                      <a:r>
                        <a:rPr lang="en-US" sz="900" dirty="0">
                          <a:solidFill>
                            <a:srgbClr val="2C2523"/>
                          </a:solidFill>
                          <a:latin typeface="Arial" pitchFamily="34" charset="0"/>
                          <a:ea typeface="Arial" pitchFamily="34" charset="-122"/>
                          <a:cs typeface="Arial" pitchFamily="34" charset="-120"/>
                        </a:rPr>
                        <a:t>falls in FY2024 only, which is why add-backs peak that year.</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owner’s payroll taxes [S4] </a:t>
                      </a:r>
                      <a:r>
                        <a:rPr lang="en-US" sz="900" dirty="0">
                          <a:solidFill>
                            <a:srgbClr val="2C2523"/>
                          </a:solidFill>
                          <a:latin typeface="Arial" pitchFamily="34" charset="0"/>
                          <a:ea typeface="Arial" pitchFamily="34" charset="-122"/>
                          <a:cs typeface="Arial" pitchFamily="34" charset="-120"/>
                        </a:rPr>
                        <a:t>are calculated at statutory rates on his salary as paid [S1], the documented add-back above.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Management representations are 10% of add-backs: </a:t>
                      </a:r>
                      <a:r>
                        <a:rPr lang="en-US" sz="900" dirty="0">
                          <a:solidFill>
                            <a:srgbClr val="2C2523"/>
                          </a:solidFill>
                          <a:latin typeface="Arial" pitchFamily="34" charset="0"/>
                          <a:ea typeface="Arial" pitchFamily="34" charset="-122"/>
                          <a:cs typeface="Arial" pitchFamily="34" charset="-120"/>
                        </a:rPr>
                        <a:t>the owner’s vehicle and family phones and meals (N1, N3).</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E</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Deductions of $179.2K </a:t>
                      </a:r>
                      <a:r>
                        <a:rPr lang="en-US" sz="900" dirty="0">
                          <a:solidFill>
                            <a:srgbClr val="2C2523"/>
                          </a:solidFill>
                          <a:latin typeface="Arial" pitchFamily="34" charset="0"/>
                          <a:ea typeface="Arial" pitchFamily="34" charset="-122"/>
                          <a:cs typeface="Arial" pitchFamily="34" charset="-120"/>
                        </a:rPr>
                        <a:t>are nearly level: replacement pay [S2] and the reserve [S3] are one amount for every year.</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Commercial service grew at a 16.5% CAGR over FY2023–FY2025, agreements at 16.1% and residential at 10.4%</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Shares are of revenue before discounts and refunds, rounded to add to 100%; totals may not sum due to rounding.</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Company overview</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8</a:t>
            </a:r>
            <a:endParaRPr lang="en-US" sz="800" dirty="0"/>
          </a:p>
        </p:txBody>
      </p:sp>
      <p:sp>
        <p:nvSpPr>
          <p:cNvPr id="10" name="Shape 7"/>
          <p:cNvSpPr/>
          <p:nvPr/>
        </p:nvSpPr>
        <p:spPr>
          <a:xfrm>
            <a:off x="6097219" y="1115568"/>
            <a:ext cx="0" cy="4809744"/>
          </a:xfrm>
          <a:prstGeom prst="line">
            <a:avLst/>
          </a:prstGeom>
          <a:noFill/>
          <a:ln w="6350">
            <a:solidFill>
              <a:srgbClr val="C2BAB8"/>
            </a:solidFill>
            <a:prstDash val="solid"/>
          </a:ln>
        </p:spPr>
      </p:sp>
      <p:sp>
        <p:nvSpPr>
          <p:cNvPr id="11" name="Text 8"/>
          <p:cNvSpPr txBox="1"/>
          <p:nvPr/>
        </p:nvSpPr>
        <p:spPr>
          <a:xfrm>
            <a:off x="411480" y="1115568"/>
            <a:ext cx="3478378"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mix by service line</a:t>
            </a:r>
            <a:r>
              <a:rPr lang="en-US" sz="950" dirty="0">
                <a:solidFill>
                  <a:srgbClr val="7A706D"/>
                </a:solidFill>
                <a:latin typeface="Arial" pitchFamily="34" charset="0"/>
                <a:ea typeface="Arial" pitchFamily="34" charset="-122"/>
                <a:cs typeface="Arial" pitchFamily="34" charset="-120"/>
              </a:rPr>
              <a:t>  (% of revenue before discounts)</a:t>
            </a:r>
            <a:endParaRPr lang="en-US" sz="950" dirty="0"/>
          </a:p>
        </p:txBody>
      </p:sp>
      <p:sp>
        <p:nvSpPr>
          <p:cNvPr id="12" name="Text 9"/>
          <p:cNvSpPr txBox="1"/>
          <p:nvPr/>
        </p:nvSpPr>
        <p:spPr>
          <a:xfrm>
            <a:off x="3889858" y="1115568"/>
            <a:ext cx="2115922" cy="228600"/>
          </a:xfrm>
          <a:prstGeom prst="rect">
            <a:avLst/>
          </a:prstGeom>
          <a:noFill/>
          <a:ln/>
        </p:spPr>
        <p:txBody>
          <a:bodyPr wrap="square" lIns="0" tIns="0" rIns="0" bIns="0" rtlCol="0" anchor="b"/>
          <a:lstStyle/>
          <a:p>
            <a:pPr algn="r" indent="0" marL="0">
              <a:buNone/>
            </a:pPr>
            <a:r>
              <a:rPr lang="en-US" sz="800" dirty="0">
                <a:solidFill>
                  <a:srgbClr val="7A706D"/>
                </a:solidFill>
                <a:latin typeface="Arial" pitchFamily="34" charset="0"/>
                <a:ea typeface="Arial" pitchFamily="34" charset="-122"/>
                <a:cs typeface="Arial" pitchFamily="34" charset="-120"/>
              </a:rPr>
              <a:t>Lines other than residential: 34% to 36%</a:t>
            </a:r>
            <a:endParaRPr lang="en-US" sz="800" dirty="0"/>
          </a:p>
        </p:txBody>
      </p:sp>
      <p:sp>
        <p:nvSpPr>
          <p:cNvPr id="13" name="Shape 10"/>
          <p:cNvSpPr/>
          <p:nvPr/>
        </p:nvSpPr>
        <p:spPr>
          <a:xfrm>
            <a:off x="411480" y="1344168"/>
            <a:ext cx="5594299" cy="0"/>
          </a:xfrm>
          <a:prstGeom prst="line">
            <a:avLst/>
          </a:prstGeom>
          <a:noFill/>
          <a:ln w="6350">
            <a:solidFill>
              <a:srgbClr val="2C2523"/>
            </a:solidFill>
            <a:prstDash val="solid"/>
          </a:ln>
        </p:spPr>
      </p:sp>
      <p:graphicFrame>
        <p:nvGraphicFramePr>
          <p:cNvPr id="14" name="Chart 0" descr=""/>
          <p:cNvGraphicFramePr/>
          <p:nvPr/>
        </p:nvGraphicFramePr>
        <p:xfrm>
          <a:off x="411480" y="1417320"/>
          <a:ext cx="5594299" cy="2632558"/>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411480" y="4177894"/>
            <a:ext cx="550285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Service lines</a:t>
            </a:r>
            <a:r>
              <a:rPr lang="en-US" sz="950" dirty="0">
                <a:solidFill>
                  <a:srgbClr val="7A706D"/>
                </a:solidFill>
                <a:latin typeface="Arial" pitchFamily="34" charset="0"/>
                <a:ea typeface="Arial" pitchFamily="34" charset="-122"/>
                <a:cs typeface="Arial" pitchFamily="34" charset="-120"/>
              </a:rPr>
              <a:t>  (per management) (1)</a:t>
            </a:r>
            <a:endParaRPr lang="en-US" sz="950" dirty="0"/>
          </a:p>
        </p:txBody>
      </p:sp>
      <p:sp>
        <p:nvSpPr>
          <p:cNvPr id="16" name="Shape 12"/>
          <p:cNvSpPr/>
          <p:nvPr/>
        </p:nvSpPr>
        <p:spPr>
          <a:xfrm>
            <a:off x="411480" y="4406494"/>
            <a:ext cx="5502859" cy="0"/>
          </a:xfrm>
          <a:prstGeom prst="line">
            <a:avLst/>
          </a:prstGeom>
          <a:noFill/>
          <a:ln w="6350">
            <a:solidFill>
              <a:srgbClr val="2C2523"/>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4479646"/>
          <a:ext cx="5502859" cy="914400"/>
        </p:xfrm>
        <a:graphic>
          <a:graphicData uri="http://schemas.openxmlformats.org/drawingml/2006/table">
            <a:tbl>
              <a:tblPr/>
              <a:tblGrid>
                <a:gridCol w="2061972"/>
                <a:gridCol w="3440887"/>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Service line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the customer buys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81051">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Residential service and replacement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HVAC and plumbing repair, replacement and installation for homeowners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Commercial service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HVAC service and preventive maintenance for property managers, office buildings and restaurant groups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Maintenance agreements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Membership: two tune-ups a year, priority scheduling and a 15% repair discount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8" name="Text 13"/>
          <p:cNvSpPr txBox="1"/>
          <p:nvPr/>
        </p:nvSpPr>
        <p:spPr>
          <a:xfrm>
            <a:off x="6188659" y="1115568"/>
            <a:ext cx="550285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by service line</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9" name="Shape 14"/>
          <p:cNvSpPr/>
          <p:nvPr/>
        </p:nvSpPr>
        <p:spPr>
          <a:xfrm>
            <a:off x="6188659" y="1344168"/>
            <a:ext cx="5502859" cy="0"/>
          </a:xfrm>
          <a:prstGeom prst="line">
            <a:avLst/>
          </a:prstGeom>
          <a:noFill/>
          <a:ln w="6350">
            <a:solidFill>
              <a:srgbClr val="2C2523"/>
            </a:solidFill>
            <a:prstDash val="solid"/>
          </a:ln>
        </p:spPr>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188659" y="1417320"/>
          <a:ext cx="5502859" cy="914400"/>
        </p:xfrm>
        <a:graphic>
          <a:graphicData uri="http://schemas.openxmlformats.org/drawingml/2006/table">
            <a:tbl>
              <a:tblPr/>
              <a:tblGrid>
                <a:gridCol w="2119579"/>
                <a:gridCol w="603504"/>
                <a:gridCol w="603504"/>
                <a:gridCol w="603504"/>
                <a:gridCol w="73152"/>
                <a:gridCol w="566928"/>
                <a:gridCol w="566928"/>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Revenue line</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Residential service and replacement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Commercial service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703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Maintenance agreements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Discounts given</a:t>
                      </a:r>
                      <a:endParaRPr lang="en-US" sz="85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$2,407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recurring (agreements)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+40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1" name="Text 15"/>
          <p:cNvSpPr txBox="1"/>
          <p:nvPr/>
        </p:nvSpPr>
        <p:spPr>
          <a:xfrm>
            <a:off x="6188659" y="3017520"/>
            <a:ext cx="5594299" cy="401422"/>
          </a:xfrm>
          <a:prstGeom prst="rect">
            <a:avLst/>
          </a:prstGeom>
          <a:noFill/>
          <a:ln/>
        </p:spPr>
        <p:txBody>
          <a:bodyPr wrap="square" lIns="0" tIns="0" rIns="0" bIns="0" rtlCol="0" anchor="t"/>
          <a:lstStyle/>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History. </a:t>
            </a:r>
            <a:r>
              <a:rPr lang="en-US" sz="950" dirty="0">
                <a:solidFill>
                  <a:srgbClr val="2C2523"/>
                </a:solidFill>
                <a:latin typeface="Arial" pitchFamily="34" charset="0"/>
                <a:ea typeface="Arial" pitchFamily="34" charset="-122"/>
                <a:cs typeface="Arial" pitchFamily="34" charset="-120"/>
              </a:rPr>
              <a:t>Founded by Mark Delaney in 2009; became a Carrier Factory Authorized Dealer in 2015; added plumbing service in 2019 (1).</a:t>
            </a:r>
            <a:endParaRPr lang="en-US" sz="950" dirty="0"/>
          </a:p>
        </p:txBody>
      </p:sp>
      <p:sp>
        <p:nvSpPr>
          <p:cNvPr id="22" name="Text 16"/>
          <p:cNvSpPr txBox="1"/>
          <p:nvPr/>
        </p:nvSpPr>
        <p:spPr>
          <a:xfrm>
            <a:off x="6188659" y="3528670"/>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revenue table)</a:t>
            </a:r>
            <a:endParaRPr lang="en-US" sz="950" dirty="0"/>
          </a:p>
        </p:txBody>
      </p:sp>
      <p:sp>
        <p:nvSpPr>
          <p:cNvPr id="23" name="Shape 17"/>
          <p:cNvSpPr/>
          <p:nvPr/>
        </p:nvSpPr>
        <p:spPr>
          <a:xfrm>
            <a:off x="6188659" y="3757270"/>
            <a:ext cx="5594299" cy="0"/>
          </a:xfrm>
          <a:prstGeom prst="line">
            <a:avLst/>
          </a:prstGeom>
          <a:noFill/>
          <a:ln w="6350">
            <a:solidFill>
              <a:srgbClr val="2C2523"/>
            </a:solidFill>
            <a:prstDash val="solid"/>
          </a:ln>
        </p:spPr>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6188659" y="3830422"/>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Residential service and replacement, $1.96M, </a:t>
                      </a:r>
                      <a:r>
                        <a:rPr lang="en-US" sz="900" dirty="0">
                          <a:solidFill>
                            <a:srgbClr val="2C2523"/>
                          </a:solidFill>
                          <a:latin typeface="Arial" pitchFamily="34" charset="0"/>
                          <a:ea typeface="Arial" pitchFamily="34" charset="-122"/>
                          <a:cs typeface="Arial" pitchFamily="34" charset="-120"/>
                        </a:rPr>
                        <a:t>is 64% of revenue before discounts, down from 66% in FY2023, because commercial service and agreements grew 16.5% and 16.1% a year against its 10.4%.</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Commercial service grew $109.2K in FY2025 </a:t>
                      </a:r>
                      <a:r>
                        <a:rPr lang="en-US" sz="900" dirty="0">
                          <a:solidFill>
                            <a:srgbClr val="2C2523"/>
                          </a:solidFill>
                          <a:latin typeface="Arial" pitchFamily="34" charset="0"/>
                          <a:ea typeface="Arial" pitchFamily="34" charset="-122"/>
                          <a:cs typeface="Arial" pitchFamily="34" charset="-120"/>
                        </a:rPr>
                        <a:t>to $811.7K, from property managers, office buildings and four restaurant groups; two property managers have asked for quotes on more buildings (1).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Maintenance agreements of $289.4K </a:t>
                      </a:r>
                      <a:r>
                        <a:rPr lang="en-US" sz="900" dirty="0">
                          <a:solidFill>
                            <a:srgbClr val="2C2523"/>
                          </a:solidFill>
                          <a:latin typeface="Arial" pitchFamily="34" charset="0"/>
                          <a:ea typeface="Arial" pitchFamily="34" charset="-122"/>
                          <a:cs typeface="Arial" pitchFamily="34" charset="-120"/>
                        </a:rPr>
                        <a:t>grew 16.1% a year and were 9.5% of FY2025 revenue, the recurring base; member economics are on page 9.</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Discounts given rose $3.5K in FY2025 </a:t>
                      </a:r>
                      <a:r>
                        <a:rPr lang="en-US" sz="900" dirty="0">
                          <a:solidFill>
                            <a:srgbClr val="2C2523"/>
                          </a:solidFill>
                          <a:latin typeface="Arial" pitchFamily="34" charset="0"/>
                          <a:ea typeface="Arial" pitchFamily="34" charset="-122"/>
                          <a:cs typeface="Arial" pitchFamily="34" charset="-120"/>
                        </a:rPr>
                        <a:t>and are deducted from revenue on their own line, so the three service lines above are stated before discounts.</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Revenue per field employee rose from $141.6K in FY2023 to $168.9K in FY2025</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Payroll register as of Dec-25;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Employee counts are at fiscal year-end and exclude the owner.</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Company overview</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p>
        </p:txBody>
      </p:sp>
      <p:sp>
        <p:nvSpPr>
          <p:cNvPr id="10" name="Shape 7"/>
          <p:cNvSpPr/>
          <p:nvPr/>
        </p:nvSpPr>
        <p:spPr>
          <a:xfrm>
            <a:off x="7060082" y="1115568"/>
            <a:ext cx="0" cy="4809744"/>
          </a:xfrm>
          <a:prstGeom prst="line">
            <a:avLst/>
          </a:prstGeom>
          <a:noFill/>
          <a:ln w="6350">
            <a:solidFill>
              <a:srgbClr val="C2BAB8"/>
            </a:solidFill>
            <a:prstDash val="solid"/>
          </a:ln>
        </p:spPr>
      </p:sp>
      <p:sp>
        <p:nvSpPr>
          <p:cNvPr id="11" name="Text 8"/>
          <p:cNvSpPr txBox="1"/>
          <p:nvPr/>
        </p:nvSpPr>
        <p:spPr>
          <a:xfrm>
            <a:off x="411480" y="1115568"/>
            <a:ext cx="637428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Unit economics</a:t>
            </a:r>
            <a:r>
              <a:rPr lang="en-US" sz="950" dirty="0">
                <a:solidFill>
                  <a:srgbClr val="7A706D"/>
                </a:solidFill>
                <a:latin typeface="Arial" pitchFamily="34" charset="0"/>
                <a:ea typeface="Arial" pitchFamily="34" charset="-122"/>
                <a:cs typeface="Arial" pitchFamily="34" charset="-120"/>
              </a:rPr>
              <a:t>  ($000s unless noted)</a:t>
            </a:r>
            <a:endParaRPr lang="en-US" sz="950" dirty="0"/>
          </a:p>
        </p:txBody>
      </p:sp>
      <p:sp>
        <p:nvSpPr>
          <p:cNvPr id="12" name="Shape 9"/>
          <p:cNvSpPr/>
          <p:nvPr/>
        </p:nvSpPr>
        <p:spPr>
          <a:xfrm>
            <a:off x="411480" y="1344168"/>
            <a:ext cx="6374282" cy="0"/>
          </a:xfrm>
          <a:prstGeom prst="line">
            <a:avLst/>
          </a:prstGeom>
          <a:noFill/>
          <a:ln w="6350">
            <a:solidFill>
              <a:srgbClr val="2C2523"/>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6374282" cy="914400"/>
        </p:xfrm>
        <a:graphic>
          <a:graphicData uri="http://schemas.openxmlformats.org/drawingml/2006/table">
            <a:tbl>
              <a:tblPr/>
              <a:tblGrid>
                <a:gridCol w="2103120"/>
                <a:gridCol w="566928"/>
                <a:gridCol w="566928"/>
                <a:gridCol w="566928"/>
                <a:gridCol w="73152"/>
                <a:gridCol w="566928"/>
                <a:gridCol w="1601114"/>
                <a:gridCol w="32918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Measure</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Change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Total revenue</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Employees at year-end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Register, excl. owner</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Field employees at year-end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Service and install technicians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 per employee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Revenue ÷ employees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 per field employee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Revenue ÷ field employees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Payroll excl. owner, % 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29.6%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Down 50 bps since FY2023</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Listed customers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Active at year-end</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4" name="Text 10"/>
          <p:cNvSpPr txBox="1"/>
          <p:nvPr/>
        </p:nvSpPr>
        <p:spPr>
          <a:xfrm>
            <a:off x="411480" y="3177540"/>
            <a:ext cx="638251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Capacity measures</a:t>
            </a:r>
            <a:r>
              <a:rPr lang="en-US" sz="950" dirty="0">
                <a:solidFill>
                  <a:srgbClr val="7A706D"/>
                </a:solidFill>
                <a:latin typeface="Arial" pitchFamily="34" charset="0"/>
                <a:ea typeface="Arial" pitchFamily="34" charset="-122"/>
                <a:cs typeface="Arial" pitchFamily="34" charset="-120"/>
              </a:rPr>
              <a:t>  ($ as shown; FY2025 financials; counts per management at Sep-26 (1))</a:t>
            </a:r>
            <a:endParaRPr lang="en-US" sz="950" dirty="0"/>
          </a:p>
        </p:txBody>
      </p:sp>
      <p:sp>
        <p:nvSpPr>
          <p:cNvPr id="15" name="Shape 11"/>
          <p:cNvSpPr/>
          <p:nvPr/>
        </p:nvSpPr>
        <p:spPr>
          <a:xfrm>
            <a:off x="411480" y="3406140"/>
            <a:ext cx="6382512" cy="0"/>
          </a:xfrm>
          <a:prstGeom prst="line">
            <a:avLst/>
          </a:prstGeom>
          <a:noFill/>
          <a:ln w="6350">
            <a:solidFill>
              <a:srgbClr val="2C2523"/>
            </a:solidFill>
            <a:prstDash val="solid"/>
          </a:ln>
        </p:spPr>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11480" y="3479292"/>
          <a:ext cx="6382512" cy="914400"/>
        </p:xfrm>
        <a:graphic>
          <a:graphicData uri="http://schemas.openxmlformats.org/drawingml/2006/table">
            <a:tbl>
              <a:tblPr/>
              <a:tblGrid>
                <a:gridCol w="2103120"/>
                <a:gridCol w="777240"/>
                <a:gridCol w="3172968"/>
                <a:gridCol w="32918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Measure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Agreement revenue per member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$200 a year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FY2025 maintenance agreements revenue ÷ 1,450 members (1)</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Tune-up visits a year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2,900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Two tune-ups a year per member (1)</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Members per service technician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1,450 members ÷ 14 service technicians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calls offered an agreement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Per management (1)</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Agreement renewal rate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Per management (1)</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hours a week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Per management (1)</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 per vehicle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$152.0K</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FY2025 revenue ÷ 20 vehicles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Vehicles per field employee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20 vehicles ÷ 18 field employees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7" name="Text 12"/>
          <p:cNvSpPr txBox="1"/>
          <p:nvPr/>
        </p:nvSpPr>
        <p:spPr>
          <a:xfrm>
            <a:off x="7151522" y="1115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Facilities, fleet and systems</a:t>
            </a:r>
            <a:r>
              <a:rPr lang="en-US" sz="950" dirty="0">
                <a:solidFill>
                  <a:srgbClr val="7A706D"/>
                </a:solidFill>
                <a:latin typeface="Arial" pitchFamily="34" charset="0"/>
                <a:ea typeface="Arial" pitchFamily="34" charset="-122"/>
                <a:cs typeface="Arial" pitchFamily="34" charset="-120"/>
              </a:rPr>
              <a:t>  (per management)</a:t>
            </a:r>
            <a:endParaRPr lang="en-US" sz="950" dirty="0"/>
          </a:p>
        </p:txBody>
      </p:sp>
      <p:sp>
        <p:nvSpPr>
          <p:cNvPr id="18" name="Shape 13"/>
          <p:cNvSpPr/>
          <p:nvPr/>
        </p:nvSpPr>
        <p:spPr>
          <a:xfrm>
            <a:off x="7151522" y="1344168"/>
            <a:ext cx="4631436" cy="0"/>
          </a:xfrm>
          <a:prstGeom prst="line">
            <a:avLst/>
          </a:prstGeom>
          <a:noFill/>
          <a:ln w="6350">
            <a:solidFill>
              <a:srgbClr val="2C2523"/>
            </a:solidFill>
            <a:prstDash val="solid"/>
          </a:ln>
        </p:spPr>
      </p:sp>
      <p:graphicFrame>
        <p:nvGraphicFramePr>
          <p:cNvPr id="28" name="Table 2"/>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868680"/>
                <a:gridCol w="2182673"/>
                <a:gridCol w="1580083"/>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Item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Detail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Term or status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Shop and office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8,000 sq ft; shop and office; landlord unrelated to the owner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Lease through 2029; one 5-year renewal option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Fleet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18 service vans and 2 install trucks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Owned, financed with vehicle loans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14223">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Software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ServiceTitan (dispatch, invoicing and memberships); QuickBooks Online (accounting)</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i="1" dirty="0">
                          <a:solidFill>
                            <a:srgbClr val="FF0000"/>
                          </a:solidFill>
                          <a:latin typeface="Arial" pitchFamily="34" charset="0"/>
                          <a:ea typeface="Arial" pitchFamily="34" charset="-122"/>
                          <a:cs typeface="Arial" pitchFamily="34" charset="-120"/>
                        </a:rPr>
                        <a:t>[Confirm: transfer]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Service area</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Franklin, Delaware and Licking counties (about a 35-mile radius)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Based in Columbus, Ohio</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20" name="Text 14"/>
          <p:cNvSpPr txBox="1"/>
          <p:nvPr/>
        </p:nvSpPr>
        <p:spPr>
          <a:xfrm>
            <a:off x="7151522" y="302757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unit economics)</a:t>
            </a:r>
            <a:endParaRPr lang="en-US" sz="950" dirty="0"/>
          </a:p>
        </p:txBody>
      </p:sp>
      <p:sp>
        <p:nvSpPr>
          <p:cNvPr id="21" name="Shape 15"/>
          <p:cNvSpPr/>
          <p:nvPr/>
        </p:nvSpPr>
        <p:spPr>
          <a:xfrm>
            <a:off x="7151522" y="3256178"/>
            <a:ext cx="4631436" cy="0"/>
          </a:xfrm>
          <a:prstGeom prst="line">
            <a:avLst/>
          </a:prstGeom>
          <a:noFill/>
          <a:ln w="6350">
            <a:solidFill>
              <a:srgbClr val="2C2523"/>
            </a:solidFill>
            <a:prstDash val="solid"/>
          </a:ln>
        </p:spPr>
      </p:sp>
      <p:graphicFrame>
        <p:nvGraphicFramePr>
          <p:cNvPr id="37" name="Table 3"/>
          <p:cNvGraphicFramePr>
            <a:graphicFrameLocks noGrp="1"/>
          </p:cNvGraphicFramePr>
          <p:nvPr>
            <p:extLst>
              <p:ext uri="{D42A27DB-BD31-4B8C-83A1-F6EECF244321}">
                <p14:modId xmlns:p14="http://schemas.microsoft.com/office/powerpoint/2010/main" val="1579011935"/>
              </p:ext>
            </p:extLst>
          </p:nvPr>
        </p:nvGraphicFramePr>
        <p:xfrm>
          <a:off x="7151522" y="3329330"/>
          <a:ext cx="4631436" cy="914400"/>
        </p:xfrm>
        <a:graphic>
          <a:graphicData uri="http://schemas.openxmlformats.org/drawingml/2006/table">
            <a:tbl>
              <a:tblPr/>
              <a:tblGrid>
                <a:gridCol w="274320"/>
                <a:gridCol w="4357116"/>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Revenue per field employee of $168.9K </a:t>
                      </a:r>
                      <a:r>
                        <a:rPr lang="en-US" sz="900" dirty="0">
                          <a:solidFill>
                            <a:srgbClr val="2C2523"/>
                          </a:solidFill>
                          <a:latin typeface="Arial" pitchFamily="34" charset="0"/>
                          <a:ea typeface="Arial" pitchFamily="34" charset="-122"/>
                          <a:cs typeface="Arial" pitchFamily="34" charset="-120"/>
                        </a:rPr>
                        <a:t>is up from $141.6K in FY2023: revenue grew 12.4% a year while year-end field employees went only from 17 to 18.</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Payroll at 29.3% of revenue </a:t>
                      </a:r>
                      <a:r>
                        <a:rPr lang="en-US" sz="900" dirty="0">
                          <a:solidFill>
                            <a:srgbClr val="2C2523"/>
                          </a:solidFill>
                          <a:latin typeface="Arial" pitchFamily="34" charset="0"/>
                          <a:ea typeface="Arial" pitchFamily="34" charset="-122"/>
                          <a:cs typeface="Arial" pitchFamily="34" charset="-120"/>
                        </a:rPr>
                        <a:t>excludes the owner; technician wages held at 21.3% of revenue in both FY2023 and FY2025, while office wages fell from 4.9% to 4.3%.</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Agreement revenue of $200 per member a year </a:t>
                      </a:r>
                      <a:r>
                        <a:rPr lang="en-US" sz="900" dirty="0">
                          <a:solidFill>
                            <a:srgbClr val="2C2523"/>
                          </a:solidFill>
                          <a:latin typeface="Arial" pitchFamily="34" charset="0"/>
                          <a:ea typeface="Arial" pitchFamily="34" charset="-122"/>
                          <a:cs typeface="Arial" pitchFamily="34" charset="-120"/>
                        </a:rPr>
                        <a:t>comes from 1,450 members who renew at 82% (1); agreements were 9.5% of revenue in FY2025, up from 8.9% in FY2023.</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Each service technician serves 104 members, </a:t>
                      </a:r>
                      <a:r>
                        <a:rPr lang="en-US" sz="900" dirty="0">
                          <a:solidFill>
                            <a:srgbClr val="2C2523"/>
                          </a:solidFill>
                          <a:latin typeface="Arial" pitchFamily="34" charset="0"/>
                          <a:ea typeface="Arial" pitchFamily="34" charset="-122"/>
                          <a:cs typeface="Arial" pitchFamily="34" charset="-120"/>
                        </a:rPr>
                        <a:t>about 207 tune-up visits a year each and 2,900 across the team; agreements are offered on 35% of service calls (1).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E</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Revenue per vehicle of $152.0K </a:t>
                      </a:r>
                      <a:r>
                        <a:rPr lang="en-US" sz="900" dirty="0">
                          <a:solidFill>
                            <a:srgbClr val="2C2523"/>
                          </a:solidFill>
                          <a:latin typeface="Arial" pitchFamily="34" charset="0"/>
                          <a:ea typeface="Arial" pitchFamily="34" charset="-122"/>
                          <a:cs typeface="Arial" pitchFamily="34" charset="-120"/>
                        </a:rPr>
                        <a:t>across 20 owned vans and trucks, financed with vehicle loans (1); at 1.1 vehicles per field employee, the fleet already covers all 18 of them.</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No customer exceeds 4.0% of FY2025 revenue and the top 10 customers hold 19.3%</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Company customer list as of Dec-25;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Customers are coded; names are not shown in this memorandum.</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Residential households and maintenance-agreement members are not listed individually; their revenue is the P&amp;L revenue less the listed customers.   (2) Listed customers billed at any time in FY2025; of them, 52 were active at Dec-25.   (3)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Customers</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10</a:t>
            </a:r>
            <a:endParaRPr lang="en-US" sz="800" dirty="0"/>
          </a:p>
        </p:txBody>
      </p:sp>
      <p:sp>
        <p:nvSpPr>
          <p:cNvPr id="10" name="Shape 7"/>
          <p:cNvSpPr/>
          <p:nvPr/>
        </p:nvSpPr>
        <p:spPr>
          <a:xfrm>
            <a:off x="6097219" y="1115568"/>
            <a:ext cx="0" cy="4809744"/>
          </a:xfrm>
          <a:prstGeom prst="line">
            <a:avLst/>
          </a:prstGeom>
          <a:noFill/>
          <a:ln w="6350">
            <a:solidFill>
              <a:srgbClr val="C2BAB8"/>
            </a:solidFill>
            <a:prstDash val="solid"/>
          </a:ln>
        </p:spPr>
      </p:sp>
      <p:sp>
        <p:nvSpPr>
          <p:cNvPr id="11" name="Text 8"/>
          <p:cNvSpPr txBox="1"/>
          <p:nvPr/>
        </p:nvSpPr>
        <p:spPr>
          <a:xfrm>
            <a:off x="411480" y="111556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Listed customer revenue by type</a:t>
            </a:r>
            <a:r>
              <a:rPr lang="en-US" sz="950" dirty="0">
                <a:solidFill>
                  <a:srgbClr val="7A706D"/>
                </a:solidFill>
                <a:latin typeface="Arial" pitchFamily="34" charset="0"/>
                <a:ea typeface="Arial" pitchFamily="34" charset="-122"/>
                <a:cs typeface="Arial" pitchFamily="34" charset="-120"/>
              </a:rPr>
              <a:t>  ($000s; % of total revenue)</a:t>
            </a:r>
            <a:endParaRPr lang="en-US" sz="950" dirty="0"/>
          </a:p>
        </p:txBody>
      </p:sp>
      <p:sp>
        <p:nvSpPr>
          <p:cNvPr id="12" name="Shape 9"/>
          <p:cNvSpPr/>
          <p:nvPr/>
        </p:nvSpPr>
        <p:spPr>
          <a:xfrm>
            <a:off x="411480" y="1344168"/>
            <a:ext cx="5594299" cy="0"/>
          </a:xfrm>
          <a:prstGeom prst="line">
            <a:avLst/>
          </a:prstGeom>
          <a:noFill/>
          <a:ln w="6350">
            <a:solidFill>
              <a:srgbClr val="2C2523"/>
            </a:solidFill>
            <a:prstDash val="solid"/>
          </a:ln>
        </p:spPr>
      </p:sp>
      <p:graphicFrame>
        <p:nvGraphicFramePr>
          <p:cNvPr id="13" name="Chart 0" descr=""/>
          <p:cNvGraphicFramePr/>
          <p:nvPr/>
        </p:nvGraphicFramePr>
        <p:xfrm>
          <a:off x="411480" y="1417320"/>
          <a:ext cx="5594299" cy="237744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11480" y="3922776"/>
            <a:ext cx="505663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Customer mix by type</a:t>
            </a:r>
            <a:r>
              <a:rPr lang="en-US" sz="950" dirty="0">
                <a:solidFill>
                  <a:srgbClr val="7A706D"/>
                </a:solidFill>
                <a:latin typeface="Arial" pitchFamily="34" charset="0"/>
                <a:ea typeface="Arial" pitchFamily="34" charset="-122"/>
                <a:cs typeface="Arial" pitchFamily="34" charset="-120"/>
              </a:rPr>
              <a:t>  (FY2025, $000s)</a:t>
            </a:r>
            <a:endParaRPr lang="en-US" sz="950" dirty="0"/>
          </a:p>
        </p:txBody>
      </p:sp>
      <p:sp>
        <p:nvSpPr>
          <p:cNvPr id="15" name="Shape 11"/>
          <p:cNvSpPr/>
          <p:nvPr/>
        </p:nvSpPr>
        <p:spPr>
          <a:xfrm>
            <a:off x="411480" y="4151376"/>
            <a:ext cx="5056632" cy="0"/>
          </a:xfrm>
          <a:prstGeom prst="line">
            <a:avLst/>
          </a:prstGeom>
          <a:noFill/>
          <a:ln w="6350">
            <a:solidFill>
              <a:srgbClr val="2C2523"/>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4224528"/>
          <a:ext cx="5056632" cy="914400"/>
        </p:xfrm>
        <a:graphic>
          <a:graphicData uri="http://schemas.openxmlformats.org/drawingml/2006/table">
            <a:tbl>
              <a:tblPr/>
              <a:tblGrid>
                <a:gridCol w="2148840"/>
                <a:gridCol w="640080"/>
                <a:gridCol w="640080"/>
                <a:gridCol w="566928"/>
                <a:gridCol w="731520"/>
                <a:gridCol w="32918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Type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Customers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 total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Avg. 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Restaurant group</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Office building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Retail</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Other, 4 types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Listed, billed in FY2025 (2)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$812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Not listed individually (1)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2,229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73.3%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7" name="Text 12"/>
          <p:cNvSpPr txBox="1"/>
          <p:nvPr/>
        </p:nvSpPr>
        <p:spPr>
          <a:xfrm>
            <a:off x="6188659" y="1115568"/>
            <a:ext cx="550285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Customer concentration, top 10</a:t>
            </a:r>
            <a:r>
              <a:rPr lang="en-US" sz="950" dirty="0">
                <a:solidFill>
                  <a:srgbClr val="7A706D"/>
                </a:solidFill>
                <a:latin typeface="Arial" pitchFamily="34" charset="0"/>
                <a:ea typeface="Arial" pitchFamily="34" charset="-122"/>
                <a:cs typeface="Arial" pitchFamily="34" charset="-120"/>
              </a:rPr>
              <a:t>  (FY2025, $000s)</a:t>
            </a:r>
            <a:endParaRPr lang="en-US" sz="950" dirty="0"/>
          </a:p>
        </p:txBody>
      </p:sp>
      <p:sp>
        <p:nvSpPr>
          <p:cNvPr id="18" name="Shape 13"/>
          <p:cNvSpPr/>
          <p:nvPr/>
        </p:nvSpPr>
        <p:spPr>
          <a:xfrm>
            <a:off x="6188659" y="1344168"/>
            <a:ext cx="5502859" cy="0"/>
          </a:xfrm>
          <a:prstGeom prst="line">
            <a:avLst/>
          </a:prstGeom>
          <a:noFill/>
          <a:ln w="6350">
            <a:solidFill>
              <a:srgbClr val="2C2523"/>
            </a:solidFill>
            <a:prstDash val="solid"/>
          </a:ln>
        </p:spPr>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188659" y="1417320"/>
          <a:ext cx="5502859" cy="914400"/>
        </p:xfrm>
        <a:graphic>
          <a:graphicData uri="http://schemas.openxmlformats.org/drawingml/2006/table">
            <a:tbl>
              <a:tblPr/>
              <a:tblGrid>
                <a:gridCol w="738835"/>
                <a:gridCol w="1143000"/>
                <a:gridCol w="411480"/>
                <a:gridCol w="548640"/>
                <a:gridCol w="502920"/>
                <a:gridCol w="502920"/>
                <a:gridCol w="1325880"/>
                <a:gridCol w="32918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Customer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Type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Since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 total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Cum. %</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contract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Restaurant group</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Maintenance agreement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C-003</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contract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C-004</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Office building</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Time and materials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C-005</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Restaurant group</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Maintenance agreement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C-006</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contract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C-007</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Medical office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Maintenance agreement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C-008</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contract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C-009</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Restaurant group</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Maintenance agreement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C-010</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Retail</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Time and materials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Top 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$587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Remaining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20" name="Text 14"/>
          <p:cNvSpPr txBox="1"/>
          <p:nvPr/>
        </p:nvSpPr>
        <p:spPr>
          <a:xfrm>
            <a:off x="6188659" y="3977640"/>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top-10 list)</a:t>
            </a:r>
            <a:endParaRPr lang="en-US" sz="950" dirty="0"/>
          </a:p>
        </p:txBody>
      </p:sp>
      <p:sp>
        <p:nvSpPr>
          <p:cNvPr id="33" name="Shape 15"/>
          <p:cNvSpPr/>
          <p:nvPr/>
        </p:nvSpPr>
        <p:spPr>
          <a:xfrm>
            <a:off x="6188659" y="4206240"/>
            <a:ext cx="5594299" cy="0"/>
          </a:xfrm>
          <a:prstGeom prst="line">
            <a:avLst/>
          </a:prstGeom>
          <a:noFill/>
          <a:ln w="6350">
            <a:solidFill>
              <a:srgbClr val="2C2523"/>
            </a:solidFill>
            <a:prstDash val="solid"/>
          </a:ln>
        </p:spPr>
      </p:sp>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6188659" y="4279392"/>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largest customer, $121.6K, </a:t>
                      </a:r>
                      <a:r>
                        <a:rPr lang="en-US" sz="900" dirty="0">
                          <a:solidFill>
                            <a:srgbClr val="2C2523"/>
                          </a:solidFill>
                          <a:latin typeface="Arial" pitchFamily="34" charset="0"/>
                          <a:ea typeface="Arial" pitchFamily="34" charset="-122"/>
                          <a:cs typeface="Arial" pitchFamily="34" charset="-120"/>
                        </a:rPr>
                        <a:t>has bought since 2012; losing it would remove less revenue than FY2025 growth of $322.2K.</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top 10 total $586.8K, </a:t>
                      </a:r>
                      <a:r>
                        <a:rPr lang="en-US" sz="900" dirty="0">
                          <a:solidFill>
                            <a:srgbClr val="2C2523"/>
                          </a:solidFill>
                          <a:latin typeface="Arial" pitchFamily="34" charset="0"/>
                          <a:ea typeface="Arial" pitchFamily="34" charset="-122"/>
                          <a:cs typeface="Arial" pitchFamily="34" charset="-120"/>
                        </a:rPr>
                        <a:t>72% of commercial revenue; of these, 9 have bought for five years or more, and the newest for 4 years.</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Property managers, 10.2% of revenue, </a:t>
                      </a:r>
                      <a:r>
                        <a:rPr lang="en-US" sz="900" dirty="0">
                          <a:solidFill>
                            <a:srgbClr val="2C2523"/>
                          </a:solidFill>
                          <a:latin typeface="Arial" pitchFamily="34" charset="0"/>
                          <a:ea typeface="Arial" pitchFamily="34" charset="-122"/>
                          <a:cs typeface="Arial" pitchFamily="34" charset="-120"/>
                        </a:rPr>
                        <a:t>are 10 customers averaging $31.1K, against $45.2K for restaurant groups and $7.1K for office buildings; two property managers have asked for quotes on more buildings (3).</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Listed customers billed in FY2025 number 56 </a:t>
                      </a:r>
                      <a:r>
                        <a:rPr lang="en-US" sz="900" dirty="0">
                          <a:solidFill>
                            <a:srgbClr val="2C2523"/>
                          </a:solidFill>
                          <a:latin typeface="Arial" pitchFamily="34" charset="0"/>
                          <a:ea typeface="Arial" pitchFamily="34" charset="-122"/>
                          <a:cs typeface="Arial" pitchFamily="34" charset="-120"/>
                        </a:rPr>
                        <a:t>against 52 active at Dec-25 because 4 left during the year; their revenue before leaving is inside the $811.7K billed.</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Commercial customers (26.7% of revenue) kept 111.2% of FY2024 revenue in FY2025</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customer list as of Dec-25;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Listed customers (coded) only; residential households and maintenance-agreement members are not listed individually. Revenue in USD thousands. Churn is lost ÷ average customers; GDR and NDR are defined on page 20. Ending revenue leaves out $12.3K billed in FY2025 by customers lost during the year.</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Customers</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11</a:t>
            </a:r>
            <a:endParaRPr lang="en-US" sz="800" dirty="0"/>
          </a:p>
        </p:txBody>
      </p:sp>
      <p:sp>
        <p:nvSpPr>
          <p:cNvPr id="10" name="Shape 7"/>
          <p:cNvSpPr/>
          <p:nvPr/>
        </p:nvSpPr>
        <p:spPr>
          <a:xfrm>
            <a:off x="6097219" y="1115568"/>
            <a:ext cx="0" cy="4809744"/>
          </a:xfrm>
          <a:prstGeom prst="line">
            <a:avLst/>
          </a:prstGeom>
          <a:noFill/>
          <a:ln w="6350">
            <a:solidFill>
              <a:srgbClr val="C2BAB8"/>
            </a:solidFill>
            <a:prstDash val="solid"/>
          </a:ln>
        </p:spPr>
      </p:sp>
      <p:sp>
        <p:nvSpPr>
          <p:cNvPr id="11" name="Text 8"/>
          <p:cNvSpPr txBox="1"/>
          <p:nvPr/>
        </p:nvSpPr>
        <p:spPr>
          <a:xfrm>
            <a:off x="411480" y="1115568"/>
            <a:ext cx="437083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Listed-customer retention</a:t>
            </a:r>
            <a:r>
              <a:rPr lang="en-US" sz="950" dirty="0">
                <a:solidFill>
                  <a:srgbClr val="7A706D"/>
                </a:solidFill>
                <a:latin typeface="Arial" pitchFamily="34" charset="0"/>
                <a:ea typeface="Arial" pitchFamily="34" charset="-122"/>
                <a:cs typeface="Arial" pitchFamily="34" charset="-120"/>
              </a:rPr>
              <a:t>  (#)</a:t>
            </a:r>
            <a:endParaRPr lang="en-US" sz="950" dirty="0"/>
          </a:p>
        </p:txBody>
      </p:sp>
      <p:sp>
        <p:nvSpPr>
          <p:cNvPr id="12" name="Shape 9"/>
          <p:cNvSpPr/>
          <p:nvPr/>
        </p:nvSpPr>
        <p:spPr>
          <a:xfrm>
            <a:off x="411480" y="1344168"/>
            <a:ext cx="4370832" cy="0"/>
          </a:xfrm>
          <a:prstGeom prst="line">
            <a:avLst/>
          </a:prstGeom>
          <a:noFill/>
          <a:ln w="6350">
            <a:solidFill>
              <a:srgbClr val="2C2523"/>
            </a:solidFill>
            <a:prstDash val="solid"/>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4370832" cy="914400"/>
        </p:xfrm>
        <a:graphic>
          <a:graphicData uri="http://schemas.openxmlformats.org/drawingml/2006/table">
            <a:tbl>
              <a:tblPr/>
              <a:tblGrid>
                <a:gridCol w="2194560"/>
                <a:gridCol w="603504"/>
                <a:gridCol w="603504"/>
                <a:gridCol w="603504"/>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Customers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Starting customers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New customers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Lost customers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 which regrettable</a:t>
                      </a:r>
                      <a:endParaRPr lang="en-US" sz="85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 which non-regrettable</a:t>
                      </a:r>
                      <a:endParaRPr lang="en-US" sz="85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 which unclassified</a:t>
                      </a:r>
                      <a:endParaRPr lang="en-US" sz="85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Ending customers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Churn (lost ÷ average customers)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New-customer growth</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17.5%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4" name="Text 10"/>
          <p:cNvSpPr txBox="1"/>
          <p:nvPr/>
        </p:nvSpPr>
        <p:spPr>
          <a:xfrm>
            <a:off x="411480" y="3534156"/>
            <a:ext cx="3767328"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Listed-customer revenue retention</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5" name="Shape 11"/>
          <p:cNvSpPr/>
          <p:nvPr/>
        </p:nvSpPr>
        <p:spPr>
          <a:xfrm>
            <a:off x="411480" y="3762756"/>
            <a:ext cx="3767328" cy="0"/>
          </a:xfrm>
          <a:prstGeom prst="line">
            <a:avLst/>
          </a:prstGeom>
          <a:noFill/>
          <a:ln w="6350">
            <a:solidFill>
              <a:srgbClr val="2C2523"/>
            </a:solidFill>
            <a:prstDash val="solid"/>
          </a:ln>
        </p:spPr>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11480" y="3835908"/>
          <a:ext cx="3767328" cy="914400"/>
        </p:xfrm>
        <a:graphic>
          <a:graphicData uri="http://schemas.openxmlformats.org/drawingml/2006/table">
            <a:tbl>
              <a:tblPr/>
              <a:tblGrid>
                <a:gridCol w="2194560"/>
                <a:gridCol w="603504"/>
                <a:gridCol w="603504"/>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Starting revenue (prior year)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$587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Lost customers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Downsell</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Upsell</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New customers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Ending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$691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$799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Gross dollar retention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97.2%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97.1%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Net dollar retention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115.1%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111.2%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7" name="Text 12"/>
          <p:cNvSpPr txBox="1"/>
          <p:nvPr/>
        </p:nvSpPr>
        <p:spPr>
          <a:xfrm>
            <a:off x="6188659" y="1115568"/>
            <a:ext cx="550285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Customer cohorts by start year</a:t>
            </a:r>
            <a:r>
              <a:rPr lang="en-US" sz="950" dirty="0">
                <a:solidFill>
                  <a:srgbClr val="7A706D"/>
                </a:solidFill>
                <a:latin typeface="Arial" pitchFamily="34" charset="0"/>
                <a:ea typeface="Arial" pitchFamily="34" charset="-122"/>
                <a:cs typeface="Arial" pitchFamily="34" charset="-120"/>
              </a:rPr>
              <a:t>  (#)</a:t>
            </a:r>
            <a:endParaRPr lang="en-US" sz="950" dirty="0"/>
          </a:p>
        </p:txBody>
      </p:sp>
      <p:sp>
        <p:nvSpPr>
          <p:cNvPr id="18" name="Shape 13"/>
          <p:cNvSpPr/>
          <p:nvPr/>
        </p:nvSpPr>
        <p:spPr>
          <a:xfrm>
            <a:off x="6188659" y="1344168"/>
            <a:ext cx="5502859" cy="0"/>
          </a:xfrm>
          <a:prstGeom prst="line">
            <a:avLst/>
          </a:prstGeom>
          <a:noFill/>
          <a:ln w="6350">
            <a:solidFill>
              <a:srgbClr val="2C2523"/>
            </a:solidFill>
            <a:prstDash val="solid"/>
          </a:ln>
        </p:spPr>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188659" y="1417320"/>
          <a:ext cx="5502859" cy="914400"/>
        </p:xfrm>
        <a:graphic>
          <a:graphicData uri="http://schemas.openxmlformats.org/drawingml/2006/table">
            <a:tbl>
              <a:tblPr/>
              <a:tblGrid>
                <a:gridCol w="2083003"/>
                <a:gridCol w="566928"/>
                <a:gridCol w="73152"/>
                <a:gridCol w="566928"/>
                <a:gridCol w="566928"/>
                <a:gridCol w="566928"/>
                <a:gridCol w="73152"/>
                <a:gridCol w="640080"/>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Cohort</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r" indent="0" marL="0">
                        <a:buNone/>
                      </a:pPr>
                      <a:r>
                        <a:rPr lang="en-US" sz="800" b="1" dirty="0">
                          <a:solidFill>
                            <a:srgbClr val="FFFFFF"/>
                          </a:solidFill>
                          <a:latin typeface="Arial" pitchFamily="34" charset="0"/>
                          <a:ea typeface="Arial" pitchFamily="34" charset="-122"/>
                          <a:cs typeface="Arial" pitchFamily="34" charset="-120"/>
                        </a:rPr>
                        <a:t>Started</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Active at year-end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rowSpan="2">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Retained</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v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vMerge="1">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Started before FY2021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FY2021 starts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FY2022 starts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FY2023 starts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FY2024 starts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FY2025 starts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0" name="Text 14"/>
          <p:cNvSpPr txBox="1"/>
          <p:nvPr/>
        </p:nvSpPr>
        <p:spPr>
          <a:xfrm>
            <a:off x="6188659" y="2980944"/>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retention tables)</a:t>
            </a:r>
            <a:endParaRPr lang="en-US" sz="950" dirty="0"/>
          </a:p>
        </p:txBody>
      </p:sp>
      <p:sp>
        <p:nvSpPr>
          <p:cNvPr id="21" name="Shape 15"/>
          <p:cNvSpPr/>
          <p:nvPr/>
        </p:nvSpPr>
        <p:spPr>
          <a:xfrm>
            <a:off x="6188659" y="3209544"/>
            <a:ext cx="5594299" cy="0"/>
          </a:xfrm>
          <a:prstGeom prst="line">
            <a:avLst/>
          </a:prstGeom>
          <a:noFill/>
          <a:ln w="6350">
            <a:solidFill>
              <a:srgbClr val="2C2523"/>
            </a:solidFill>
            <a:prstDash val="solid"/>
          </a:ln>
        </p:spPr>
      </p:sp>
      <p:graphicFrame>
        <p:nvGraphicFramePr>
          <p:cNvPr id="45" name="Table 3"/>
          <p:cNvGraphicFramePr>
            <a:graphicFrameLocks noGrp="1"/>
          </p:cNvGraphicFramePr>
          <p:nvPr>
            <p:extLst>
              <p:ext uri="{D42A27DB-BD31-4B8C-83A1-F6EECF244321}">
                <p14:modId xmlns:p14="http://schemas.microsoft.com/office/powerpoint/2010/main" val="1579011935"/>
              </p:ext>
            </p:extLst>
          </p:nvPr>
        </p:nvGraphicFramePr>
        <p:xfrm>
          <a:off x="6188659" y="3282696"/>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Customers rose from 49 to 52 in FY2025 </a:t>
                      </a:r>
                      <a:r>
                        <a:rPr lang="en-US" sz="900" dirty="0">
                          <a:solidFill>
                            <a:srgbClr val="2C2523"/>
                          </a:solidFill>
                          <a:latin typeface="Arial" pitchFamily="34" charset="0"/>
                          <a:ea typeface="Arial" pitchFamily="34" charset="-122"/>
                          <a:cs typeface="Arial" pitchFamily="34" charset="-120"/>
                        </a:rPr>
                        <a:t>with 7 won and 4 lost, a customer churn of 7.9% against 6.5% in FY2024.</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New customers billed $30.5K in FY2025, </a:t>
                      </a:r>
                      <a:r>
                        <a:rPr lang="en-US" sz="900" dirty="0">
                          <a:solidFill>
                            <a:srgbClr val="2C2523"/>
                          </a:solidFill>
                          <a:latin typeface="Arial" pitchFamily="34" charset="0"/>
                          <a:ea typeface="Arial" pitchFamily="34" charset="-122"/>
                          <a:cs typeface="Arial" pitchFamily="34" charset="-120"/>
                        </a:rPr>
                        <a:t>against $16.2K in FY2024, from 7 wins against 8, so each new customer brought more revenue in the year it was won.</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Gross dollar retention of 97.1% on listed customers </a:t>
                      </a:r>
                      <a:r>
                        <a:rPr lang="en-US" sz="900" dirty="0">
                          <a:solidFill>
                            <a:srgbClr val="2C2523"/>
                          </a:solidFill>
                          <a:latin typeface="Arial" pitchFamily="34" charset="0"/>
                          <a:ea typeface="Arial" pitchFamily="34" charset="-122"/>
                          <a:cs typeface="Arial" pitchFamily="34" charset="-120"/>
                        </a:rPr>
                        <a:t>is the prior year’s revenue kept before any growth, against 97.2% in FY2024.</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Net dollar retention of 111.2% on listed customers </a:t>
                      </a:r>
                      <a:r>
                        <a:rPr lang="en-US" sz="900" dirty="0">
                          <a:solidFill>
                            <a:srgbClr val="2C2523"/>
                          </a:solidFill>
                          <a:latin typeface="Arial" pitchFamily="34" charset="0"/>
                          <a:ea typeface="Arial" pitchFamily="34" charset="-122"/>
                          <a:cs typeface="Arial" pitchFamily="34" charset="-120"/>
                        </a:rPr>
                        <a:t>means continuing customers added $93.7K net of $4.2K spent less, against $16.2K from customers that left.</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E</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Every customer won since 2021 was active at Dec-25, </a:t>
                      </a:r>
                      <a:r>
                        <a:rPr lang="en-US" sz="900" dirty="0">
                          <a:solidFill>
                            <a:srgbClr val="2C2523"/>
                          </a:solidFill>
                          <a:latin typeface="Arial" pitchFamily="34" charset="0"/>
                          <a:ea typeface="Arial" pitchFamily="34" charset="-122"/>
                          <a:cs typeface="Arial" pitchFamily="34" charset="-120"/>
                        </a:rPr>
                        <a:t>so the 4 customers lost in FY2025 had started before 2021.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
        <p:nvSpPr>
          <p:cNvPr id="47" name="Shape 16"/>
          <p:cNvSpPr/>
          <p:nvPr/>
        </p:nvSpPr>
        <p:spPr>
          <a:xfrm>
            <a:off x="6188659" y="5148072"/>
            <a:ext cx="5594299" cy="516636"/>
          </a:xfrm>
          <a:prstGeom prst="rect">
            <a:avLst/>
          </a:prstGeom>
          <a:solidFill>
            <a:srgbClr val="F5EDEC"/>
          </a:solidFill>
          <a:ln w="12700">
            <a:solidFill>
              <a:srgbClr val="F5EDEC"/>
            </a:solidFill>
            <a:prstDash val="solid"/>
          </a:ln>
        </p:spPr>
      </p:sp>
      <p:sp>
        <p:nvSpPr>
          <p:cNvPr id="24" name="Shape 17"/>
          <p:cNvSpPr/>
          <p:nvPr/>
        </p:nvSpPr>
        <p:spPr>
          <a:xfrm>
            <a:off x="6188659" y="5148072"/>
            <a:ext cx="0" cy="516636"/>
          </a:xfrm>
          <a:prstGeom prst="line">
            <a:avLst/>
          </a:prstGeom>
          <a:noFill/>
          <a:ln w="28575">
            <a:solidFill>
              <a:srgbClr val="7B0000"/>
            </a:solidFill>
            <a:prstDash val="solid"/>
          </a:ln>
        </p:spPr>
      </p:sp>
      <p:sp>
        <p:nvSpPr>
          <p:cNvPr id="25" name="Text 18"/>
          <p:cNvSpPr txBox="1"/>
          <p:nvPr/>
        </p:nvSpPr>
        <p:spPr>
          <a:xfrm>
            <a:off x="6316675" y="5166360"/>
            <a:ext cx="5374843" cy="480060"/>
          </a:xfrm>
          <a:prstGeom prst="rect">
            <a:avLst/>
          </a:prstGeom>
          <a:noFill/>
          <a:ln/>
        </p:spPr>
        <p:txBody>
          <a:bodyPr wrap="square" lIns="0" tIns="0" rIns="0" bIns="0" rtlCol="0" anchor="ctr"/>
          <a:lstStyle/>
          <a:p>
            <a:pPr indent="0" marL="0">
              <a:lnSpc>
                <a:spcPct val="108000"/>
              </a:lnSpc>
              <a:buNone/>
            </a:pPr>
            <a:r>
              <a:rPr lang="en-US" sz="900" b="1" dirty="0">
                <a:solidFill>
                  <a:srgbClr val="7B0000"/>
                </a:solidFill>
                <a:latin typeface="Arial" pitchFamily="34" charset="0"/>
                <a:ea typeface="Arial" pitchFamily="34" charset="-122"/>
                <a:cs typeface="Arial" pitchFamily="34" charset="-120"/>
              </a:rPr>
              <a:t>Note: </a:t>
            </a:r>
            <a:r>
              <a:rPr lang="en-US" sz="900" dirty="0">
                <a:solidFill>
                  <a:srgbClr val="2C2523"/>
                </a:solidFill>
                <a:latin typeface="Arial" pitchFamily="34" charset="0"/>
                <a:ea typeface="Arial" pitchFamily="34" charset="-122"/>
                <a:cs typeface="Arial" pitchFamily="34" charset="-120"/>
              </a:rPr>
              <a:t>These figures cover the listed commercial customers, 26.7% of revenue. The other 73.3% comes from households and maintenance-agreement members, not listed individually; agreements alone were 9.5% of revenue in FY2025, and member economics are on page 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The Company employs 23 people besides the owner, 18 in the field, with dispatch run by a manager of 11 years</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Payroll register as of Dec-25;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Service and install technician wages ($648.9K, FY2025) are the P&amp;L technician wages; the table adds employer costs; totals may not sum due to rounding.</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Operations and people</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12</a:t>
            </a:r>
            <a:endParaRPr lang="en-US" sz="800" dirty="0"/>
          </a:p>
        </p:txBody>
      </p:sp>
      <p:sp>
        <p:nvSpPr>
          <p:cNvPr id="10" name="Shape 7"/>
          <p:cNvSpPr/>
          <p:nvPr/>
        </p:nvSpPr>
        <p:spPr>
          <a:xfrm>
            <a:off x="7060082" y="1115568"/>
            <a:ext cx="0" cy="4809744"/>
          </a:xfrm>
          <a:prstGeom prst="line">
            <a:avLst/>
          </a:prstGeom>
          <a:noFill/>
          <a:ln w="6350">
            <a:solidFill>
              <a:srgbClr val="C2BAB8"/>
            </a:solidFill>
            <a:prstDash val="solid"/>
          </a:ln>
        </p:spPr>
      </p:sp>
      <p:sp>
        <p:nvSpPr>
          <p:cNvPr id="11" name="Text 8"/>
          <p:cNvSpPr txBox="1"/>
          <p:nvPr/>
        </p:nvSpPr>
        <p:spPr>
          <a:xfrm>
            <a:off x="411480" y="1115568"/>
            <a:ext cx="6557162" cy="2320747"/>
          </a:xfrm>
          <a:prstGeom prst="rect">
            <a:avLst/>
          </a:prstGeom>
          <a:noFill/>
          <a:ln/>
        </p:spPr>
        <p:txBody>
          <a:bodyPr wrap="square" lIns="0" tIns="0" rIns="0" bIns="0" rtlCol="0" anchor="t"/>
          <a:lstStyle/>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Staffing. </a:t>
            </a:r>
            <a:r>
              <a:rPr lang="en-US" sz="950" dirty="0">
                <a:solidFill>
                  <a:srgbClr val="2C2523"/>
                </a:solidFill>
                <a:latin typeface="Arial" pitchFamily="34" charset="0"/>
                <a:ea typeface="Arial" pitchFamily="34" charset="-122"/>
                <a:cs typeface="Arial" pitchFamily="34" charset="-120"/>
              </a:rPr>
              <a:t>Of the 23 employees besides the owner, 14 are service technicians, 4 install technicians, 3 customer service / dispatch staff, one operations manager and one bookkeeper. Technicians are paid hourly plus spiff commissions on maintenance agreements; there is no union (1). FY2025 saw 3 hires and 3 departures. With employer costs, pay averaged $40.6K for field employees and $31.3K for office and management in FY2025.</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The owner’s role. </a:t>
            </a:r>
            <a:r>
              <a:rPr lang="en-US" sz="950" dirty="0">
                <a:solidFill>
                  <a:srgbClr val="2C2523"/>
                </a:solidFill>
                <a:latin typeface="Arial" pitchFamily="34" charset="0"/>
                <a:ea typeface="Arial" pitchFamily="34" charset="-122"/>
                <a:cs typeface="Arial" pitchFamily="34" charset="-120"/>
              </a:rPr>
              <a:t>Mark Delaney spends about 45 hours a week on estimating large replacements, commercial relationships, vendor terms and hiring (1). The owner will support the transition for up to 12 months after closing (1).</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Fleet and systems. </a:t>
            </a:r>
            <a:r>
              <a:rPr lang="en-US" sz="950" dirty="0">
                <a:solidFill>
                  <a:srgbClr val="2C2523"/>
                </a:solidFill>
                <a:latin typeface="Arial" pitchFamily="34" charset="0"/>
                <a:ea typeface="Arial" pitchFamily="34" charset="-122"/>
                <a:cs typeface="Arial" pitchFamily="34" charset="-120"/>
              </a:rPr>
              <a:t>The fleet is 18 service vans and 2 install trucks, all owned, financed with vehicle loans (1). The Company runs ServiceTitan for dispatch, invoicing and memberships and QuickBooks Online for accounting (1).</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Suppliers and reputation. </a:t>
            </a:r>
            <a:r>
              <a:rPr lang="en-US" sz="950" dirty="0">
                <a:solidFill>
                  <a:srgbClr val="2C2523"/>
                </a:solidFill>
                <a:latin typeface="Arial" pitchFamily="34" charset="0"/>
                <a:ea typeface="Arial" pitchFamily="34" charset="-122"/>
                <a:cs typeface="Arial" pitchFamily="34" charset="-120"/>
              </a:rPr>
              <a:t>Ferguson and Johnstone Supply are the main suppliers; Carrier equipment comes through the local distributor (1). It has been a Carrier Factory Authorized Dealer since 2015, and its Google rating is 4.8 from 900+ reviews (1).</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Customers. </a:t>
            </a:r>
            <a:r>
              <a:rPr lang="en-US" sz="950" dirty="0">
                <a:solidFill>
                  <a:srgbClr val="2C2523"/>
                </a:solidFill>
                <a:latin typeface="Arial" pitchFamily="34" charset="0"/>
                <a:ea typeface="Arial" pitchFamily="34" charset="-122"/>
                <a:cs typeface="Arial" pitchFamily="34" charset="-120"/>
              </a:rPr>
              <a:t>Commercial customers are property managers, small office buildings and 4 restaurant groups (1).</a:t>
            </a:r>
            <a:endParaRPr lang="en-US" sz="950" dirty="0"/>
          </a:p>
        </p:txBody>
      </p:sp>
      <p:sp>
        <p:nvSpPr>
          <p:cNvPr id="12" name="Text 9"/>
          <p:cNvSpPr txBox="1"/>
          <p:nvPr/>
        </p:nvSpPr>
        <p:spPr>
          <a:xfrm>
            <a:off x="411480" y="3564331"/>
            <a:ext cx="646572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Organization and tenure</a:t>
            </a:r>
            <a:r>
              <a:rPr lang="en-US" sz="950" dirty="0">
                <a:solidFill>
                  <a:srgbClr val="7A706D"/>
                </a:solidFill>
                <a:latin typeface="Arial" pitchFamily="34" charset="0"/>
                <a:ea typeface="Arial" pitchFamily="34" charset="-122"/>
                <a:cs typeface="Arial" pitchFamily="34" charset="-120"/>
              </a:rPr>
              <a:t>  (#, at Dec-25)</a:t>
            </a:r>
            <a:endParaRPr lang="en-US" sz="950" dirty="0"/>
          </a:p>
        </p:txBody>
      </p:sp>
      <p:sp>
        <p:nvSpPr>
          <p:cNvPr id="13" name="Shape 10"/>
          <p:cNvSpPr/>
          <p:nvPr/>
        </p:nvSpPr>
        <p:spPr>
          <a:xfrm>
            <a:off x="411480" y="3792931"/>
            <a:ext cx="6465722" cy="0"/>
          </a:xfrm>
          <a:prstGeom prst="line">
            <a:avLst/>
          </a:prstGeom>
          <a:noFill/>
          <a:ln w="6350">
            <a:solidFill>
              <a:srgbClr val="2C2523"/>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11480" y="3866083"/>
          <a:ext cx="6465722" cy="914400"/>
        </p:xfrm>
        <a:graphic>
          <a:graphicData uri="http://schemas.openxmlformats.org/drawingml/2006/table">
            <a:tbl>
              <a:tblPr/>
              <a:tblGrid>
                <a:gridCol w="2209190"/>
                <a:gridCol w="457200"/>
                <a:gridCol w="1840687"/>
                <a:gridCol w="1629461"/>
                <a:gridCol w="32918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Role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Count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Average tenure and pay 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Post-close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 general manager (Mark Delaney)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16.8 years; salary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Retiring; up to 12 months of transition (1)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Operations manager (Lisa Tran)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11.3 years; salary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Expected to stay (1)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Service technician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6.6 years; hourly plus commission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Install technician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5.7 years; hourly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Customer service / dispatch</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3.3 years; hourly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Bookkeeper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10.9 years; salary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5" name="Text 11"/>
          <p:cNvSpPr txBox="1"/>
          <p:nvPr/>
        </p:nvSpPr>
        <p:spPr>
          <a:xfrm>
            <a:off x="7151522" y="1115568"/>
            <a:ext cx="4572000"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Compensation by department</a:t>
            </a:r>
            <a:r>
              <a:rPr lang="en-US" sz="950" dirty="0">
                <a:solidFill>
                  <a:srgbClr val="7A706D"/>
                </a:solidFill>
                <a:latin typeface="Arial" pitchFamily="34" charset="0"/>
                <a:ea typeface="Arial" pitchFamily="34" charset="-122"/>
                <a:cs typeface="Arial" pitchFamily="34" charset="-120"/>
              </a:rPr>
              <a:t>  (FY2025, $000s; tenure in years; excl. owner)</a:t>
            </a:r>
            <a:endParaRPr lang="en-US" sz="950" dirty="0"/>
          </a:p>
        </p:txBody>
      </p:sp>
      <p:sp>
        <p:nvSpPr>
          <p:cNvPr id="16" name="Shape 12"/>
          <p:cNvSpPr/>
          <p:nvPr/>
        </p:nvSpPr>
        <p:spPr>
          <a:xfrm>
            <a:off x="7151522" y="1344168"/>
            <a:ext cx="4572000" cy="0"/>
          </a:xfrm>
          <a:prstGeom prst="line">
            <a:avLst/>
          </a:prstGeom>
          <a:noFill/>
          <a:ln w="6350">
            <a:solidFill>
              <a:srgbClr val="2C2523"/>
            </a:solidFill>
            <a:prstDash val="solid"/>
          </a:ln>
        </p:spPr>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7151522" y="1417320"/>
          <a:ext cx="4572000" cy="914400"/>
        </p:xfrm>
        <a:graphic>
          <a:graphicData uri="http://schemas.openxmlformats.org/drawingml/2006/table">
            <a:tbl>
              <a:tblPr/>
              <a:tblGrid>
                <a:gridCol w="1325880"/>
                <a:gridCol w="502920"/>
                <a:gridCol w="603504"/>
                <a:gridCol w="603504"/>
                <a:gridCol w="603504"/>
                <a:gridCol w="603504"/>
                <a:gridCol w="32918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Department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Count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Average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 rev.</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Tenure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Field employees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303581">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Office and management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$891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8" name="Text 13"/>
          <p:cNvSpPr txBox="1"/>
          <p:nvPr/>
        </p:nvSpPr>
        <p:spPr>
          <a:xfrm>
            <a:off x="7151522" y="2397557"/>
            <a:ext cx="45171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Headcount roll-forward</a:t>
            </a:r>
            <a:r>
              <a:rPr lang="en-US" sz="950" dirty="0">
                <a:solidFill>
                  <a:srgbClr val="7A706D"/>
                </a:solidFill>
                <a:latin typeface="Arial" pitchFamily="34" charset="0"/>
                <a:ea typeface="Arial" pitchFamily="34" charset="-122"/>
                <a:cs typeface="Arial" pitchFamily="34" charset="-120"/>
              </a:rPr>
              <a:t>  (#, excluding the owner)</a:t>
            </a:r>
            <a:endParaRPr lang="en-US" sz="950" dirty="0"/>
          </a:p>
        </p:txBody>
      </p:sp>
      <p:sp>
        <p:nvSpPr>
          <p:cNvPr id="19" name="Shape 14"/>
          <p:cNvSpPr/>
          <p:nvPr/>
        </p:nvSpPr>
        <p:spPr>
          <a:xfrm>
            <a:off x="7151522" y="2626157"/>
            <a:ext cx="4517136" cy="0"/>
          </a:xfrm>
          <a:prstGeom prst="line">
            <a:avLst/>
          </a:prstGeom>
          <a:noFill/>
          <a:ln w="6350">
            <a:solidFill>
              <a:srgbClr val="2C2523"/>
            </a:solidFill>
            <a:prstDash val="solid"/>
          </a:ln>
        </p:spPr>
      </p:sp>
      <p:graphicFrame>
        <p:nvGraphicFramePr>
          <p:cNvPr id="37" name="Table 2"/>
          <p:cNvGraphicFramePr>
            <a:graphicFrameLocks noGrp="1"/>
          </p:cNvGraphicFramePr>
          <p:nvPr>
            <p:extLst>
              <p:ext uri="{D42A27DB-BD31-4B8C-83A1-F6EECF244321}">
                <p14:modId xmlns:p14="http://schemas.microsoft.com/office/powerpoint/2010/main" val="1579011935"/>
              </p:ext>
            </p:extLst>
          </p:nvPr>
        </p:nvGraphicFramePr>
        <p:xfrm>
          <a:off x="7151522" y="2699309"/>
          <a:ext cx="4517136" cy="914400"/>
        </p:xfrm>
        <a:graphic>
          <a:graphicData uri="http://schemas.openxmlformats.org/drawingml/2006/table">
            <a:tbl>
              <a:tblPr/>
              <a:tblGrid>
                <a:gridCol w="2377440"/>
                <a:gridCol w="603504"/>
                <a:gridCol w="603504"/>
                <a:gridCol w="603504"/>
                <a:gridCol w="32918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Employees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Employees at the start of the year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Hires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Departures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 which resignation</a:t>
                      </a:r>
                      <a:endParaRPr lang="en-US" sz="85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 which termination</a:t>
                      </a:r>
                      <a:endParaRPr lang="en-US" sz="85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Employees at year-end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Departures ÷ average headcount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1" name="Text 15"/>
          <p:cNvSpPr txBox="1"/>
          <p:nvPr/>
        </p:nvSpPr>
        <p:spPr>
          <a:xfrm>
            <a:off x="7151522" y="4441241"/>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organization tables)</a:t>
            </a:r>
            <a:endParaRPr lang="en-US" sz="950" dirty="0"/>
          </a:p>
        </p:txBody>
      </p:sp>
      <p:sp>
        <p:nvSpPr>
          <p:cNvPr id="22" name="Shape 16"/>
          <p:cNvSpPr/>
          <p:nvPr/>
        </p:nvSpPr>
        <p:spPr>
          <a:xfrm>
            <a:off x="7151522" y="4669841"/>
            <a:ext cx="4631436" cy="0"/>
          </a:xfrm>
          <a:prstGeom prst="line">
            <a:avLst/>
          </a:prstGeom>
          <a:noFill/>
          <a:ln w="6350">
            <a:solidFill>
              <a:srgbClr val="2C2523"/>
            </a:solidFill>
            <a:prstDash val="solid"/>
          </a:ln>
        </p:spPr>
      </p:sp>
      <p:graphicFrame>
        <p:nvGraphicFramePr>
          <p:cNvPr id="49" name="Table 3"/>
          <p:cNvGraphicFramePr>
            <a:graphicFrameLocks noGrp="1"/>
          </p:cNvGraphicFramePr>
          <p:nvPr>
            <p:extLst>
              <p:ext uri="{D42A27DB-BD31-4B8C-83A1-F6EECF244321}">
                <p14:modId xmlns:p14="http://schemas.microsoft.com/office/powerpoint/2010/main" val="1579011935"/>
              </p:ext>
            </p:extLst>
          </p:nvPr>
        </p:nvGraphicFramePr>
        <p:xfrm>
          <a:off x="7151522" y="4742993"/>
          <a:ext cx="4631436" cy="914400"/>
        </p:xfrm>
        <a:graphic>
          <a:graphicData uri="http://schemas.openxmlformats.org/drawingml/2006/table">
            <a:tbl>
              <a:tblPr/>
              <a:tblGrid>
                <a:gridCol w="274320"/>
                <a:gridCol w="4357116"/>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Lisa Tran, with the Company since 2014, </a:t>
                      </a:r>
                      <a:r>
                        <a:rPr lang="en-US" sz="900" dirty="0">
                          <a:solidFill>
                            <a:srgbClr val="2C2523"/>
                          </a:solidFill>
                          <a:latin typeface="Arial" pitchFamily="34" charset="0"/>
                          <a:ea typeface="Arial" pitchFamily="34" charset="-122"/>
                          <a:cs typeface="Arial" pitchFamily="34" charset="-120"/>
                        </a:rPr>
                        <a:t>runs dispatch and day-to-day scheduling and is expected to stay after closing (1).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In FY2025, 3 departures </a:t>
                      </a:r>
                      <a:r>
                        <a:rPr lang="en-US" sz="900" dirty="0">
                          <a:solidFill>
                            <a:srgbClr val="2C2523"/>
                          </a:solidFill>
                          <a:latin typeface="Arial" pitchFamily="34" charset="0"/>
                          <a:ea typeface="Arial" pitchFamily="34" charset="-122"/>
                          <a:cs typeface="Arial" pitchFamily="34" charset="-120"/>
                        </a:rPr>
                        <a:t>were matched by 3 hires; of the 5 departures in the register, 4 came after more than two years of tenure.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18 field employees </a:t>
                      </a:r>
                      <a:r>
                        <a:rPr lang="en-US" sz="900" dirty="0">
                          <a:solidFill>
                            <a:srgbClr val="2C2523"/>
                          </a:solidFill>
                          <a:latin typeface="Arial" pitchFamily="34" charset="0"/>
                          <a:ea typeface="Arial" pitchFamily="34" charset="-122"/>
                          <a:cs typeface="Arial" pitchFamily="34" charset="-120"/>
                        </a:rPr>
                        <a:t>average 6.4 years of tenure and are paid hourly plus spiff commissions; there is no union (1).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Reported EBITDA doubled to $319.5K by FY2025 as total operating expenses grew 9.3% a year, revenue 12.4%</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Cost of revenue is equipment and materials, and subcontractors; wages are in operating expenses; totals may not sum due to rounding.</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Net income before interest, income taxes, depreciation and amortization; includes other income, which the ladder removes as a normalization adjustment. Adj. EBITDA and SDE are non-GAAP measures.</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Financial performance</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13</a:t>
            </a:r>
            <a:endParaRPr lang="en-US" sz="800" dirty="0"/>
          </a:p>
        </p:txBody>
      </p:sp>
      <p:sp>
        <p:nvSpPr>
          <p:cNvPr id="10" name="Shape 7"/>
          <p:cNvSpPr/>
          <p:nvPr/>
        </p:nvSpPr>
        <p:spPr>
          <a:xfrm>
            <a:off x="6097219" y="1115568"/>
            <a:ext cx="0" cy="4809744"/>
          </a:xfrm>
          <a:prstGeom prst="line">
            <a:avLst/>
          </a:prstGeom>
          <a:noFill/>
          <a:ln w="6350">
            <a:solidFill>
              <a:srgbClr val="C2BAB8"/>
            </a:solidFill>
            <a:prstDash val="solid"/>
          </a:ln>
        </p:spPr>
      </p:sp>
      <p:sp>
        <p:nvSpPr>
          <p:cNvPr id="11" name="Text 8"/>
          <p:cNvSpPr txBox="1"/>
          <p:nvPr/>
        </p:nvSpPr>
        <p:spPr>
          <a:xfrm>
            <a:off x="411480" y="1115568"/>
            <a:ext cx="546811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Summary income statement</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2" name="Shape 9"/>
          <p:cNvSpPr/>
          <p:nvPr/>
        </p:nvSpPr>
        <p:spPr>
          <a:xfrm>
            <a:off x="411480" y="1344168"/>
            <a:ext cx="5468112" cy="0"/>
          </a:xfrm>
          <a:prstGeom prst="line">
            <a:avLst/>
          </a:prstGeom>
          <a:noFill/>
          <a:ln w="6350">
            <a:solidFill>
              <a:srgbClr val="2C2523"/>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5468112" cy="914400"/>
        </p:xfrm>
        <a:graphic>
          <a:graphicData uri="http://schemas.openxmlformats.org/drawingml/2006/table">
            <a:tbl>
              <a:tblPr/>
              <a:tblGrid>
                <a:gridCol w="2084832"/>
                <a:gridCol w="603504"/>
                <a:gridCol w="603504"/>
                <a:gridCol w="603504"/>
                <a:gridCol w="73152"/>
                <a:gridCol w="566928"/>
                <a:gridCol w="566928"/>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Income statement</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Residential service and replacement</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$1,612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$1,789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$1,964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Commercial service</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598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703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812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15.5%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16.5%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Maintenance agreements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289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16.6%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16.1%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 Discounts given</a:t>
                      </a:r>
                      <a:endParaRPr lang="en-US" sz="80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n.m.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n.m.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Total 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$2,407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$2,719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$3,041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11.9%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A</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Cost of 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Equipment and materials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842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939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1,041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Subcontractors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$1,468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$1,671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$1,882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B</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00" i="1" dirty="0">
                          <a:solidFill>
                            <a:srgbClr val="2C2523"/>
                          </a:solidFill>
                          <a:latin typeface="Arial" pitchFamily="34" charset="0"/>
                          <a:ea typeface="Arial" pitchFamily="34" charset="-122"/>
                          <a:cs typeface="Arial" pitchFamily="34" charset="-120"/>
                        </a:rPr>
                        <a:t>% margin</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61.5%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61.9%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+40 bps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Operating expenses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compensation, with payroll taxes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193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203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C</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Technician wages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512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581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649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Other payroll costs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237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256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Less: owner’s payroll taxes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n.m.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n.m.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Rent</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Advertising and marketing</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Other operating expenses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264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305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305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Total operating expenses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$1,311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$1,458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$1,565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7.3%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9.3%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Other income, net</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n.m.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n.m.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Reported EBITDA</a:t>
                      </a:r>
                      <a:r>
                        <a:rPr lang="en-US" sz="700" b="1" dirty="0">
                          <a:solidFill>
                            <a:srgbClr val="7A706D"/>
                          </a:solidFill>
                          <a:latin typeface="Arial" pitchFamily="34" charset="0"/>
                          <a:ea typeface="Arial" pitchFamily="34" charset="-122"/>
                          <a:cs typeface="Arial" pitchFamily="34" charset="-120"/>
                        </a:rPr>
                        <a:t> (1)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$158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$320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48.9%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42.1%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00" i="1" dirty="0">
                          <a:solidFill>
                            <a:srgbClr val="2C2523"/>
                          </a:solidFill>
                          <a:latin typeface="Arial" pitchFamily="34" charset="0"/>
                          <a:ea typeface="Arial" pitchFamily="34" charset="-122"/>
                          <a:cs typeface="Arial" pitchFamily="34" charset="-120"/>
                        </a:rPr>
                        <a:t>% margin</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10.5%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+260 bps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8" name="Text 10"/>
          <p:cNvSpPr txBox="1"/>
          <p:nvPr/>
        </p:nvSpPr>
        <p:spPr>
          <a:xfrm>
            <a:off x="6188659" y="1115568"/>
            <a:ext cx="2363724"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and Reported EBITDA</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5" name="Text 11"/>
          <p:cNvSpPr txBox="1"/>
          <p:nvPr/>
        </p:nvSpPr>
        <p:spPr>
          <a:xfrm>
            <a:off x="8552383" y="1115568"/>
            <a:ext cx="3230575" cy="228600"/>
          </a:xfrm>
          <a:prstGeom prst="rect">
            <a:avLst/>
          </a:prstGeom>
          <a:noFill/>
          <a:ln/>
        </p:spPr>
        <p:txBody>
          <a:bodyPr wrap="square" lIns="0" tIns="0" rIns="0" bIns="0" rtlCol="0" anchor="b"/>
          <a:lstStyle/>
          <a:p>
            <a:pPr algn="r" indent="0" marL="0">
              <a:buNone/>
            </a:pPr>
            <a:r>
              <a:rPr lang="en-US" sz="800" dirty="0">
                <a:solidFill>
                  <a:srgbClr val="7A706D"/>
                </a:solidFill>
                <a:latin typeface="Arial" pitchFamily="34" charset="0"/>
                <a:ea typeface="Arial" pitchFamily="34" charset="-122"/>
                <a:cs typeface="Arial" pitchFamily="34" charset="-120"/>
              </a:rPr>
              <a:t>FY2023–FY2025 CAGR: revenue 12.4%, Reported EBITDA 42.1%</a:t>
            </a:r>
            <a:endParaRPr lang="en-US" sz="800" dirty="0"/>
          </a:p>
        </p:txBody>
      </p:sp>
      <p:sp>
        <p:nvSpPr>
          <p:cNvPr id="16" name="Shape 12"/>
          <p:cNvSpPr/>
          <p:nvPr/>
        </p:nvSpPr>
        <p:spPr>
          <a:xfrm>
            <a:off x="6188659" y="1344168"/>
            <a:ext cx="5594299" cy="0"/>
          </a:xfrm>
          <a:prstGeom prst="line">
            <a:avLst/>
          </a:prstGeom>
          <a:noFill/>
          <a:ln w="6350">
            <a:solidFill>
              <a:srgbClr val="2C2523"/>
            </a:solidFill>
            <a:prstDash val="solid"/>
          </a:ln>
        </p:spPr>
      </p:sp>
      <p:graphicFrame>
        <p:nvGraphicFramePr>
          <p:cNvPr id="17" name="Chart 0" descr=""/>
          <p:cNvGraphicFramePr/>
          <p:nvPr/>
        </p:nvGraphicFramePr>
        <p:xfrm>
          <a:off x="6188659" y="1417320"/>
          <a:ext cx="2705710" cy="2377440"/>
        </p:xfrm>
        <a:graphic xmlns:a="http://schemas.openxmlformats.org/drawingml/2006/main">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9077249" y="1417320"/>
          <a:ext cx="2705710" cy="2377440"/>
        </p:xfrm>
        <a:graphic xmlns:a="http://schemas.openxmlformats.org/drawingml/2006/main">
          <a:graphicData uri="http://schemas.openxmlformats.org/drawingml/2006/chart">
            <c:chart xmlns:c="http://schemas.openxmlformats.org/drawingml/2006/chart" r:id="rId3"/>
          </a:graphicData>
        </a:graphic>
      </p:graphicFrame>
      <p:sp>
        <p:nvSpPr>
          <p:cNvPr id="19" name="Text 13"/>
          <p:cNvSpPr txBox="1"/>
          <p:nvPr/>
        </p:nvSpPr>
        <p:spPr>
          <a:xfrm>
            <a:off x="6188659" y="3886200"/>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income statement)</a:t>
            </a:r>
            <a:endParaRPr lang="en-US" sz="950" dirty="0"/>
          </a:p>
        </p:txBody>
      </p:sp>
      <p:sp>
        <p:nvSpPr>
          <p:cNvPr id="20" name="Shape 14"/>
          <p:cNvSpPr/>
          <p:nvPr/>
        </p:nvSpPr>
        <p:spPr>
          <a:xfrm>
            <a:off x="6188659" y="4114800"/>
            <a:ext cx="5594299" cy="0"/>
          </a:xfrm>
          <a:prstGeom prst="line">
            <a:avLst/>
          </a:prstGeom>
          <a:noFill/>
          <a:ln w="6350">
            <a:solidFill>
              <a:srgbClr val="2C2523"/>
            </a:solidFill>
            <a:prstDash val="solid"/>
          </a:ln>
        </p:spPr>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188659" y="4187952"/>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Revenue rose 11.9% in FY2025 to $3.04M, </a:t>
                      </a:r>
                      <a:r>
                        <a:rPr lang="en-US" sz="900" dirty="0">
                          <a:solidFill>
                            <a:srgbClr val="2C2523"/>
                          </a:solidFill>
                          <a:latin typeface="Arial" pitchFamily="34" charset="0"/>
                          <a:ea typeface="Arial" pitchFamily="34" charset="-122"/>
                          <a:cs typeface="Arial" pitchFamily="34" charset="-120"/>
                        </a:rPr>
                        <a:t>with commercial service up 15.5% and maintenance agreements up 16.6%.</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Gross margin of 61.9%, up 90 bps since FY2023, </a:t>
                      </a:r>
                      <a:r>
                        <a:rPr lang="en-US" sz="900" dirty="0">
                          <a:solidFill>
                            <a:srgbClr val="2C2523"/>
                          </a:solidFill>
                          <a:latin typeface="Arial" pitchFamily="34" charset="0"/>
                          <a:ea typeface="Arial" pitchFamily="34" charset="-122"/>
                          <a:cs typeface="Arial" pitchFamily="34" charset="-120"/>
                        </a:rPr>
                        <a:t>because equipment and materials fell from 35.0% to 34.2% of revenue while subcontractors held near 3.9%.</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Owner compensation of $213.9K with payroll taxes </a:t>
                      </a:r>
                      <a:r>
                        <a:rPr lang="en-US" sz="900" dirty="0">
                          <a:solidFill>
                            <a:srgbClr val="2C2523"/>
                          </a:solidFill>
                          <a:latin typeface="Arial" pitchFamily="34" charset="0"/>
                          <a:ea typeface="Arial" pitchFamily="34" charset="-122"/>
                          <a:cs typeface="Arial" pitchFamily="34" charset="-120"/>
                        </a:rPr>
                        <a:t>was 7.0% of FY2025 revenue; the EBITDA ladder restates it to a market cost (page 16).</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Technician wages of $648.9K </a:t>
                      </a:r>
                      <a:r>
                        <a:rPr lang="en-US" sz="900" dirty="0">
                          <a:solidFill>
                            <a:srgbClr val="2C2523"/>
                          </a:solidFill>
                          <a:latin typeface="Arial" pitchFamily="34" charset="0"/>
                          <a:ea typeface="Arial" pitchFamily="34" charset="-122"/>
                          <a:cs typeface="Arial" pitchFamily="34" charset="-120"/>
                        </a:rPr>
                        <a:t>held at 21.3% of revenue in both FY2023 and FY2025 while field employees went from 17 to 18 at year-end.</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E</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Reported EBITDA of $319.5K </a:t>
                      </a:r>
                      <a:r>
                        <a:rPr lang="en-US" sz="900" dirty="0">
                          <a:solidFill>
                            <a:srgbClr val="2C2523"/>
                          </a:solidFill>
                          <a:latin typeface="Arial" pitchFamily="34" charset="0"/>
                          <a:ea typeface="Arial" pitchFamily="34" charset="-122"/>
                          <a:cs typeface="Arial" pitchFamily="34" charset="-120"/>
                        </a:rPr>
                        <a:t>was a 10.5% margin, up 3.9 pts since FY2023, because total operating expenses fell from 54.5% to 51.5% of revenue.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Total operating expenses fell to 51.5% of FY2025 revenue from 54.5% as owner pay, office wages and rent lagged</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Ratios are of total revenue; changes are in basis points.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Financial performance</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14</a:t>
            </a:r>
            <a:endParaRPr lang="en-US" sz="800" dirty="0"/>
          </a:p>
        </p:txBody>
      </p:sp>
      <p:sp>
        <p:nvSpPr>
          <p:cNvPr id="10" name="Shape 7"/>
          <p:cNvSpPr/>
          <p:nvPr/>
        </p:nvSpPr>
        <p:spPr>
          <a:xfrm>
            <a:off x="7060082" y="1115568"/>
            <a:ext cx="0" cy="4809744"/>
          </a:xfrm>
          <a:prstGeom prst="line">
            <a:avLst/>
          </a:prstGeom>
          <a:noFill/>
          <a:ln w="6350">
            <a:solidFill>
              <a:srgbClr val="C2BAB8"/>
            </a:solidFill>
            <a:prstDash val="solid"/>
          </a:ln>
        </p:spPr>
      </p:sp>
      <p:sp>
        <p:nvSpPr>
          <p:cNvPr id="11" name="Text 8"/>
          <p:cNvSpPr txBox="1"/>
          <p:nvPr/>
        </p:nvSpPr>
        <p:spPr>
          <a:xfrm>
            <a:off x="411480" y="1115568"/>
            <a:ext cx="637428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Cost structure</a:t>
            </a:r>
            <a:r>
              <a:rPr lang="en-US" sz="950" dirty="0">
                <a:solidFill>
                  <a:srgbClr val="7A706D"/>
                </a:solidFill>
                <a:latin typeface="Arial" pitchFamily="34" charset="0"/>
                <a:ea typeface="Arial" pitchFamily="34" charset="-122"/>
                <a:cs typeface="Arial" pitchFamily="34" charset="-120"/>
              </a:rPr>
              <a:t>  (% of revenue; Δ FY23–FY25)</a:t>
            </a:r>
            <a:endParaRPr lang="en-US" sz="950" dirty="0"/>
          </a:p>
        </p:txBody>
      </p:sp>
      <p:sp>
        <p:nvSpPr>
          <p:cNvPr id="12" name="Shape 9"/>
          <p:cNvSpPr/>
          <p:nvPr/>
        </p:nvSpPr>
        <p:spPr>
          <a:xfrm>
            <a:off x="411480" y="1344168"/>
            <a:ext cx="6374282" cy="0"/>
          </a:xfrm>
          <a:prstGeom prst="line">
            <a:avLst/>
          </a:prstGeom>
          <a:noFill/>
          <a:ln w="6350">
            <a:solidFill>
              <a:srgbClr val="2C2523"/>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6374282" cy="914400"/>
        </p:xfrm>
        <a:graphic>
          <a:graphicData uri="http://schemas.openxmlformats.org/drawingml/2006/table">
            <a:tbl>
              <a:tblPr/>
              <a:tblGrid>
                <a:gridCol w="2148840"/>
                <a:gridCol w="566928"/>
                <a:gridCol w="566928"/>
                <a:gridCol w="566928"/>
                <a:gridCol w="73152"/>
                <a:gridCol w="566928"/>
                <a:gridCol w="1555394"/>
                <a:gridCol w="32918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Cost line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Δ bps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Equipment and materials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Subcontractors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Cost of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38.5%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Technician wages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Office wages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Payroll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Health insurance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Less: owner’s payroll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Moved to owner compensation</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Payroll, excluding the owner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29.6%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23 employees at Dec-25</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compensation, with payroll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Restated in [S1], [S4], [S2]</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Vehicle expenses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Adjusted in [N1] (page 16)</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Advertising and marketing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Lease through 2029</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Fuel</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Insurance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Software and subscriptions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Legal and professional fees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Adjusted in [N2] (page 16)</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Utilities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Repairs and maintenance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Meals and entertainment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All other operating accounts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2 smaller accounts</a:t>
                      </a: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operating expenses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53.6%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73152"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4" name="Text 10"/>
          <p:cNvSpPr txBox="1"/>
          <p:nvPr/>
        </p:nvSpPr>
        <p:spPr>
          <a:xfrm>
            <a:off x="7151522" y="1115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Largest changes in cost ratios</a:t>
            </a:r>
            <a:r>
              <a:rPr lang="en-US" sz="950" dirty="0">
                <a:solidFill>
                  <a:srgbClr val="7A706D"/>
                </a:solidFill>
                <a:latin typeface="Arial" pitchFamily="34" charset="0"/>
                <a:ea typeface="Arial" pitchFamily="34" charset="-122"/>
                <a:cs typeface="Arial" pitchFamily="34" charset="-120"/>
              </a:rPr>
              <a:t>  (bps, FY23–FY25)</a:t>
            </a:r>
            <a:endParaRPr lang="en-US" sz="950" dirty="0"/>
          </a:p>
        </p:txBody>
      </p:sp>
      <p:sp>
        <p:nvSpPr>
          <p:cNvPr id="30" name="Shape 11"/>
          <p:cNvSpPr/>
          <p:nvPr/>
        </p:nvSpPr>
        <p:spPr>
          <a:xfrm>
            <a:off x="7151522" y="1344168"/>
            <a:ext cx="4631436" cy="0"/>
          </a:xfrm>
          <a:prstGeom prst="line">
            <a:avLst/>
          </a:prstGeom>
          <a:noFill/>
          <a:ln w="6350">
            <a:solidFill>
              <a:srgbClr val="2C2523"/>
            </a:solidFill>
            <a:prstDash val="solid"/>
          </a:ln>
        </p:spPr>
      </p:sp>
      <p:graphicFrame>
        <p:nvGraphicFramePr>
          <p:cNvPr id="16" name="Chart 0" descr=""/>
          <p:cNvGraphicFramePr/>
          <p:nvPr/>
        </p:nvGraphicFramePr>
        <p:xfrm>
          <a:off x="7151522" y="1417320"/>
          <a:ext cx="4631436" cy="2377440"/>
        </p:xfrm>
        <a:graphic xmlns:a="http://schemas.openxmlformats.org/drawingml/2006/main">
          <a:graphicData uri="http://schemas.openxmlformats.org/drawingml/2006/chart">
            <c:chart xmlns:c="http://schemas.openxmlformats.org/drawingml/2006/chart" r:id="rId2"/>
          </a:graphicData>
        </a:graphic>
      </p:graphicFrame>
      <p:sp>
        <p:nvSpPr>
          <p:cNvPr id="17" name="Text 12"/>
          <p:cNvSpPr txBox="1"/>
          <p:nvPr/>
        </p:nvSpPr>
        <p:spPr>
          <a:xfrm>
            <a:off x="7151522" y="3886200"/>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cost structure)</a:t>
            </a:r>
            <a:endParaRPr lang="en-US" sz="950" dirty="0"/>
          </a:p>
        </p:txBody>
      </p:sp>
      <p:sp>
        <p:nvSpPr>
          <p:cNvPr id="18" name="Shape 13"/>
          <p:cNvSpPr/>
          <p:nvPr/>
        </p:nvSpPr>
        <p:spPr>
          <a:xfrm>
            <a:off x="7151522" y="4114800"/>
            <a:ext cx="4631436" cy="0"/>
          </a:xfrm>
          <a:prstGeom prst="line">
            <a:avLst/>
          </a:prstGeom>
          <a:noFill/>
          <a:ln w="6350">
            <a:solidFill>
              <a:srgbClr val="2C2523"/>
            </a:solidFill>
            <a:prstDash val="solid"/>
          </a:ln>
        </p:spPr>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7151522" y="4187952"/>
          <a:ext cx="4631436" cy="914400"/>
        </p:xfrm>
        <a:graphic>
          <a:graphicData uri="http://schemas.openxmlformats.org/drawingml/2006/table">
            <a:tbl>
              <a:tblPr/>
              <a:tblGrid>
                <a:gridCol w="274320"/>
                <a:gridCol w="4357116"/>
              </a:tblGrid>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Payroll excluding the owner, 29.3% of revenue, </a:t>
                      </a:r>
                      <a:r>
                        <a:rPr lang="en-US" sz="900" dirty="0">
                          <a:solidFill>
                            <a:srgbClr val="2C2523"/>
                          </a:solidFill>
                          <a:latin typeface="Arial" pitchFamily="34" charset="0"/>
                          <a:ea typeface="Arial" pitchFamily="34" charset="-122"/>
                          <a:cs typeface="Arial" pitchFamily="34" charset="-120"/>
                        </a:rPr>
                        <a:t>moved down 50 bps since FY2023: office wages fell from 4.9% to 4.3% of revenue while technician wages, which rise with the work, held at 21.3%.</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Owner compensation fell to 7.0% of revenue </a:t>
                      </a:r>
                      <a:r>
                        <a:rPr lang="en-US" sz="900" dirty="0">
                          <a:solidFill>
                            <a:srgbClr val="2C2523"/>
                          </a:solidFill>
                          <a:latin typeface="Arial" pitchFamily="34" charset="0"/>
                          <a:ea typeface="Arial" pitchFamily="34" charset="-122"/>
                          <a:cs typeface="Arial" pitchFamily="34" charset="-120"/>
                        </a:rPr>
                        <a:t>from 8.0% in FY2023 because the salary rose 5.4% a year while revenue grew 12.4%; a buyer replaces it at the market cost on page 17.</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Rent of $76.4K </a:t>
                      </a:r>
                      <a:r>
                        <a:rPr lang="en-US" sz="900" dirty="0">
                          <a:solidFill>
                            <a:srgbClr val="2C2523"/>
                          </a:solidFill>
                          <a:latin typeface="Arial" pitchFamily="34" charset="0"/>
                          <a:ea typeface="Arial" pitchFamily="34" charset="-122"/>
                          <a:cs typeface="Arial" pitchFamily="34" charset="-120"/>
                        </a:rPr>
                        <a:t>rose 3.0% a year under the Maple Ave lease, which runs through 2029 with a five-year renewal option (1), so its share fell as revenue grew.</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A $24.0K settled customer dispute </a:t>
                      </a:r>
                      <a:r>
                        <a:rPr lang="en-US" sz="900" dirty="0">
                          <a:solidFill>
                            <a:srgbClr val="2C2523"/>
                          </a:solidFill>
                          <a:latin typeface="Arial" pitchFamily="34" charset="0"/>
                          <a:ea typeface="Arial" pitchFamily="34" charset="-122"/>
                          <a:cs typeface="Arial" pitchFamily="34" charset="-120"/>
                        </a:rPr>
                        <a:t>raised legal fees in FY2024 only; it is removed as a one-time item [N2] (page 17), so it does not reach Adj. EBITDA.</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Revenue peaks in Jul-25 at $313.2K, 1.5x the Mar-25 low, and the third quarter carries 28.7% of the year</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monthly, Jan-23 to Dec-25;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Months are as reported; the line is the trailing twelve-month average from the twelfth month; quarters are fiscal quarters; totals may not sum due to rounding.</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Financial performance</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15</a:t>
            </a:r>
            <a:endParaRPr lang="en-US" sz="800" dirty="0"/>
          </a:p>
        </p:txBody>
      </p:sp>
      <p:sp>
        <p:nvSpPr>
          <p:cNvPr id="10" name="Shape 7"/>
          <p:cNvSpPr/>
          <p:nvPr/>
        </p:nvSpPr>
        <p:spPr>
          <a:xfrm>
            <a:off x="7060082" y="3922776"/>
            <a:ext cx="0" cy="2002536"/>
          </a:xfrm>
          <a:prstGeom prst="line">
            <a:avLst/>
          </a:prstGeom>
          <a:noFill/>
          <a:ln w="6350">
            <a:solidFill>
              <a:srgbClr val="C2BAB8"/>
            </a:solidFill>
            <a:prstDash val="solid"/>
          </a:ln>
        </p:spPr>
      </p:sp>
      <p:sp>
        <p:nvSpPr>
          <p:cNvPr id="11" name="Text 8"/>
          <p:cNvSpPr txBox="1"/>
          <p:nvPr/>
        </p:nvSpPr>
        <p:spPr>
          <a:xfrm>
            <a:off x="411480" y="1115568"/>
            <a:ext cx="1526134"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Monthly revenue</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2" name="Text 9"/>
          <p:cNvSpPr txBox="1"/>
          <p:nvPr/>
        </p:nvSpPr>
        <p:spPr>
          <a:xfrm>
            <a:off x="1937614" y="1115568"/>
            <a:ext cx="9845345" cy="228600"/>
          </a:xfrm>
          <a:prstGeom prst="rect">
            <a:avLst/>
          </a:prstGeom>
          <a:noFill/>
          <a:ln/>
        </p:spPr>
        <p:txBody>
          <a:bodyPr wrap="square" lIns="0" tIns="0" rIns="0" bIns="0" rtlCol="0" anchor="b"/>
          <a:lstStyle/>
          <a:p>
            <a:pPr algn="r" indent="0" marL="0">
              <a:buNone/>
            </a:pPr>
            <a:r>
              <a:rPr lang="en-US" sz="800" dirty="0">
                <a:solidFill>
                  <a:srgbClr val="7A706D"/>
                </a:solidFill>
                <a:latin typeface="Arial" pitchFamily="34" charset="0"/>
                <a:ea typeface="Arial" pitchFamily="34" charset="-122"/>
                <a:cs typeface="Arial" pitchFamily="34" charset="-120"/>
              </a:rPr>
              <a:t>Jan-23 – Dec-25</a:t>
            </a:r>
            <a:endParaRPr lang="en-US" sz="800" dirty="0"/>
          </a:p>
        </p:txBody>
      </p:sp>
      <p:sp>
        <p:nvSpPr>
          <p:cNvPr id="13" name="Shape 10"/>
          <p:cNvSpPr/>
          <p:nvPr/>
        </p:nvSpPr>
        <p:spPr>
          <a:xfrm>
            <a:off x="411480" y="1344168"/>
            <a:ext cx="11371478" cy="0"/>
          </a:xfrm>
          <a:prstGeom prst="line">
            <a:avLst/>
          </a:prstGeom>
          <a:noFill/>
          <a:ln w="6350">
            <a:solidFill>
              <a:srgbClr val="2C2523"/>
            </a:solidFill>
            <a:prstDash val="solid"/>
          </a:ln>
        </p:spPr>
      </p:sp>
      <p:graphicFrame>
        <p:nvGraphicFramePr>
          <p:cNvPr id="14" name="Chart 0" descr=""/>
          <p:cNvGraphicFramePr/>
          <p:nvPr/>
        </p:nvGraphicFramePr>
        <p:xfrm>
          <a:off x="411480" y="1417320"/>
          <a:ext cx="11371478" cy="237744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411480" y="3922776"/>
            <a:ext cx="556869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by fiscal quarter</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6" name="Shape 12"/>
          <p:cNvSpPr/>
          <p:nvPr/>
        </p:nvSpPr>
        <p:spPr>
          <a:xfrm>
            <a:off x="411480" y="4151376"/>
            <a:ext cx="5568696" cy="0"/>
          </a:xfrm>
          <a:prstGeom prst="line">
            <a:avLst/>
          </a:prstGeom>
          <a:noFill/>
          <a:ln w="6350">
            <a:solidFill>
              <a:srgbClr val="2C2523"/>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4224528"/>
          <a:ext cx="5568696" cy="914400"/>
        </p:xfrm>
        <a:graphic>
          <a:graphicData uri="http://schemas.openxmlformats.org/drawingml/2006/table">
            <a:tbl>
              <a:tblPr/>
              <a:tblGrid>
                <a:gridCol w="2148840"/>
                <a:gridCol w="603504"/>
                <a:gridCol w="603504"/>
                <a:gridCol w="603504"/>
                <a:gridCol w="73152"/>
                <a:gridCol w="603504"/>
                <a:gridCol w="603504"/>
                <a:gridCol w="32918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Quarter</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 of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Q1 (Jan–Mar)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Q2 (Apr–Jun)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Q3 (Jul–Sep)</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692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873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28.7%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Q4 (Oct–Dec)</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761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Fiscal year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$2,407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8" name="Text 13"/>
          <p:cNvSpPr txBox="1"/>
          <p:nvPr/>
        </p:nvSpPr>
        <p:spPr>
          <a:xfrm>
            <a:off x="7151522" y="3922776"/>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quarterly table)</a:t>
            </a:r>
            <a:endParaRPr lang="en-US" sz="950" dirty="0"/>
          </a:p>
        </p:txBody>
      </p:sp>
      <p:sp>
        <p:nvSpPr>
          <p:cNvPr id="19" name="Shape 14"/>
          <p:cNvSpPr/>
          <p:nvPr/>
        </p:nvSpPr>
        <p:spPr>
          <a:xfrm>
            <a:off x="7151522" y="4151376"/>
            <a:ext cx="4631436" cy="0"/>
          </a:xfrm>
          <a:prstGeom prst="line">
            <a:avLst/>
          </a:prstGeom>
          <a:noFill/>
          <a:ln w="6350">
            <a:solidFill>
              <a:srgbClr val="2C2523"/>
            </a:solidFill>
            <a:prstDash val="solid"/>
          </a:ln>
        </p:spPr>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51522" y="4224528"/>
          <a:ext cx="4631436" cy="914400"/>
        </p:xfrm>
        <a:graphic>
          <a:graphicData uri="http://schemas.openxmlformats.org/drawingml/2006/table">
            <a:tbl>
              <a:tblPr/>
              <a:tblGrid>
                <a:gridCol w="274320"/>
                <a:gridCol w="4357116"/>
              </a:tblGrid>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Third-quarter revenue of $872.5K, the year’s largest quarter, </a:t>
                      </a:r>
                      <a:r>
                        <a:rPr lang="en-US" sz="900" dirty="0">
                          <a:solidFill>
                            <a:srgbClr val="2C2523"/>
                          </a:solidFill>
                          <a:latin typeface="Arial" pitchFamily="34" charset="0"/>
                          <a:ea typeface="Arial" pitchFamily="34" charset="-122"/>
                          <a:cs typeface="Arial" pitchFamily="34" charset="-120"/>
                        </a:rPr>
                        <a:t>was 28.7% of FY2025 against 21.3% in the first quarter, which holds the Mar-25 low; the FY2023 split was 28.7% and 21.2%, so the pattern held.</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Every quarter of FY2025 grew 11.7% to 12.0% on FY2024, </a:t>
                      </a:r>
                      <a:r>
                        <a:rPr lang="en-US" sz="900" dirty="0">
                          <a:solidFill>
                            <a:srgbClr val="2C2523"/>
                          </a:solidFill>
                          <a:latin typeface="Arial" pitchFamily="34" charset="0"/>
                          <a:ea typeface="Arial" pitchFamily="34" charset="-122"/>
                          <a:cs typeface="Arial" pitchFamily="34" charset="-120"/>
                        </a:rPr>
                        <a:t>so growth was spread across the year, not concentrated in the peak; Adj. EBITDA was positive in all 12 months, including the Mar-25 low (page 21).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FY2025 SDE of $561.8K becomes Adj. EBITDA of $385.7K after a $109.3K manager and a $66.8K reserve</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general ledger detail; Payroll register as of Dec-25; Seller add-back list;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Adj. EBITDA and SDE are non-GAAP measures. Positive adjustments increase EBITDA; adjustments shown are those included in Adj. EBITDA. Unaudited; totals may not sum due to rounding.</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SDE is Adj. EBITDA before one owner’s market pay and the capital reserve.   (2) $95,000 manager salary per management, not independently verified, plus 15% payroll taxes and benefits.   (3) [S3] is an AMB estimate: three-year average depreciation.</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Adjusted EBITDA</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16</a:t>
            </a:r>
            <a:endParaRPr lang="en-US" sz="800" dirty="0"/>
          </a:p>
        </p:txBody>
      </p:sp>
      <p:sp>
        <p:nvSpPr>
          <p:cNvPr id="10" name="Shape 7"/>
          <p:cNvSpPr/>
          <p:nvPr/>
        </p:nvSpPr>
        <p:spPr>
          <a:xfrm>
            <a:off x="6097219" y="1115568"/>
            <a:ext cx="0" cy="4809744"/>
          </a:xfrm>
          <a:prstGeom prst="line">
            <a:avLst/>
          </a:prstGeom>
          <a:noFill/>
          <a:ln w="6350">
            <a:solidFill>
              <a:srgbClr val="C2BAB8"/>
            </a:solidFill>
            <a:prstDash val="solid"/>
          </a:ln>
        </p:spPr>
      </p:sp>
      <p:sp>
        <p:nvSpPr>
          <p:cNvPr id="11" name="Text 8"/>
          <p:cNvSpPr txBox="1"/>
          <p:nvPr/>
        </p:nvSpPr>
        <p:spPr>
          <a:xfrm>
            <a:off x="411480" y="1115568"/>
            <a:ext cx="541141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Adjusted EBITDA reconciliation</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2" name="Shape 9"/>
          <p:cNvSpPr/>
          <p:nvPr/>
        </p:nvSpPr>
        <p:spPr>
          <a:xfrm>
            <a:off x="411480" y="1344168"/>
            <a:ext cx="5411419" cy="0"/>
          </a:xfrm>
          <a:prstGeom prst="line">
            <a:avLst/>
          </a:prstGeom>
          <a:noFill/>
          <a:ln w="6350">
            <a:solidFill>
              <a:srgbClr val="2C2523"/>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5411419" cy="914400"/>
        </p:xfrm>
        <a:graphic>
          <a:graphicData uri="http://schemas.openxmlformats.org/drawingml/2006/table">
            <a:tbl>
              <a:tblPr/>
              <a:tblGrid>
                <a:gridCol w="2101291"/>
                <a:gridCol w="457200"/>
                <a:gridCol w="603504"/>
                <a:gridCol w="603504"/>
                <a:gridCol w="603504"/>
                <a:gridCol w="73152"/>
                <a:gridCol w="603504"/>
                <a:gridCol w="36576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EBITDA ladder</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Net income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Definitional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Interest expense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[D1]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Income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[D2]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Depreciation and amortization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[D3]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+260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Normalization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Owner’s personal vehicle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Legal fees: settled customer dispute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family phones and meals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Charitable contributions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Interest income (non-operating)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normalization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compensation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salary and payroll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[S1, S4]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Seller’s discretionary earnings (SDE)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r>
                        <a:rPr lang="en-US" sz="700" dirty="0">
                          <a:solidFill>
                            <a:srgbClr val="7A706D"/>
                          </a:solidFill>
                          <a:latin typeface="Arial" pitchFamily="34" charset="0"/>
                          <a:ea typeface="Arial" pitchFamily="34" charset="-122"/>
                          <a:cs typeface="Arial" pitchFamily="34" charset="-120"/>
                        </a:rPr>
                        <a:t> (1)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$562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+150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Market replacement compensation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[S2]</a:t>
                      </a:r>
                      <a:r>
                        <a:rPr lang="en-US" sz="700" dirty="0">
                          <a:solidFill>
                            <a:srgbClr val="7A706D"/>
                          </a:solidFill>
                          <a:latin typeface="Arial" pitchFamily="34" charset="0"/>
                          <a:ea typeface="Arial" pitchFamily="34" charset="-122"/>
                          <a:cs typeface="Arial" pitchFamily="34" charset="-120"/>
                        </a:rPr>
                        <a:t> (2)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Capital reserve</a:t>
                      </a:r>
                      <a:r>
                        <a:rPr lang="en-US" sz="700" dirty="0">
                          <a:solidFill>
                            <a:srgbClr val="7A706D"/>
                          </a:solidFill>
                          <a:latin typeface="Arial" pitchFamily="34" charset="0"/>
                          <a:ea typeface="Arial" pitchFamily="34" charset="-122"/>
                          <a:cs typeface="Arial" pitchFamily="34" charset="-120"/>
                        </a:rPr>
                        <a:t> (3)</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12.7%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+220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4" name="Text 10"/>
          <p:cNvSpPr txBox="1"/>
          <p:nvPr/>
        </p:nvSpPr>
        <p:spPr>
          <a:xfrm>
            <a:off x="6188659" y="111556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Reported EBITDA to Adj. EBITDA</a:t>
            </a:r>
            <a:r>
              <a:rPr lang="en-US" sz="950" dirty="0">
                <a:solidFill>
                  <a:srgbClr val="7A706D"/>
                </a:solidFill>
                <a:latin typeface="Arial" pitchFamily="34" charset="0"/>
                <a:ea typeface="Arial" pitchFamily="34" charset="-122"/>
                <a:cs typeface="Arial" pitchFamily="34" charset="-120"/>
              </a:rPr>
              <a:t>  (FY2025, $000s)</a:t>
            </a:r>
            <a:endParaRPr lang="en-US" sz="950" dirty="0"/>
          </a:p>
        </p:txBody>
      </p:sp>
      <p:sp>
        <p:nvSpPr>
          <p:cNvPr id="15" name="Shape 11"/>
          <p:cNvSpPr/>
          <p:nvPr/>
        </p:nvSpPr>
        <p:spPr>
          <a:xfrm>
            <a:off x="6188659" y="1344168"/>
            <a:ext cx="5594299" cy="0"/>
          </a:xfrm>
          <a:prstGeom prst="line">
            <a:avLst/>
          </a:prstGeom>
          <a:noFill/>
          <a:ln w="6350">
            <a:solidFill>
              <a:srgbClr val="2C2523"/>
            </a:solidFill>
            <a:prstDash val="solid"/>
          </a:ln>
        </p:spPr>
      </p:sp>
      <p:graphicFrame>
        <p:nvGraphicFramePr>
          <p:cNvPr id="16" name="Chart 0" descr=""/>
          <p:cNvGraphicFramePr/>
          <p:nvPr/>
        </p:nvGraphicFramePr>
        <p:xfrm>
          <a:off x="6188659" y="1417320"/>
          <a:ext cx="5594299" cy="2377440"/>
        </p:xfrm>
        <a:graphic xmlns:a="http://schemas.openxmlformats.org/drawingml/2006/main">
          <a:graphicData uri="http://schemas.openxmlformats.org/drawingml/2006/chart">
            <c:chart xmlns:c="http://schemas.openxmlformats.org/drawingml/2006/chart" r:id="rId2"/>
          </a:graphicData>
        </a:graphic>
      </p:graphicFrame>
      <p:sp>
        <p:nvSpPr>
          <p:cNvPr id="34" name="Text 12"/>
          <p:cNvSpPr txBox="1"/>
          <p:nvPr/>
        </p:nvSpPr>
        <p:spPr>
          <a:xfrm>
            <a:off x="6188659" y="3886200"/>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EBITDA ladder)</a:t>
            </a:r>
            <a:endParaRPr lang="en-US" sz="950" dirty="0"/>
          </a:p>
        </p:txBody>
      </p:sp>
      <p:sp>
        <p:nvSpPr>
          <p:cNvPr id="18" name="Shape 13"/>
          <p:cNvSpPr/>
          <p:nvPr/>
        </p:nvSpPr>
        <p:spPr>
          <a:xfrm>
            <a:off x="6188659" y="4114800"/>
            <a:ext cx="5594299" cy="0"/>
          </a:xfrm>
          <a:prstGeom prst="line">
            <a:avLst/>
          </a:prstGeom>
          <a:noFill/>
          <a:ln w="6350">
            <a:solidFill>
              <a:srgbClr val="2C2523"/>
            </a:solidFill>
            <a:prstDash val="solid"/>
          </a:ln>
        </p:spPr>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188659" y="4187952"/>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Normalizations add $28.4K </a:t>
                      </a:r>
                      <a:r>
                        <a:rPr lang="en-US" sz="900" dirty="0">
                          <a:solidFill>
                            <a:srgbClr val="2C2523"/>
                          </a:solidFill>
                          <a:latin typeface="Arial" pitchFamily="34" charset="0"/>
                          <a:ea typeface="Arial" pitchFamily="34" charset="-122"/>
                          <a:cs typeface="Arial" pitchFamily="34" charset="-120"/>
                        </a:rPr>
                        <a:t>for the owner’s personal vehicle, family phones and meals and charitable giving, less $3.1K of interest income that is not operating.</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SDE of $561.8K, 18.5% of revenue, </a:t>
                      </a:r>
                      <a:r>
                        <a:rPr lang="en-US" sz="900" dirty="0">
                          <a:solidFill>
                            <a:srgbClr val="2C2523"/>
                          </a:solidFill>
                          <a:latin typeface="Arial" pitchFamily="34" charset="0"/>
                          <a:ea typeface="Arial" pitchFamily="34" charset="-122"/>
                          <a:cs typeface="Arial" pitchFamily="34" charset="-120"/>
                        </a:rPr>
                        <a:t>adds back the owner’s $200,000 salary and $13.9K of his payroll taxes; it is the earnings of an owner who runs the Company full time.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Adj. EBITDA of $385.7K </a:t>
                      </a:r>
                      <a:r>
                        <a:rPr lang="en-US" sz="900" dirty="0">
                          <a:solidFill>
                            <a:srgbClr val="2C2523"/>
                          </a:solidFill>
                          <a:latin typeface="Arial" pitchFamily="34" charset="0"/>
                          <a:ea typeface="Arial" pitchFamily="34" charset="-122"/>
                          <a:cs typeface="Arial" pitchFamily="34" charset="-120"/>
                        </a:rPr>
                        <a:t>deducts a general manager at $95,000 plus 15% burden, and a reserve equal to three-year average depreciation of $66.8K.</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
        <p:nvSpPr>
          <p:cNvPr id="20" name="Shape 14"/>
          <p:cNvSpPr/>
          <p:nvPr/>
        </p:nvSpPr>
        <p:spPr>
          <a:xfrm>
            <a:off x="6188659" y="5358384"/>
            <a:ext cx="5594299" cy="516636"/>
          </a:xfrm>
          <a:prstGeom prst="rect">
            <a:avLst/>
          </a:prstGeom>
          <a:solidFill>
            <a:srgbClr val="F5EDEC"/>
          </a:solidFill>
          <a:ln w="12700">
            <a:solidFill>
              <a:srgbClr val="F5EDEC"/>
            </a:solidFill>
            <a:prstDash val="solid"/>
          </a:ln>
        </p:spPr>
      </p:sp>
      <p:sp>
        <p:nvSpPr>
          <p:cNvPr id="21" name="Shape 15"/>
          <p:cNvSpPr/>
          <p:nvPr/>
        </p:nvSpPr>
        <p:spPr>
          <a:xfrm>
            <a:off x="6188659" y="5358384"/>
            <a:ext cx="0" cy="516636"/>
          </a:xfrm>
          <a:prstGeom prst="line">
            <a:avLst/>
          </a:prstGeom>
          <a:noFill/>
          <a:ln w="28575">
            <a:solidFill>
              <a:srgbClr val="7B0000"/>
            </a:solidFill>
            <a:prstDash val="solid"/>
          </a:ln>
        </p:spPr>
      </p:sp>
      <p:sp>
        <p:nvSpPr>
          <p:cNvPr id="22" name="Text 16"/>
          <p:cNvSpPr txBox="1"/>
          <p:nvPr/>
        </p:nvSpPr>
        <p:spPr>
          <a:xfrm>
            <a:off x="6316675" y="5376672"/>
            <a:ext cx="5374843" cy="480060"/>
          </a:xfrm>
          <a:prstGeom prst="rect">
            <a:avLst/>
          </a:prstGeom>
          <a:noFill/>
          <a:ln/>
        </p:spPr>
        <p:txBody>
          <a:bodyPr wrap="square" lIns="0" tIns="0" rIns="0" bIns="0" rtlCol="0" anchor="ctr"/>
          <a:lstStyle/>
          <a:p>
            <a:pPr indent="0" marL="0">
              <a:lnSpc>
                <a:spcPct val="108000"/>
              </a:lnSpc>
              <a:buNone/>
            </a:pPr>
            <a:r>
              <a:rPr lang="en-US" sz="900" b="1" dirty="0">
                <a:solidFill>
                  <a:srgbClr val="7B0000"/>
                </a:solidFill>
                <a:latin typeface="Arial" pitchFamily="34" charset="0"/>
                <a:ea typeface="Arial" pitchFamily="34" charset="-122"/>
                <a:cs typeface="Arial" pitchFamily="34" charset="-120"/>
              </a:rPr>
              <a:t>Takeaway: </a:t>
            </a:r>
            <a:r>
              <a:rPr lang="en-US" sz="900" dirty="0">
                <a:solidFill>
                  <a:srgbClr val="2C2523"/>
                </a:solidFill>
                <a:latin typeface="Arial" pitchFamily="34" charset="0"/>
                <a:ea typeface="Arial" pitchFamily="34" charset="-122"/>
                <a:cs typeface="Arial" pitchFamily="34" charset="-120"/>
              </a:rPr>
              <a:t>An owner-operator who takes Mark Delaney’s place underwrites SDE of $561.8K; a buyer who hires a general manager underwrites Adj. EBITDA of $385.7K. Nothing pro forma is included; the figures assume no change in pricing, headcount or the maintenance-agreement program after closing.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FY2025 owner pay was $104.6K above a $109.3K market cost; management representations back $24.0K of add-backs</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general ledger detail; Payroll register as of Dec-25; Seller add-back list;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positive amounts increase EBITDA. Adjustments shown are those included in Adj. EBITDA. [S2] is $109.3K a year.</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   (2) [S3] is an AMB estimate: three-year average depreciation.</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Adjusted EBITDA</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17</a:t>
            </a:r>
            <a:endParaRPr lang="en-US" sz="800" dirty="0"/>
          </a:p>
        </p:txBody>
      </p:sp>
      <p:sp>
        <p:nvSpPr>
          <p:cNvPr id="10" name="Shape 7"/>
          <p:cNvSpPr/>
          <p:nvPr/>
        </p:nvSpPr>
        <p:spPr>
          <a:xfrm>
            <a:off x="7060082" y="3951122"/>
            <a:ext cx="0" cy="1974190"/>
          </a:xfrm>
          <a:prstGeom prst="line">
            <a:avLst/>
          </a:prstGeom>
          <a:noFill/>
          <a:ln w="6350">
            <a:solidFill>
              <a:srgbClr val="C2BAB8"/>
            </a:solidFill>
            <a:prstDash val="solid"/>
          </a:ln>
        </p:spPr>
      </p:sp>
      <p:sp>
        <p:nvSpPr>
          <p:cNvPr id="11" name="Text 8"/>
          <p:cNvSpPr txBox="1"/>
          <p:nvPr/>
        </p:nvSpPr>
        <p:spPr>
          <a:xfrm>
            <a:off x="411480" y="1115568"/>
            <a:ext cx="11371478"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Adjustment support</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2" name="Shape 9"/>
          <p:cNvSpPr/>
          <p:nvPr/>
        </p:nvSpPr>
        <p:spPr>
          <a:xfrm>
            <a:off x="411480" y="1344168"/>
            <a:ext cx="11371478" cy="0"/>
          </a:xfrm>
          <a:prstGeom prst="line">
            <a:avLst/>
          </a:prstGeom>
          <a:noFill/>
          <a:ln w="6350">
            <a:solidFill>
              <a:srgbClr val="2C2523"/>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11371478" cy="914400"/>
        </p:xfrm>
        <a:graphic>
          <a:graphicData uri="http://schemas.openxmlformats.org/drawingml/2006/table">
            <a:tbl>
              <a:tblPr/>
              <a:tblGrid>
                <a:gridCol w="411480"/>
                <a:gridCol w="1691640"/>
                <a:gridCol w="566928"/>
                <a:gridCol w="566928"/>
                <a:gridCol w="6122822"/>
                <a:gridCol w="2011680"/>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Adjustment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Evidence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81051">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Owner’s personal vehicle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17</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Removes the owner’s personal vehicle costs coded to Vehicle Expenses, $18.0K in FY2025, per the seller’s add-back list.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Management representation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Legal fees: settled customer dispute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Removes the one-time cost of settling a customer dispute, $24.0K in FY2024, visible as the spike in Legal &amp; Professional Fees ($38.9K against $16.4K and $17.2K in the adjacent years).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 (GL: Legal &amp; Professional Fees)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[N3]</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family phones and meals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Removes family phone lines and personal meals expensed through the Company, $6.0K in FY2025, per the seller’s add-back list.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Management representation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Charitable contributions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Removes discretionary charitable giving, $7.5K in FY2025, equal to the P&amp;L Charitable Contributions account.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 (GL: Charitable Contributions)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[N5]</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Interest income (non-operating)</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Removes interest income, $3.1K in FY2025, which is non-operating income, per the P&amp;L Interest Income account.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 (GL: Interest Income)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compensation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190</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Adds back the owner’s salary as paid, $200.0K in FY2025, per the P&amp;L Officer Compensation account.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 (GL: Officer Compensation)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1051">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Market replacement compensation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(109)</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(109)</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Deducts a general manager at the $95,000 market salary, plus payroll taxes and benefits at 15% of salary, $109,250 a year.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Management representation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8094">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[S3]</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Capital reserve (maintenance capex)</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Deducts a reserve for equipment replacement of $66,800 a year, equal to the three-year average of depreciation expense, FY2023–FY2025.</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AMB estimate: three-year average depreciation (2)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14223">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Payroll taxes and benefits on owner compensation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Adds back employer payroll taxes on Mark Delaney’s salary at statutory rates, $13.9K in FY2025 (Social Security to the $176,100 wage base, Medicare, federal unemployment); the P&amp;L carries them in payroll. Owner benefits and state unemployment are not included.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Calculated from documented figures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4" name="Text 10"/>
          <p:cNvSpPr txBox="1"/>
          <p:nvPr/>
        </p:nvSpPr>
        <p:spPr>
          <a:xfrm>
            <a:off x="411480" y="3951122"/>
            <a:ext cx="488289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Owner compensation and replacement cost</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5" name="Shape 11"/>
          <p:cNvSpPr/>
          <p:nvPr/>
        </p:nvSpPr>
        <p:spPr>
          <a:xfrm>
            <a:off x="411480" y="4179722"/>
            <a:ext cx="4882896" cy="0"/>
          </a:xfrm>
          <a:prstGeom prst="line">
            <a:avLst/>
          </a:prstGeom>
          <a:noFill/>
          <a:ln w="6350">
            <a:solidFill>
              <a:srgbClr val="2C2523"/>
            </a:solidFill>
            <a:prstDash val="solid"/>
          </a:ln>
        </p:spPr>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411480" y="4252874"/>
          <a:ext cx="4882896" cy="914400"/>
        </p:xfrm>
        <a:graphic>
          <a:graphicData uri="http://schemas.openxmlformats.org/drawingml/2006/table">
            <a:tbl>
              <a:tblPr/>
              <a:tblGrid>
                <a:gridCol w="2286000"/>
                <a:gridCol w="457200"/>
                <a:gridCol w="603504"/>
                <a:gridCol w="603504"/>
                <a:gridCol w="603504"/>
                <a:gridCol w="329184"/>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Owner compensation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salary and payroll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[S1, S4]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Market replacement salary (1)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Payroll taxes and benefits at 15%</a:t>
                      </a:r>
                      <a:endParaRPr lang="en-US" sz="850" dirty="0">
                        <a:latin typeface="Arial" charset="0"/>
                        <a:ea typeface="Arial" charset="0"/>
                        <a:cs typeface="Arial" charset="0"/>
                      </a:endParaRPr>
                    </a:p>
                  </a:txBody>
                  <a:tcPr marL="265176"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Market replacement compensation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compensation above market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$83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Capital reserve (3-year average D&amp;A) (2)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7" name="Text 12"/>
          <p:cNvSpPr txBox="1"/>
          <p:nvPr/>
        </p:nvSpPr>
        <p:spPr>
          <a:xfrm>
            <a:off x="7151522" y="3951122"/>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owner compensation)</a:t>
            </a:r>
            <a:endParaRPr lang="en-US" sz="950" dirty="0"/>
          </a:p>
        </p:txBody>
      </p:sp>
      <p:sp>
        <p:nvSpPr>
          <p:cNvPr id="53" name="Shape 13"/>
          <p:cNvSpPr/>
          <p:nvPr/>
        </p:nvSpPr>
        <p:spPr>
          <a:xfrm>
            <a:off x="7151522" y="4179722"/>
            <a:ext cx="4631436" cy="0"/>
          </a:xfrm>
          <a:prstGeom prst="line">
            <a:avLst/>
          </a:prstGeom>
          <a:noFill/>
          <a:ln w="6350">
            <a:solidFill>
              <a:srgbClr val="2C2523"/>
            </a:solidFill>
            <a:prstDash val="solid"/>
          </a:ln>
        </p:spPr>
      </p:sp>
      <p:graphicFrame>
        <p:nvGraphicFramePr>
          <p:cNvPr id="52" name="Table 2"/>
          <p:cNvGraphicFramePr>
            <a:graphicFrameLocks noGrp="1"/>
          </p:cNvGraphicFramePr>
          <p:nvPr>
            <p:extLst>
              <p:ext uri="{D42A27DB-BD31-4B8C-83A1-F6EECF244321}">
                <p14:modId xmlns:p14="http://schemas.microsoft.com/office/powerpoint/2010/main" val="1579011935"/>
              </p:ext>
            </p:extLst>
          </p:nvPr>
        </p:nvGraphicFramePr>
        <p:xfrm>
          <a:off x="7151522" y="4252874"/>
          <a:ext cx="4631436" cy="914400"/>
        </p:xfrm>
        <a:graphic>
          <a:graphicData uri="http://schemas.openxmlformats.org/drawingml/2006/table">
            <a:tbl>
              <a:tblPr/>
              <a:tblGrid>
                <a:gridCol w="274320"/>
                <a:gridCol w="4357116"/>
              </a:tblGrid>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replacement cost of $109.3K a year </a:t>
                      </a:r>
                      <a:r>
                        <a:rPr lang="en-US" sz="900" dirty="0">
                          <a:solidFill>
                            <a:srgbClr val="2C2523"/>
                          </a:solidFill>
                          <a:latin typeface="Arial" pitchFamily="34" charset="0"/>
                          <a:ea typeface="Arial" pitchFamily="34" charset="-122"/>
                          <a:cs typeface="Arial" pitchFamily="34" charset="-120"/>
                        </a:rPr>
                        <a:t>is a $95,000 general-manager salary, the owner’s estimate of the market (1), plus 15% for payroll taxes and benefits, deducted in every year shown as [S2].</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80060">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Owner pay above market of $104.6K in FY2025 </a:t>
                      </a:r>
                      <a:r>
                        <a:rPr lang="en-US" sz="900" dirty="0">
                          <a:solidFill>
                            <a:srgbClr val="2C2523"/>
                          </a:solidFill>
                          <a:latin typeface="Arial" pitchFamily="34" charset="0"/>
                          <a:ea typeface="Arial" pitchFamily="34" charset="-122"/>
                          <a:cs typeface="Arial" pitchFamily="34" charset="-120"/>
                        </a:rPr>
                        <a:t>is salary and payroll taxes of $213.9K less the replacement cost, up from $83.3K in FY2023 as the salary rose; a buyer who hires a manager keeps it.</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Free cash flow of $213.3K was 67% of Reported EBITDA in FY2025, with working capital at 5.7% of revenue</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(balance sheets at each year-end);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unaudited. Year-end balances only, so no trailing-twelve-month average is shown. In an asset purchase the Seller retains cash, receivables and payables; totals may not sum due to rounding.</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Debt at Dec-25: vehicle loans $146.8K, SBA loan $118.0K, business credit card $14.6K; </a:t>
            </a:r>
            <a:r>
              <a:rPr lang="en-US" sz="700" i="1" dirty="0">
                <a:solidFill>
                  <a:srgbClr val="FF0000"/>
                </a:solidFill>
                <a:latin typeface="Arial" pitchFamily="34" charset="0"/>
                <a:ea typeface="Arial" pitchFamily="34" charset="-122"/>
                <a:cs typeface="Arial" pitchFamily="34" charset="-120"/>
              </a:rPr>
              <a:t>[Confirm: repaid by the Seller at closing]</a:t>
            </a:r>
            <a:r>
              <a:rPr lang="en-US" sz="700" dirty="0">
                <a:solidFill>
                  <a:srgbClr val="7A706D"/>
                </a:solidFill>
                <a:latin typeface="Arial" pitchFamily="34" charset="0"/>
                <a:ea typeface="Arial" pitchFamily="34" charset="-122"/>
                <a:cs typeface="Arial" pitchFamily="34" charset="-120"/>
              </a:rPr>
              <a:t>.   (2) Capital expenditure derived: change in net fixed assets plus depreciation.</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Balance sheet and cash flow</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p>
        </p:txBody>
      </p:sp>
      <p:sp>
        <p:nvSpPr>
          <p:cNvPr id="10" name="Shape 7"/>
          <p:cNvSpPr/>
          <p:nvPr/>
        </p:nvSpPr>
        <p:spPr>
          <a:xfrm>
            <a:off x="6097219" y="1115568"/>
            <a:ext cx="0" cy="4809744"/>
          </a:xfrm>
          <a:prstGeom prst="line">
            <a:avLst/>
          </a:prstGeom>
          <a:noFill/>
          <a:ln w="6350">
            <a:solidFill>
              <a:srgbClr val="C2BAB8"/>
            </a:solidFill>
            <a:prstDash val="solid"/>
          </a:ln>
        </p:spPr>
      </p:sp>
      <p:sp>
        <p:nvSpPr>
          <p:cNvPr id="11" name="Text 8"/>
          <p:cNvSpPr txBox="1"/>
          <p:nvPr/>
        </p:nvSpPr>
        <p:spPr>
          <a:xfrm>
            <a:off x="411480" y="1115568"/>
            <a:ext cx="433425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Summary balance sheet</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2" name="Shape 9"/>
          <p:cNvSpPr/>
          <p:nvPr/>
        </p:nvSpPr>
        <p:spPr>
          <a:xfrm>
            <a:off x="411480" y="1344168"/>
            <a:ext cx="4334256" cy="0"/>
          </a:xfrm>
          <a:prstGeom prst="line">
            <a:avLst/>
          </a:prstGeom>
          <a:noFill/>
          <a:ln w="6350">
            <a:solidFill>
              <a:srgbClr val="2C2523"/>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4334256" cy="914400"/>
        </p:xfrm>
        <a:graphic>
          <a:graphicData uri="http://schemas.openxmlformats.org/drawingml/2006/table">
            <a:tbl>
              <a:tblPr/>
              <a:tblGrid>
                <a:gridCol w="2194560"/>
                <a:gridCol w="603504"/>
                <a:gridCol w="603504"/>
                <a:gridCol w="603504"/>
                <a:gridCol w="32918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Balance sheet</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Year-end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Cash</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$299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Accounts receivable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Inventory</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Prepaid and other current assets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current assets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$588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$555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Fixed assets, net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Other assets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assets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Accounts payable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Accrued and other current liabilities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Debt</a:t>
                      </a:r>
                      <a:r>
                        <a:rPr lang="en-US" sz="700" dirty="0">
                          <a:solidFill>
                            <a:srgbClr val="7A706D"/>
                          </a:solidFill>
                          <a:latin typeface="Arial" pitchFamily="34" charset="0"/>
                          <a:ea typeface="Arial" pitchFamily="34" charset="-122"/>
                          <a:cs typeface="Arial" pitchFamily="34" charset="-120"/>
                        </a:rPr>
                        <a:t> (1)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326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liabilities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Equity</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502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liabilities and equity</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4" name="Text 10"/>
          <p:cNvSpPr txBox="1"/>
          <p:nvPr/>
        </p:nvSpPr>
        <p:spPr>
          <a:xfrm>
            <a:off x="411480" y="4343400"/>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Observations</a:t>
            </a:r>
            <a:r>
              <a:rPr lang="en-US" sz="950" dirty="0">
                <a:solidFill>
                  <a:srgbClr val="7A706D"/>
                </a:solidFill>
                <a:latin typeface="Arial" pitchFamily="34" charset="0"/>
                <a:ea typeface="Arial" pitchFamily="34" charset="-122"/>
                <a:cs typeface="Arial" pitchFamily="34" charset="-120"/>
              </a:rPr>
              <a:t>  (keyed to the tables)</a:t>
            </a:r>
            <a:endParaRPr lang="en-US" sz="950" dirty="0"/>
          </a:p>
        </p:txBody>
      </p:sp>
      <p:sp>
        <p:nvSpPr>
          <p:cNvPr id="15" name="Shape 11"/>
          <p:cNvSpPr/>
          <p:nvPr/>
        </p:nvSpPr>
        <p:spPr>
          <a:xfrm>
            <a:off x="411480" y="4572000"/>
            <a:ext cx="5594299" cy="0"/>
          </a:xfrm>
          <a:prstGeom prst="line">
            <a:avLst/>
          </a:prstGeom>
          <a:noFill/>
          <a:ln w="6350">
            <a:solidFill>
              <a:srgbClr val="2C2523"/>
            </a:solidFill>
            <a:prstDash val="solid"/>
          </a:ln>
        </p:spPr>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11480" y="4645152"/>
          <a:ext cx="5594299" cy="914400"/>
        </p:xfrm>
        <a:graphic>
          <a:graphicData uri="http://schemas.openxmlformats.org/drawingml/2006/table">
            <a:tbl>
              <a:tblPr/>
              <a:tblGrid>
                <a:gridCol w="274320"/>
                <a:gridCol w="5319979"/>
              </a:tblGrid>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Debt of $279.4K </a:t>
                      </a:r>
                      <a:r>
                        <a:rPr lang="en-US" sz="900" dirty="0">
                          <a:solidFill>
                            <a:srgbClr val="2C2523"/>
                          </a:solidFill>
                          <a:latin typeface="Arial" pitchFamily="34" charset="0"/>
                          <a:ea typeface="Arial" pitchFamily="34" charset="-122"/>
                          <a:cs typeface="Arial" pitchFamily="34" charset="-120"/>
                        </a:rPr>
                        <a:t>fell from $365.4K at FY2023 year-end; it is vehicle loans, an SBA loan and a business credit card, each </a:t>
                      </a:r>
                      <a:r>
                        <a:rPr lang="en-US" sz="900" i="1" dirty="0">
                          <a:solidFill>
                            <a:srgbClr val="FF0000"/>
                          </a:solidFill>
                          <a:latin typeface="Arial" pitchFamily="34" charset="0"/>
                          <a:ea typeface="Arial" pitchFamily="34" charset="-122"/>
                          <a:cs typeface="Arial" pitchFamily="34" charset="-120"/>
                        </a:rPr>
                        <a:t>[Confirm: repaid by the Seller at closing]</a:t>
                      </a:r>
                      <a:r>
                        <a:rPr lang="en-US" sz="90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Working capital of $173.2K </a:t>
                      </a:r>
                      <a:r>
                        <a:rPr lang="en-US" sz="900" dirty="0">
                          <a:solidFill>
                            <a:srgbClr val="2C2523"/>
                          </a:solidFill>
                          <a:latin typeface="Arial" pitchFamily="34" charset="0"/>
                          <a:ea typeface="Arial" pitchFamily="34" charset="-122"/>
                          <a:cs typeface="Arial" pitchFamily="34" charset="-120"/>
                        </a:rPr>
                        <a:t>was 5.7% of revenue against 5.9% in FY2023, as receivables held at 30 days and payables at 37 days; in an asset purchase the Seller keeps both.</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4747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Free cash flow of $213.3K </a:t>
                      </a:r>
                      <a:r>
                        <a:rPr lang="en-US" sz="900" dirty="0">
                          <a:solidFill>
                            <a:srgbClr val="2C2523"/>
                          </a:solidFill>
                          <a:latin typeface="Arial" pitchFamily="34" charset="0"/>
                          <a:ea typeface="Arial" pitchFamily="34" charset="-122"/>
                          <a:cs typeface="Arial" pitchFamily="34" charset="-120"/>
                        </a:rPr>
                        <a:t>is cash from operations of $290.3K less derived capital expenditure of $77.0K; in FY2024 the same bridge gave $122.6K on capital expenditure of $57.1K.</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
        <p:nvSpPr>
          <p:cNvPr id="17" name="Text 12"/>
          <p:cNvSpPr txBox="1"/>
          <p:nvPr/>
        </p:nvSpPr>
        <p:spPr>
          <a:xfrm>
            <a:off x="6188659" y="1115568"/>
            <a:ext cx="433425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Net working capital</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8" name="Shape 13"/>
          <p:cNvSpPr/>
          <p:nvPr/>
        </p:nvSpPr>
        <p:spPr>
          <a:xfrm>
            <a:off x="6188659" y="1344168"/>
            <a:ext cx="4334256" cy="0"/>
          </a:xfrm>
          <a:prstGeom prst="line">
            <a:avLst/>
          </a:prstGeom>
          <a:noFill/>
          <a:ln w="6350">
            <a:solidFill>
              <a:srgbClr val="2C2523"/>
            </a:solidFill>
            <a:prstDash val="solid"/>
          </a:ln>
        </p:spPr>
      </p:sp>
      <p:graphicFrame>
        <p:nvGraphicFramePr>
          <p:cNvPr id="55" name="Table 2"/>
          <p:cNvGraphicFramePr>
            <a:graphicFrameLocks noGrp="1"/>
          </p:cNvGraphicFramePr>
          <p:nvPr>
            <p:extLst>
              <p:ext uri="{D42A27DB-BD31-4B8C-83A1-F6EECF244321}">
                <p14:modId xmlns:p14="http://schemas.microsoft.com/office/powerpoint/2010/main" val="1579011935"/>
              </p:ext>
            </p:extLst>
          </p:nvPr>
        </p:nvGraphicFramePr>
        <p:xfrm>
          <a:off x="6188659" y="1417320"/>
          <a:ext cx="4334256" cy="914400"/>
        </p:xfrm>
        <a:graphic>
          <a:graphicData uri="http://schemas.openxmlformats.org/drawingml/2006/table">
            <a:tbl>
              <a:tblPr/>
              <a:tblGrid>
                <a:gridCol w="2194560"/>
                <a:gridCol w="603504"/>
                <a:gridCol w="603504"/>
                <a:gridCol w="603504"/>
                <a:gridCol w="32918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Working capital</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Year-end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Inventory</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Customer deposits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Working capital that transfers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$63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$74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Retained by the Seller (memo)</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Accounts receivable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Prepaid and other</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Accounts payable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Accrued liabilities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Net working capital, all lines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$173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of 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5.7%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Days sales outstanding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Days inventory outstanding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Days payables outstanding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0" name="Text 14"/>
          <p:cNvSpPr txBox="1"/>
          <p:nvPr/>
        </p:nvSpPr>
        <p:spPr>
          <a:xfrm>
            <a:off x="6188659" y="4187952"/>
            <a:ext cx="373075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Cash conversion</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21" name="Shape 15"/>
          <p:cNvSpPr/>
          <p:nvPr/>
        </p:nvSpPr>
        <p:spPr>
          <a:xfrm>
            <a:off x="6188659" y="4416552"/>
            <a:ext cx="3730752" cy="0"/>
          </a:xfrm>
          <a:prstGeom prst="line">
            <a:avLst/>
          </a:prstGeom>
          <a:noFill/>
          <a:ln w="6350">
            <a:solidFill>
              <a:srgbClr val="2C2523"/>
            </a:solidFill>
            <a:prstDash val="solid"/>
          </a:ln>
        </p:spPr>
      </p:sp>
      <p:graphicFrame>
        <p:nvGraphicFramePr>
          <p:cNvPr id="73" name="Table 3"/>
          <p:cNvGraphicFramePr>
            <a:graphicFrameLocks noGrp="1"/>
          </p:cNvGraphicFramePr>
          <p:nvPr>
            <p:extLst>
              <p:ext uri="{D42A27DB-BD31-4B8C-83A1-F6EECF244321}">
                <p14:modId xmlns:p14="http://schemas.microsoft.com/office/powerpoint/2010/main" val="1579011935"/>
              </p:ext>
            </p:extLst>
          </p:nvPr>
        </p:nvGraphicFramePr>
        <p:xfrm>
          <a:off x="6188659" y="4489704"/>
          <a:ext cx="3730752" cy="914400"/>
        </p:xfrm>
        <a:graphic>
          <a:graphicData uri="http://schemas.openxmlformats.org/drawingml/2006/table">
            <a:tbl>
              <a:tblPr/>
              <a:tblGrid>
                <a:gridCol w="2194560"/>
                <a:gridCol w="603504"/>
                <a:gridCol w="603504"/>
                <a:gridCol w="329184"/>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Cash flow</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row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vMerge="1">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Cash from operations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Capital expenditure (2)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Free cash flow</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of Reported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57.1%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The owner targets a closing within 12 months and will stay up to 12 months after it</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Terms are the Seller’s current intentions and are subject to a definitive agreement.</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Transaction process</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19</a:t>
            </a:r>
            <a:endParaRPr lang="en-US" sz="800" dirty="0"/>
          </a:p>
        </p:txBody>
      </p:sp>
      <p:sp>
        <p:nvSpPr>
          <p:cNvPr id="10" name="Shape 7"/>
          <p:cNvSpPr/>
          <p:nvPr/>
        </p:nvSpPr>
        <p:spPr>
          <a:xfrm>
            <a:off x="7060082" y="1115568"/>
            <a:ext cx="0" cy="4809744"/>
          </a:xfrm>
          <a:prstGeom prst="line">
            <a:avLst/>
          </a:prstGeom>
          <a:noFill/>
          <a:ln w="6350">
            <a:solidFill>
              <a:srgbClr val="C2BAB8"/>
            </a:solidFill>
            <a:prstDash val="solid"/>
          </a:ln>
        </p:spPr>
      </p:sp>
      <p:sp>
        <p:nvSpPr>
          <p:cNvPr id="11" name="Text 8"/>
          <p:cNvSpPr txBox="1"/>
          <p:nvPr/>
        </p:nvSpPr>
        <p:spPr>
          <a:xfrm>
            <a:off x="411480" y="1115568"/>
            <a:ext cx="6557162" cy="2544775"/>
          </a:xfrm>
          <a:prstGeom prst="rect">
            <a:avLst/>
          </a:prstGeom>
          <a:noFill/>
          <a:ln/>
        </p:spPr>
        <p:txBody>
          <a:bodyPr wrap="square" lIns="0" tIns="0" rIns="0" bIns="0" rtlCol="0" anchor="t"/>
          <a:lstStyle/>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The offering. </a:t>
            </a:r>
            <a:r>
              <a:rPr lang="en-US" sz="950" dirty="0">
                <a:solidFill>
                  <a:srgbClr val="2C2523"/>
                </a:solidFill>
                <a:latin typeface="Arial" pitchFamily="34" charset="0"/>
                <a:ea typeface="Arial" pitchFamily="34" charset="-122"/>
                <a:cs typeface="Arial" pitchFamily="34" charset="-120"/>
              </a:rPr>
              <a:t>Mark Delaney, the founder and owner, is offering the operating assets of Ridgeline Comfort Services LLC; he prefers an asset sale (1). He is retiring at 61 and wants a clean exit within 12 months. He is open to a buyer keeping the Ridgeline name and all 23 employees. Offers should assume an asset purchase in which the Seller keeps cash, receivables and payables.</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Transition and people. </a:t>
            </a:r>
            <a:r>
              <a:rPr lang="en-US" sz="950" dirty="0">
                <a:solidFill>
                  <a:srgbClr val="2C2523"/>
                </a:solidFill>
                <a:latin typeface="Arial" pitchFamily="34" charset="0"/>
                <a:ea typeface="Arial" pitchFamily="34" charset="-122"/>
                <a:cs typeface="Arial" pitchFamily="34" charset="-120"/>
              </a:rPr>
              <a:t>The owner will stay up to 12 months after closing and introduce the commercial customers (1). Lisa Tran, operations manager and with the Company 11 years, runs dispatch and day-to-day scheduling and is expected to stay. The 18 field employees are paid hourly plus spiff commissions on maintenance agreements, with no union.</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Premises, fleet and systems. </a:t>
            </a:r>
            <a:r>
              <a:rPr lang="en-US" sz="950" dirty="0">
                <a:solidFill>
                  <a:srgbClr val="2C2523"/>
                </a:solidFill>
                <a:latin typeface="Arial" pitchFamily="34" charset="0"/>
                <a:ea typeface="Arial" pitchFamily="34" charset="-122"/>
                <a:cs typeface="Arial" pitchFamily="34" charset="-120"/>
              </a:rPr>
              <a:t>The Company leases an 8,000 sq ft shop and office on Maple Ave from an unrelated landlord; the lease runs through 2029 with a five-year renewal option (1). The fleet is 18 service vans and 2 install trucks, owned and financed with vehicle loans. ServiceTitan runs dispatch, invoicing and memberships, and QuickBooks Online the books.</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How to proceed. </a:t>
            </a:r>
            <a:r>
              <a:rPr lang="en-US" sz="950" dirty="0">
                <a:solidFill>
                  <a:srgbClr val="2C2523"/>
                </a:solidFill>
                <a:latin typeface="Arial" pitchFamily="34" charset="0"/>
                <a:ea typeface="Arial" pitchFamily="34" charset="-122"/>
                <a:cs typeface="Arial" pitchFamily="34" charset="-120"/>
              </a:rPr>
              <a:t>We will invite qualified buyers who have signed a confidentiality agreement to an introductory call and then a management meeting, on the timetable set out on this page. All inquiries should be directed to AMB Advisory. Do not contact the Seller or its employees directly.</a:t>
            </a:r>
            <a:endParaRPr lang="en-US" sz="950" dirty="0"/>
          </a:p>
        </p:txBody>
      </p:sp>
      <p:sp>
        <p:nvSpPr>
          <p:cNvPr id="12" name="Text 9"/>
          <p:cNvSpPr txBox="1"/>
          <p:nvPr/>
        </p:nvSpPr>
        <p:spPr>
          <a:xfrm>
            <a:off x="411480" y="3788359"/>
            <a:ext cx="655716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Contact</a:t>
            </a:r>
            <a:endParaRPr lang="en-US" sz="950" dirty="0"/>
          </a:p>
        </p:txBody>
      </p:sp>
      <p:sp>
        <p:nvSpPr>
          <p:cNvPr id="13" name="Shape 10"/>
          <p:cNvSpPr/>
          <p:nvPr/>
        </p:nvSpPr>
        <p:spPr>
          <a:xfrm>
            <a:off x="411480" y="4016959"/>
            <a:ext cx="6557162" cy="0"/>
          </a:xfrm>
          <a:prstGeom prst="line">
            <a:avLst/>
          </a:prstGeom>
          <a:noFill/>
          <a:ln w="6350">
            <a:solidFill>
              <a:srgbClr val="2C2523"/>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4090111"/>
          <a:ext cx="6557162" cy="914400"/>
        </p:xfrm>
        <a:graphic>
          <a:graphicData uri="http://schemas.openxmlformats.org/drawingml/2006/table">
            <a:tbl>
              <a:tblPr/>
              <a:tblGrid>
                <a:gridCol w="914400"/>
                <a:gridCol w="5642762"/>
              </a:tblGrid>
              <a:tr h="195682">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Firm</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AMB Advisory Services LLC</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5682">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Contact</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i="1" dirty="0">
                          <a:solidFill>
                            <a:srgbClr val="FF0000"/>
                          </a:solidFill>
                          <a:latin typeface="Arial" pitchFamily="34" charset="0"/>
                          <a:ea typeface="Arial" pitchFamily="34" charset="-122"/>
                          <a:cs typeface="Arial" pitchFamily="34" charset="-120"/>
                        </a:rPr>
                        <a:t>[Confirm: contact]</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5682">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Phone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813.364.2178</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5682">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Email</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info@ambadvisoryservices.com</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5682">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Office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Tampa, Florida; ambadvisoryservices.com</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5" name="Text 11"/>
          <p:cNvSpPr txBox="1"/>
          <p:nvPr/>
        </p:nvSpPr>
        <p:spPr>
          <a:xfrm>
            <a:off x="7151522" y="1115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Process and next steps</a:t>
            </a:r>
            <a:endParaRPr lang="en-US" sz="950" dirty="0"/>
          </a:p>
        </p:txBody>
      </p:sp>
      <p:sp>
        <p:nvSpPr>
          <p:cNvPr id="16" name="Shape 12"/>
          <p:cNvSpPr/>
          <p:nvPr/>
        </p:nvSpPr>
        <p:spPr>
          <a:xfrm>
            <a:off x="7151522" y="1344168"/>
            <a:ext cx="4631436" cy="0"/>
          </a:xfrm>
          <a:prstGeom prst="line">
            <a:avLst/>
          </a:prstGeom>
          <a:noFill/>
          <a:ln w="6350">
            <a:solidFill>
              <a:srgbClr val="2C2523"/>
            </a:solidFill>
            <a:prstDash val="solid"/>
          </a:ln>
        </p:spPr>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274320"/>
                <a:gridCol w="1188720"/>
                <a:gridCol w="2208276"/>
                <a:gridCol w="960120"/>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happens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Target timing</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458114">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NDA Execution</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Prospective buyer executes AMB Advisory’s standard NDA to receive full financial package and data room access.</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89788">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Initial Call</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AMB Advisory schedules an introductory call with the prospective buyer to review the opportunity and answer preliminary questions.</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8114">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Buyer Q&amp;A / IOI</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Buyer submits written questions or an Indication of Interest (IOI) with preliminary valuation range and proposed structure.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8114">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Management Meeting</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Qualified buyers are introduced to the Seller for a formal management meeting / Q&amp;A session.</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811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LOI Submission</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Buyer submits a non-binding Letter of Intent (LOI) with proposed purchase price, structure, and key terms.</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i="1" dirty="0">
                          <a:solidFill>
                            <a:srgbClr val="FF0000"/>
                          </a:solidFill>
                          <a:latin typeface="Arial" pitchFamily="34" charset="0"/>
                          <a:ea typeface="Arial" pitchFamily="34" charset="-122"/>
                          <a:cs typeface="Arial" pitchFamily="34" charset="-120"/>
                        </a:rPr>
                        <a:t>[Confirm: date]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7355">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Due Diligence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Confirmatory diligence, definitive agreements and transition planning.</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LOI + 9–11 weeks</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811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Purchase Agreement</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Sign the definitive Purchase Agreement and fund the escrow account.</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i="1" dirty="0">
                          <a:solidFill>
                            <a:srgbClr val="FF0000"/>
                          </a:solidFill>
                          <a:latin typeface="Arial" pitchFamily="34" charset="0"/>
                          <a:ea typeface="Arial" pitchFamily="34" charset="-122"/>
                          <a:cs typeface="Arial" pitchFamily="34" charset="-120"/>
                        </a:rPr>
                        <a:t>[Confirm: date]</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8114">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Close &amp; Transition</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Effective closing date set with tax counsel; the Seller begins the agreed transition period.</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Within 12 months (1)</a:t>
                      </a:r>
                      <a:endParaRPr lang="en-US" sz="9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Basis of preparation and definitions</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Revenue is reported gross. Margins are of total revenue. Results after Dec-25, including 2026 year to date, are not included.</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Appendix</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20</a:t>
            </a:r>
            <a:endParaRPr lang="en-US" sz="800" dirty="0"/>
          </a:p>
        </p:txBody>
      </p:sp>
      <p:sp>
        <p:nvSpPr>
          <p:cNvPr id="10" name="Shape 7"/>
          <p:cNvSpPr/>
          <p:nvPr/>
        </p:nvSpPr>
        <p:spPr>
          <a:xfrm>
            <a:off x="7060082" y="1115568"/>
            <a:ext cx="0" cy="4809744"/>
          </a:xfrm>
          <a:prstGeom prst="line">
            <a:avLst/>
          </a:prstGeom>
          <a:noFill/>
          <a:ln w="6350">
            <a:solidFill>
              <a:srgbClr val="C2BAB8"/>
            </a:solidFill>
            <a:prstDash val="solid"/>
          </a:ln>
        </p:spPr>
      </p:sp>
      <p:sp>
        <p:nvSpPr>
          <p:cNvPr id="11" name="Text 8"/>
          <p:cNvSpPr txBox="1"/>
          <p:nvPr/>
        </p:nvSpPr>
        <p:spPr>
          <a:xfrm>
            <a:off x="411480" y="1115568"/>
            <a:ext cx="646572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Definitions</a:t>
            </a:r>
            <a:endParaRPr lang="en-US" sz="950" dirty="0"/>
          </a:p>
        </p:txBody>
      </p:sp>
      <p:sp>
        <p:nvSpPr>
          <p:cNvPr id="12" name="Shape 9"/>
          <p:cNvSpPr/>
          <p:nvPr/>
        </p:nvSpPr>
        <p:spPr>
          <a:xfrm>
            <a:off x="411480" y="1344168"/>
            <a:ext cx="6465722" cy="0"/>
          </a:xfrm>
          <a:prstGeom prst="line">
            <a:avLst/>
          </a:prstGeom>
          <a:noFill/>
          <a:ln w="6350">
            <a:solidFill>
              <a:srgbClr val="2C2523"/>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6465722" cy="914400"/>
        </p:xfrm>
        <a:graphic>
          <a:graphicData uri="http://schemas.openxmlformats.org/drawingml/2006/table">
            <a:tbl>
              <a:tblPr/>
              <a:tblGrid>
                <a:gridCol w="1600200"/>
                <a:gridCol w="486552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Term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Definition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436169">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Net income plus interest expense [D1], income taxes [D2] and depreciation and amortization [D3]. Includes other income and expense; non-operating items are removed as normalization adjustments.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Normalization adjustments [N]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Adjustments included in Adj. EBITDA that remove owner-discretionary, non-recurring and non-operating items. Positive amounts increase EBITDA.</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SDE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Seller’s discretionary earnings: Reported EBITDA plus normalization adjustments plus one working owner’s compensation: salary, payroll taxes and benefits [S1, S4].</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SDE less market replacement compensation for the owner [S2] and a capital reserve [S3].</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Churn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Lost customers ÷ the average of starting and ending customers in the period.</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GDR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Gross dollar retention: prior-year revenue of customers active at the start of the year, less lost customers and downsell, ÷ that starting revenue.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NDR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Net dollar retention: GDR plus upsell from continuing customers.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Revenue per employee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 ÷ employees on payroll at fiscal year-end, excluding the owner; field employees are the service and install technicians.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Free cash flow</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Cash from operations less capital expenditure derived as the change in net fixed assets plus depreciation.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DSO, DIO, DPO</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Days sales, inventory and payables outstanding: receivables ÷ revenue, inventory ÷ cost of revenue and payables ÷ cost of revenue, each over the trailing twelve months, × 365.</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Cum. %</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Cumulative share of revenue of the customers ranked above and including the row.</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4" name="Text 10"/>
          <p:cNvSpPr txBox="1"/>
          <p:nvPr/>
        </p:nvSpPr>
        <p:spPr>
          <a:xfrm>
            <a:off x="7151522" y="1115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Sources</a:t>
            </a:r>
            <a:endParaRPr lang="en-US" sz="950" dirty="0"/>
          </a:p>
        </p:txBody>
      </p:sp>
      <p:sp>
        <p:nvSpPr>
          <p:cNvPr id="15" name="Shape 11"/>
          <p:cNvSpPr/>
          <p:nvPr/>
        </p:nvSpPr>
        <p:spPr>
          <a:xfrm>
            <a:off x="7151522" y="1344168"/>
            <a:ext cx="4631436" cy="0"/>
          </a:xfrm>
          <a:prstGeom prst="line">
            <a:avLst/>
          </a:prstGeom>
          <a:noFill/>
          <a:ln w="6350">
            <a:solidFill>
              <a:srgbClr val="2C2523"/>
            </a:solidFill>
            <a:prstDash val="solid"/>
          </a:ln>
        </p:spPr>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1463040"/>
                <a:gridCol w="1051560"/>
                <a:gridCol w="211683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Period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Used for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436169">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Company financial statements (QuickBooks Online)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Jan-23 to Dec-25, monthly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Income statement, EBITDA ladder, margins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Balance sheets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Dec-23, Dec-24, Dec-25</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Working capital, debt, cash conversion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Seller add-back list and GL detail</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FY2023–FY2025</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Normalization adjustments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Customer list (coded)</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To Dec-25</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Concentration, mix and retention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Payroll register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To Dec-25</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Headcount, compensation and tenure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Bank statements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Jan-25 to Dec-25</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Proof of cash against revenue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836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Management (intake call)</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As of the intake call</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Operations, people, transaction terms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7" name="Text 12"/>
          <p:cNvSpPr txBox="1"/>
          <p:nvPr/>
        </p:nvSpPr>
        <p:spPr>
          <a:xfrm>
            <a:off x="7151522" y="3552444"/>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Definitions (continued)</a:t>
            </a:r>
            <a:endParaRPr lang="en-US" sz="950" dirty="0"/>
          </a:p>
        </p:txBody>
      </p:sp>
      <p:sp>
        <p:nvSpPr>
          <p:cNvPr id="18" name="Shape 13"/>
          <p:cNvSpPr/>
          <p:nvPr/>
        </p:nvSpPr>
        <p:spPr>
          <a:xfrm>
            <a:off x="7151522" y="3781044"/>
            <a:ext cx="4631436" cy="0"/>
          </a:xfrm>
          <a:prstGeom prst="line">
            <a:avLst/>
          </a:prstGeom>
          <a:noFill/>
          <a:ln w="6350">
            <a:solidFill>
              <a:srgbClr val="2C2523"/>
            </a:solidFill>
            <a:prstDash val="solid"/>
          </a:ln>
        </p:spPr>
      </p:sp>
      <p:graphicFrame>
        <p:nvGraphicFramePr>
          <p:cNvPr id="61" name="Table 2"/>
          <p:cNvGraphicFramePr>
            <a:graphicFrameLocks noGrp="1"/>
          </p:cNvGraphicFramePr>
          <p:nvPr>
            <p:extLst>
              <p:ext uri="{D42A27DB-BD31-4B8C-83A1-F6EECF244321}">
                <p14:modId xmlns:p14="http://schemas.microsoft.com/office/powerpoint/2010/main" val="1579011935"/>
              </p:ext>
            </p:extLst>
          </p:nvPr>
        </p:nvGraphicFramePr>
        <p:xfrm>
          <a:off x="7151522" y="3854196"/>
          <a:ext cx="4631436" cy="914400"/>
        </p:xfrm>
        <a:graphic>
          <a:graphicData uri="http://schemas.openxmlformats.org/drawingml/2006/table">
            <a:tbl>
              <a:tblPr/>
              <a:tblGrid>
                <a:gridCol w="1600200"/>
                <a:gridCol w="303123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Term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Definition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Members per service technician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Maintenance-agreement members at the stated date ÷ service technicians on payroll.</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12725">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Fiscal year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Company’s fiscal year ends in December; FY2025 is the year ending December 2025.</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68735"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Detailed income statement, twelve months to Dec-25</a:t>
            </a:r>
            <a:endParaRPr lang="en-US" sz="2000" dirty="0"/>
          </a:p>
        </p:txBody>
      </p:sp>
      <p:sp>
        <p:nvSpPr>
          <p:cNvPr id="3" name="Shape 1"/>
          <p:cNvSpPr/>
          <p:nvPr/>
        </p:nvSpPr>
        <p:spPr>
          <a:xfrm>
            <a:off x="411480" y="969264"/>
            <a:ext cx="11368735" cy="0"/>
          </a:xfrm>
          <a:prstGeom prst="line">
            <a:avLst/>
          </a:prstGeom>
          <a:noFill/>
          <a:ln w="9525">
            <a:solidFill>
              <a:srgbClr val="7B0000"/>
            </a:solidFill>
            <a:prstDash val="solid"/>
          </a:ln>
        </p:spPr>
      </p:sp>
      <p:sp>
        <p:nvSpPr>
          <p:cNvPr id="4" name="Text 2"/>
          <p:cNvSpPr txBox="1"/>
          <p:nvPr/>
        </p:nvSpPr>
        <p:spPr>
          <a:xfrm>
            <a:off x="411480" y="5943600"/>
            <a:ext cx="11368735" cy="384048"/>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monthly, Jan-25 to Dec-25;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Months are as reported; the total column ties to the FY2025 column of the income statement; totals may not sum due to rounding.</a:t>
            </a:r>
            <a:endParaRPr lang="en-US" sz="700" dirty="0"/>
          </a:p>
        </p:txBody>
      </p:sp>
      <p:sp>
        <p:nvSpPr>
          <p:cNvPr id="5" name="Shape 3"/>
          <p:cNvSpPr/>
          <p:nvPr/>
        </p:nvSpPr>
        <p:spPr>
          <a:xfrm>
            <a:off x="411480" y="6400800"/>
            <a:ext cx="11368735"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r>
              <a:rPr lang="en-US" sz="750" dirty="0">
                <a:solidFill>
                  <a:srgbClr val="7A706D"/>
                </a:solidFill>
                <a:latin typeface="Arial" pitchFamily="34" charset="0"/>
                <a:ea typeface="Arial" pitchFamily="34" charset="-122"/>
                <a:cs typeface="Arial" pitchFamily="34" charset="-120"/>
              </a:rPr>
              <a:t>  |  </a:t>
            </a:r>
            <a:r>
              <a:rPr lang="en-US" sz="750" dirty="0">
                <a:solidFill>
                  <a:srgbClr val="7B0000"/>
                </a:solidFill>
                <a:latin typeface="Arial" pitchFamily="34" charset="0"/>
                <a:ea typeface="Arial" pitchFamily="34" charset="-122"/>
                <a:cs typeface="Arial" pitchFamily="34" charset="-120"/>
              </a:rPr>
              <a:t>Appendix</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AMB Advisory Services logo">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87375"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21</a:t>
            </a:r>
            <a:endParaRPr lang="en-US" sz="800" dirty="0"/>
          </a:p>
        </p:txBody>
      </p:sp>
      <p:sp>
        <p:nvSpPr>
          <p:cNvPr id="10" name="Text 7"/>
          <p:cNvSpPr txBox="1"/>
          <p:nvPr/>
        </p:nvSpPr>
        <p:spPr>
          <a:xfrm>
            <a:off x="411480" y="1115568"/>
            <a:ext cx="11347704"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Income statement by month</a:t>
            </a: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1" name="Shape 8"/>
          <p:cNvSpPr/>
          <p:nvPr/>
        </p:nvSpPr>
        <p:spPr>
          <a:xfrm>
            <a:off x="411480" y="1344168"/>
            <a:ext cx="11347704" cy="0"/>
          </a:xfrm>
          <a:prstGeom prst="line">
            <a:avLst/>
          </a:prstGeom>
          <a:noFill/>
          <a:ln w="6350">
            <a:solidFill>
              <a:srgbClr val="2C2523"/>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11347704" cy="914400"/>
        </p:xfrm>
        <a:graphic>
          <a:graphicData uri="http://schemas.openxmlformats.org/drawingml/2006/table">
            <a:tbl>
              <a:tblPr/>
              <a:tblGrid>
                <a:gridCol w="2377440"/>
                <a:gridCol w="676656"/>
                <a:gridCol w="676656"/>
                <a:gridCol w="676656"/>
                <a:gridCol w="676656"/>
                <a:gridCol w="676656"/>
                <a:gridCol w="676656"/>
                <a:gridCol w="676656"/>
                <a:gridCol w="676656"/>
                <a:gridCol w="676656"/>
                <a:gridCol w="676656"/>
                <a:gridCol w="676656"/>
                <a:gridCol w="676656"/>
                <a:gridCol w="73152"/>
                <a:gridCol w="777240"/>
              </a:tblGrid>
              <a:tr h="192024">
                <a:tc rowSpan="2">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Income statement</a:t>
                      </a:r>
                      <a:endParaRPr lang="en-US" sz="800" dirty="0">
                        <a:latin typeface="Arial" charset="0"/>
                        <a:ea typeface="Arial" charset="0"/>
                        <a:cs typeface="Arial" charset="0"/>
                      </a:endParaRPr>
                    </a:p>
                  </a:txBody>
                  <a:tcPr marL="45720" marR="45720" marT="0" marB="0" anchor="b">
                    <a:lnL w="0" cap="flat" cmpd="sng" algn="ctr">
                      <a:noFill/>
                    </a:lnL>
                    <a:lnR w="0" cap="flat" cmpd="sng" algn="ctr">
                      <a:noFill/>
                    </a:lnR>
                    <a:lnT w="0" cap="flat" cmpd="sng" algn="ctr">
                      <a:noFill/>
                    </a:lnT>
                    <a:lnB w="0" cap="flat" cmpd="sng" algn="ctr">
                      <a:noFill/>
                    </a:lnB>
                    <a:solidFill>
                      <a:srgbClr val="7B0000"/>
                    </a:solidFill>
                  </a:tcPr>
                </a:tc>
                <a:tc gridSpan="1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 by month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hMerge="1">
                  <a:tcPr/>
                </a:tc>
                <a:tc hMerge="1">
                  <a:tcPr/>
                </a:tc>
                <a:tc hMerge="1">
                  <a:tcPr/>
                </a:tc>
                <a:tc hMerge="1">
                  <a:tcPr/>
                </a:tc>
                <a:tc hMerge="1">
                  <a:tcPr/>
                </a:tc>
                <a:tc hMerge="1">
                  <a:tcPr/>
                </a:tc>
                <a:tc hMerge="1">
                  <a:tcPr/>
                </a:tc>
                <a:tc hMerge="1">
                  <a:tcPr/>
                </a:tc>
                <a:tc hMerge="1">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92024">
                <a:tc vMerge="1">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Jan-25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Feb-25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Mar-25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Apr-25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May-25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Jun-25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Jul-25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Aug-25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Sep-25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Oct-25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Nov-25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Dec-25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$228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$212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$207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$291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$313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$296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$263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$233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$284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$3,041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Cost of revenue</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1,159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$142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$154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$176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$189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$180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$164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$148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$153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$173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$1,882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00" i="1" dirty="0">
                          <a:solidFill>
                            <a:srgbClr val="2C2523"/>
                          </a:solidFill>
                          <a:latin typeface="Arial" pitchFamily="34" charset="0"/>
                          <a:ea typeface="Arial" pitchFamily="34" charset="-122"/>
                          <a:cs typeface="Arial" pitchFamily="34" charset="-120"/>
                        </a:rPr>
                        <a:t>% margin</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62.1%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62.9%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63.5%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63.2%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61.9%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60.7%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60.2%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60.7%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62.2%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63.2%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62.6%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61.9%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Operating expenses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Payroll, excluding the owner</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891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compensation, with payroll taxes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Rent</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Advertising and marketing</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Other operating expenses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305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Total operating expenses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$141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$132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$129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$1,565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Other income, net</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$320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00" i="1" dirty="0">
                          <a:solidFill>
                            <a:srgbClr val="2C2523"/>
                          </a:solidFill>
                          <a:latin typeface="Arial" pitchFamily="34" charset="0"/>
                          <a:ea typeface="Arial" pitchFamily="34" charset="-122"/>
                          <a:cs typeface="Arial" pitchFamily="34" charset="-120"/>
                        </a:rPr>
                        <a:t>% margin</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8.2%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5.4%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3.8%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8.8%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13.5%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15.4%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14.7%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11.7%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15.8%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10.5%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 Normalization adjustments</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 Owner salary and payroll taxes [S1, S4]</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SDE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$59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$68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$52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$68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$562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 Market replacement compensation [S2]</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 Capital reserve [S3]</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Adj. EBITDA</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$54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$53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$386</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3736">
                <a:tc>
                  <a:txBody>
                    <a:bodyPr/>
                    <a:lstStyle/>
                    <a:p>
                      <a:pPr algn="l" indent="0" marL="0">
                        <a:buNone/>
                      </a:pPr>
                      <a:r>
                        <a:rPr lang="en-US" sz="800" i="1" dirty="0">
                          <a:solidFill>
                            <a:srgbClr val="2C2523"/>
                          </a:solidFill>
                          <a:latin typeface="Arial" pitchFamily="34" charset="0"/>
                          <a:ea typeface="Arial" pitchFamily="34" charset="-122"/>
                          <a:cs typeface="Arial" pitchFamily="34" charset="-120"/>
                        </a:rPr>
                        <a:t>% margin</a:t>
                      </a:r>
                      <a:endParaRPr lang="en-US" sz="80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10.4%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7.8%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6.2%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10.9%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15.4%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17.1%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16.5%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14.0%</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10.5%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13.9%</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i="1" dirty="0">
                          <a:solidFill>
                            <a:srgbClr val="2C2523"/>
                          </a:solidFill>
                          <a:latin typeface="Arial" pitchFamily="34" charset="0"/>
                          <a:ea typeface="Arial" pitchFamily="34" charset="-122"/>
                          <a:cs typeface="Arial" pitchFamily="34" charset="-120"/>
                        </a:rPr>
                        <a:t>12.7%</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AMB Advisory Services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Ridgeline: Confidential Information Memorandum</dc:title>
  <dc:subject>PptxGenJS Presentation</dc:subject>
  <dc:creator>AMB Advisory Services LLC</dc:creator>
  <cp:lastModifiedBy>AMB Advisory Services LLC</cp:lastModifiedBy>
  <cp:revision>1</cp:revision>
  <dcterms:created xsi:type="dcterms:W3CDTF">2026-09-29T18:35:21Z</dcterms:created>
  <dcterms:modified xsi:type="dcterms:W3CDTF">2026-09-29T18:35:21Z</dcterms:modified>
</cp:coreProperties>
</file>